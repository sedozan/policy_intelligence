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simple idea: we are building one trusted place for policy rules that can support claim review, policy lookup, and future anomaly explanations. This is an MVP, so the emphasis today is usefulness and trust—not technical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entire story in one picture. Policy is currently spread across federal edits, manuals and state reference tables. The knowledge base turns those sources into reviewed, reusable guidance. Claim review is the first use case, but the same foundation can support search, Q&amp;A and anomaly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nontechnical. Read, propose, review, use. The key point is that AI does not directly create operational policy. It accelerates the first pass; the source and reviewer determine whether a rule becomes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medical and policy expertise becomes central. The knowledge base can hold federal edits, state policy rules, and state reference tables. The goal is not to extract every sentence. We only want guidance that can support a clear, defensible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what “utility” looks like. A reviewer should immediately see what happened, which policy supports the concern, what context matters, and what decision still belongs to the reviewer. This is the bridge between policy intelligence and medical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governance slide. The simplest message is: proposed is not approved. A state rule only becomes active after source checks and human sign-off. If the policy changes, the rule is taken out of use until it is reviewed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transparency slide. We should be confident about the structure and safeguards, but not overclaim completeness. The biggest open question is whether we are finding all the important state rules. For NCCI, the public CMS files are useful for screening, while Arizona-specific production history and routing still need to be finalized before we treat every historical result as adjudication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future-facing use case the team can immediately understand. Instead of searching a long manual, a reviewer asks a plain-language question. The answer should be short, cite the exact source, respect the effective date, and be comfortable saying “the policy is unclear” when the evidence is weak.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the policy work to the anomaly models the team already knows. Today we can explain what is unusual statistically. The knowledge base can add whether the unusual pattern also has a policy basis. The important guardrail is that the summary can only cite approved, sourced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sequencing. First prove that we are finding the right rules and not missing too many. Then expand the source set and pilot with real claims and real reviewers. After that, connect the knowledge base to Policy Q&amp;A, anomaly summaries and broader policy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7F6F1"/>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0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90A4"/>
                </a:solidFill>
                <a:latin typeface="Aptos"/>
                <a:ea typeface="Aptos"/>
                <a:cs typeface="Aptos"/>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993392" y="1225296"/>
            <a:ext cx="5212080" cy="219456"/>
          </a:xfrm>
          <a:prstGeom prst="rect">
            <a:avLst/>
          </a:prstGeom>
          <a:noFill/>
          <a:ln/>
        </p:spPr>
        <p:txBody>
          <a:bodyPr wrap="square" lIns="0" tIns="0" rIns="0" bIns="0" rtlCol="0" anchor="ctr"/>
          <a:lstStyle/>
          <a:p>
            <a:pPr indent="0" marL="0">
              <a:buNone/>
            </a:pPr>
            <a:r>
              <a:rPr lang="en-US" sz="1050" b="1" spc="140" kern="0" dirty="0">
                <a:solidFill>
                  <a:srgbClr val="96E0C4"/>
                </a:solidFill>
                <a:latin typeface="Aptos" pitchFamily="34" charset="0"/>
                <a:ea typeface="Aptos" pitchFamily="34" charset="-122"/>
                <a:cs typeface="Aptos" pitchFamily="34" charset="-120"/>
              </a:rPr>
              <a:t>POLICY INTELLIGENCE ENGINE</a:t>
            </a:r>
            <a:endParaRPr lang="en-US" sz="1050" dirty="0"/>
          </a:p>
        </p:txBody>
      </p:sp>
      <p:sp>
        <p:nvSpPr>
          <p:cNvPr id="3" name="Text 1"/>
          <p:cNvSpPr/>
          <p:nvPr/>
        </p:nvSpPr>
        <p:spPr>
          <a:xfrm>
            <a:off x="1993392" y="2240280"/>
            <a:ext cx="7955280" cy="841248"/>
          </a:xfrm>
          <a:prstGeom prst="rect">
            <a:avLst/>
          </a:prstGeom>
          <a:noFill/>
          <a:ln/>
        </p:spPr>
        <p:txBody>
          <a:bodyPr wrap="square" lIns="0" tIns="0" rIns="0" bIns="0" rtlCol="0" anchor="ctr">
            <a:normAutofit/>
          </a:bodyPr>
          <a:lstStyle/>
          <a:p>
            <a:pPr indent="0" marL="0">
              <a:buNone/>
            </a:pPr>
            <a:r>
              <a:rPr lang="en-US" sz="4400" b="1" dirty="0">
                <a:solidFill>
                  <a:srgbClr val="FFFFFF"/>
                </a:solidFill>
                <a:latin typeface="Aptos Display" pitchFamily="34" charset="0"/>
                <a:ea typeface="Aptos Display" pitchFamily="34" charset="-122"/>
                <a:cs typeface="Aptos Display" pitchFamily="34" charset="-120"/>
              </a:rPr>
              <a:t>Knowledge Base</a:t>
            </a:r>
            <a:endParaRPr lang="en-US" sz="4400" dirty="0"/>
          </a:p>
        </p:txBody>
      </p:sp>
      <p:sp>
        <p:nvSpPr>
          <p:cNvPr id="4" name="Text 2"/>
          <p:cNvSpPr/>
          <p:nvPr/>
        </p:nvSpPr>
        <p:spPr>
          <a:xfrm>
            <a:off x="2002536" y="3364992"/>
            <a:ext cx="1828800" cy="347472"/>
          </a:xfrm>
          <a:prstGeom prst="rect">
            <a:avLst/>
          </a:prstGeom>
          <a:noFill/>
          <a:ln/>
        </p:spPr>
        <p:txBody>
          <a:bodyPr wrap="square" lIns="0" tIns="0" rIns="0" bIns="0" rtlCol="0" anchor="ctr"/>
          <a:lstStyle/>
          <a:p>
            <a:pPr indent="0" marL="0">
              <a:buNone/>
            </a:pPr>
            <a:r>
              <a:rPr lang="en-US" sz="2100" dirty="0">
                <a:solidFill>
                  <a:srgbClr val="D8E3EA"/>
                </a:solidFill>
                <a:latin typeface="Aptos" pitchFamily="34" charset="0"/>
                <a:ea typeface="Aptos" pitchFamily="34" charset="-122"/>
                <a:cs typeface="Aptos" pitchFamily="34" charset="-120"/>
              </a:rPr>
              <a:t>MVP</a:t>
            </a:r>
            <a:endParaRPr lang="en-US" sz="2100" dirty="0"/>
          </a:p>
        </p:txBody>
      </p:sp>
      <p:sp>
        <p:nvSpPr>
          <p:cNvPr id="5" name="Text 3"/>
          <p:cNvSpPr/>
          <p:nvPr/>
        </p:nvSpPr>
        <p:spPr>
          <a:xfrm>
            <a:off x="2002536" y="5074920"/>
            <a:ext cx="7132320" cy="347472"/>
          </a:xfrm>
          <a:prstGeom prst="rect">
            <a:avLst/>
          </a:prstGeom>
          <a:noFill/>
          <a:ln/>
        </p:spPr>
        <p:txBody>
          <a:bodyPr wrap="square" lIns="0" tIns="0" rIns="0" bIns="0" rtlCol="0" anchor="ctr"/>
          <a:lstStyle/>
          <a:p>
            <a:pPr indent="0" marL="0">
              <a:buNone/>
            </a:pPr>
            <a:r>
              <a:rPr lang="en-US" sz="1320" dirty="0">
                <a:solidFill>
                  <a:srgbClr val="91A7B9"/>
                </a:solidFill>
                <a:latin typeface="Aptos" pitchFamily="34" charset="0"/>
                <a:ea typeface="Aptos" pitchFamily="34" charset="-122"/>
                <a:cs typeface="Aptos" pitchFamily="34" charset="-120"/>
              </a:rPr>
              <a:t>Turning Medicaid policy into reusable, explainable guidance.</a:t>
            </a:r>
            <a:endParaRPr lang="en-US" sz="132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90A4"/>
                </a:solidFill>
                <a:latin typeface="Aptos"/>
                <a:ea typeface="Aptos"/>
                <a:cs typeface="Apto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WHY WE ARE BUILDING IT</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One policy knowledge base, many uses</a:t>
            </a:r>
            <a:endParaRPr lang="en-US" sz="2850" dirty="0"/>
          </a:p>
        </p:txBody>
      </p:sp>
      <p:sp>
        <p:nvSpPr>
          <p:cNvPr id="4" name="Shape 2"/>
          <p:cNvSpPr/>
          <p:nvPr/>
        </p:nvSpPr>
        <p:spPr>
          <a:xfrm>
            <a:off x="987552" y="1993392"/>
            <a:ext cx="2743200" cy="3273552"/>
          </a:xfrm>
          <a:prstGeom prst="roundRect">
            <a:avLst>
              <a:gd name="adj" fmla="val 1667"/>
            </a:avLst>
          </a:prstGeom>
          <a:solidFill>
            <a:srgbClr val="F1F0EB"/>
          </a:solidFill>
          <a:ln w="10160">
            <a:solidFill>
              <a:srgbClr val="E2E0D8"/>
            </a:solidFill>
            <a:prstDash val="solid"/>
          </a:ln>
        </p:spPr>
      </p:sp>
      <p:sp>
        <p:nvSpPr>
          <p:cNvPr id="5" name="Text 3"/>
          <p:cNvSpPr/>
          <p:nvPr/>
        </p:nvSpPr>
        <p:spPr>
          <a:xfrm>
            <a:off x="1188720" y="2212848"/>
            <a:ext cx="1097280" cy="201168"/>
          </a:xfrm>
          <a:prstGeom prst="rect">
            <a:avLst/>
          </a:prstGeom>
          <a:noFill/>
          <a:ln/>
        </p:spPr>
        <p:txBody>
          <a:bodyPr wrap="square" lIns="0" tIns="0" rIns="0" bIns="0" rtlCol="0" anchor="ctr">
            <a:normAutofit/>
          </a:bodyPr>
          <a:lstStyle/>
          <a:p>
            <a:pPr indent="0" marL="0">
              <a:buNone/>
            </a:pPr>
            <a:r>
              <a:rPr lang="en-US" sz="1020" b="1" spc="70" kern="0" dirty="0">
                <a:solidFill>
                  <a:srgbClr val="697079"/>
                </a:solidFill>
                <a:latin typeface="Aptos" pitchFamily="34" charset="0"/>
                <a:ea typeface="Aptos" pitchFamily="34" charset="-122"/>
                <a:cs typeface="Aptos" pitchFamily="34" charset="-120"/>
              </a:rPr>
              <a:t>SOURCES</a:t>
            </a:r>
            <a:endParaRPr lang="en-US" sz="1020" dirty="0"/>
          </a:p>
        </p:txBody>
      </p:sp>
      <p:sp>
        <p:nvSpPr>
          <p:cNvPr id="6" name="Text 4"/>
          <p:cNvSpPr/>
          <p:nvPr/>
        </p:nvSpPr>
        <p:spPr>
          <a:xfrm>
            <a:off x="1188720" y="2532888"/>
            <a:ext cx="1097280" cy="274320"/>
          </a:xfrm>
          <a:prstGeom prst="rect">
            <a:avLst/>
          </a:prstGeom>
          <a:noFill/>
          <a:ln/>
        </p:spPr>
        <p:txBody>
          <a:bodyPr wrap="square" lIns="0" tIns="0" rIns="0" bIns="0" rtlCol="0" anchor="ctr">
            <a:normAutofit/>
          </a:bodyPr>
          <a:lstStyle/>
          <a:p>
            <a:pPr indent="0" marL="0">
              <a:buNone/>
            </a:pPr>
            <a:r>
              <a:rPr lang="en-US" sz="1450" b="1" dirty="0">
                <a:solidFill>
                  <a:srgbClr val="2E806C"/>
                </a:solidFill>
                <a:latin typeface="Aptos Display" pitchFamily="34" charset="0"/>
                <a:ea typeface="Aptos Display" pitchFamily="34" charset="-122"/>
                <a:cs typeface="Aptos Display" pitchFamily="34" charset="-120"/>
              </a:rPr>
              <a:t>Current</a:t>
            </a:r>
            <a:endParaRPr lang="en-US" sz="1450" dirty="0"/>
          </a:p>
        </p:txBody>
      </p:sp>
      <p:sp>
        <p:nvSpPr>
          <p:cNvPr id="7" name="Text 5"/>
          <p:cNvSpPr/>
          <p:nvPr/>
        </p:nvSpPr>
        <p:spPr>
          <a:xfrm>
            <a:off x="1188720" y="2862072"/>
            <a:ext cx="2240280" cy="310896"/>
          </a:xfrm>
          <a:prstGeom prst="rect">
            <a:avLst/>
          </a:prstGeom>
          <a:noFill/>
          <a:ln/>
        </p:spPr>
        <p:txBody>
          <a:bodyPr wrap="square" lIns="0" tIns="0" rIns="0" bIns="0" rtlCol="0" anchor="t">
            <a:normAutofit/>
          </a:bodyPr>
          <a:lstStyle/>
          <a:p>
            <a:pPr indent="0" marL="0">
              <a:buNone/>
            </a:pPr>
            <a:r>
              <a:rPr lang="en-US" sz="1340" b="1" dirty="0">
                <a:solidFill>
                  <a:srgbClr val="20262E"/>
                </a:solidFill>
                <a:latin typeface="Aptos" pitchFamily="34" charset="0"/>
                <a:ea typeface="Aptos" pitchFamily="34" charset="-122"/>
                <a:cs typeface="Aptos" pitchFamily="34" charset="-120"/>
              </a:rPr>
              <a:t>CMS Medicaid NCCI edits</a:t>
            </a:r>
            <a:endParaRPr lang="en-US" sz="1340" dirty="0"/>
          </a:p>
        </p:txBody>
      </p:sp>
      <p:sp>
        <p:nvSpPr>
          <p:cNvPr id="8" name="Text 6"/>
          <p:cNvSpPr/>
          <p:nvPr/>
        </p:nvSpPr>
        <p:spPr>
          <a:xfrm>
            <a:off x="1188720" y="3236976"/>
            <a:ext cx="2240280" cy="475488"/>
          </a:xfrm>
          <a:prstGeom prst="rect">
            <a:avLst/>
          </a:prstGeom>
          <a:noFill/>
          <a:ln/>
        </p:spPr>
        <p:txBody>
          <a:bodyPr wrap="square" lIns="0" tIns="0" rIns="0" bIns="0" rtlCol="0" anchor="t">
            <a:normAutofit/>
          </a:bodyPr>
          <a:lstStyle/>
          <a:p>
            <a:pPr indent="0" marL="0">
              <a:buNone/>
            </a:pPr>
            <a:r>
              <a:rPr lang="en-US" sz="1340" b="1" dirty="0">
                <a:solidFill>
                  <a:srgbClr val="20262E"/>
                </a:solidFill>
                <a:latin typeface="Aptos" pitchFamily="34" charset="0"/>
                <a:ea typeface="Aptos" pitchFamily="34" charset="-122"/>
                <a:cs typeface="Aptos" pitchFamily="34" charset="-120"/>
              </a:rPr>
              <a:t>AHCCCS FFS billing manual chapters</a:t>
            </a:r>
            <a:endParaRPr lang="en-US" sz="1340" dirty="0"/>
          </a:p>
        </p:txBody>
      </p:sp>
      <p:sp>
        <p:nvSpPr>
          <p:cNvPr id="9" name="Text 7"/>
          <p:cNvSpPr/>
          <p:nvPr/>
        </p:nvSpPr>
        <p:spPr>
          <a:xfrm>
            <a:off x="1188720" y="3886200"/>
            <a:ext cx="1097280" cy="274320"/>
          </a:xfrm>
          <a:prstGeom prst="rect">
            <a:avLst/>
          </a:prstGeom>
          <a:noFill/>
          <a:ln/>
        </p:spPr>
        <p:txBody>
          <a:bodyPr wrap="square" lIns="0" tIns="0" rIns="0" bIns="0" rtlCol="0" anchor="ctr">
            <a:normAutofit/>
          </a:bodyPr>
          <a:lstStyle/>
          <a:p>
            <a:pPr indent="0" marL="0">
              <a:buNone/>
            </a:pPr>
            <a:r>
              <a:rPr lang="en-US" sz="1450" b="1" dirty="0">
                <a:solidFill>
                  <a:srgbClr val="BC6333"/>
                </a:solidFill>
                <a:latin typeface="Aptos Display" pitchFamily="34" charset="0"/>
                <a:ea typeface="Aptos Display" pitchFamily="34" charset="-122"/>
                <a:cs typeface="Aptos Display" pitchFamily="34" charset="-120"/>
              </a:rPr>
              <a:t>Next</a:t>
            </a:r>
            <a:endParaRPr lang="en-US" sz="1450" dirty="0"/>
          </a:p>
        </p:txBody>
      </p:sp>
      <p:sp>
        <p:nvSpPr>
          <p:cNvPr id="10" name="Text 8"/>
          <p:cNvSpPr/>
          <p:nvPr/>
        </p:nvSpPr>
        <p:spPr>
          <a:xfrm>
            <a:off x="1188720" y="4206240"/>
            <a:ext cx="2240280" cy="841248"/>
          </a:xfrm>
          <a:prstGeom prst="rect">
            <a:avLst/>
          </a:prstGeom>
          <a:noFill/>
          <a:ln/>
        </p:spPr>
        <p:txBody>
          <a:bodyPr wrap="square" lIns="0" tIns="0" rIns="0" bIns="0" rtlCol="0" anchor="t">
            <a:normAutofit/>
          </a:bodyPr>
          <a:lstStyle/>
          <a:p>
            <a:pPr indent="0" marL="0">
              <a:buNone/>
            </a:pPr>
            <a:r>
              <a:rPr lang="en-US" sz="1260" dirty="0">
                <a:solidFill>
                  <a:srgbClr val="565E66"/>
                </a:solidFill>
                <a:latin typeface="Aptos" pitchFamily="34" charset="0"/>
                <a:ea typeface="Aptos" pitchFamily="34" charset="-122"/>
                <a:cs typeface="Aptos" pitchFamily="34" charset="-120"/>
              </a:rPr>
              <a:t>Same-day disallow table</a:t>
            </a:r>
            <a:endParaRPr lang="en-US" sz="1260" dirty="0"/>
          </a:p>
          <a:p>
            <a:pPr indent="0" marL="0">
              <a:buNone/>
            </a:pPr>
            <a:r>
              <a:rPr lang="en-US" sz="1260" dirty="0">
                <a:solidFill>
                  <a:srgbClr val="565E66"/>
                </a:solidFill>
                <a:latin typeface="Aptos" pitchFamily="34" charset="0"/>
                <a:ea typeface="Aptos" pitchFamily="34" charset="-122"/>
                <a:cs typeface="Aptos" pitchFamily="34" charset="-120"/>
              </a:rPr>
              <a:t>HCPCS/CPT daily limits</a:t>
            </a:r>
            <a:endParaRPr lang="en-US" sz="1260" dirty="0"/>
          </a:p>
          <a:p>
            <a:pPr indent="0" marL="0">
              <a:buNone/>
            </a:pPr>
            <a:r>
              <a:rPr lang="en-US" sz="1260" dirty="0">
                <a:solidFill>
                  <a:srgbClr val="565E66"/>
                </a:solidFill>
                <a:latin typeface="Aptos" pitchFamily="34" charset="0"/>
                <a:ea typeface="Aptos" pitchFamily="34" charset="-122"/>
                <a:cs typeface="Aptos" pitchFamily="34" charset="-120"/>
              </a:rPr>
              <a:t>B2 Matrix + key exhibits</a:t>
            </a:r>
            <a:endParaRPr lang="en-US" sz="1260" dirty="0"/>
          </a:p>
        </p:txBody>
      </p:sp>
      <p:sp>
        <p:nvSpPr>
          <p:cNvPr id="11" name="Text 9"/>
          <p:cNvSpPr/>
          <p:nvPr/>
        </p:nvSpPr>
        <p:spPr>
          <a:xfrm>
            <a:off x="3822192" y="3364992"/>
            <a:ext cx="438912" cy="411480"/>
          </a:xfrm>
          <a:prstGeom prst="rect">
            <a:avLst/>
          </a:prstGeom>
          <a:noFill/>
          <a:ln/>
        </p:spPr>
        <p:txBody>
          <a:bodyPr wrap="square" lIns="0" tIns="0" rIns="0" bIns="0" rtlCol="0" anchor="ctr"/>
          <a:lstStyle/>
          <a:p>
            <a:pPr algn="ctr" indent="0" marL="0">
              <a:buNone/>
            </a:pPr>
            <a:r>
              <a:rPr lang="en-US" sz="2200" b="1" dirty="0">
                <a:solidFill>
                  <a:srgbClr val="2E806C"/>
                </a:solidFill>
                <a:latin typeface="Aptos Display" pitchFamily="34" charset="0"/>
                <a:ea typeface="Aptos Display" pitchFamily="34" charset="-122"/>
                <a:cs typeface="Aptos Display" pitchFamily="34" charset="-120"/>
              </a:rPr>
              <a:t>→</a:t>
            </a:r>
            <a:endParaRPr lang="en-US" sz="2200" dirty="0"/>
          </a:p>
        </p:txBody>
      </p:sp>
      <p:sp>
        <p:nvSpPr>
          <p:cNvPr id="12" name="Shape 10"/>
          <p:cNvSpPr/>
          <p:nvPr/>
        </p:nvSpPr>
        <p:spPr>
          <a:xfrm>
            <a:off x="4315968" y="1993392"/>
            <a:ext cx="3246120" cy="3273552"/>
          </a:xfrm>
          <a:prstGeom prst="roundRect">
            <a:avLst>
              <a:gd name="adj" fmla="val 1408"/>
            </a:avLst>
          </a:prstGeom>
          <a:solidFill>
            <a:srgbClr val="3A9079"/>
          </a:solidFill>
          <a:ln w="10160">
            <a:solidFill>
              <a:srgbClr val="3A9079"/>
            </a:solidFill>
            <a:prstDash val="solid"/>
          </a:ln>
        </p:spPr>
      </p:sp>
      <p:sp>
        <p:nvSpPr>
          <p:cNvPr id="13" name="Text 11"/>
          <p:cNvSpPr/>
          <p:nvPr/>
        </p:nvSpPr>
        <p:spPr>
          <a:xfrm>
            <a:off x="4544568" y="2212848"/>
            <a:ext cx="1645920" cy="201168"/>
          </a:xfrm>
          <a:prstGeom prst="rect">
            <a:avLst/>
          </a:prstGeom>
          <a:noFill/>
          <a:ln/>
        </p:spPr>
        <p:txBody>
          <a:bodyPr wrap="square" lIns="0" tIns="0" rIns="0" bIns="0" rtlCol="0" anchor="ctr">
            <a:normAutofit/>
          </a:bodyPr>
          <a:lstStyle/>
          <a:p>
            <a:pPr indent="0" marL="0">
              <a:buNone/>
            </a:pPr>
            <a:r>
              <a:rPr lang="en-US" sz="1020" b="1" spc="70" kern="0" dirty="0">
                <a:solidFill>
                  <a:srgbClr val="DDECE6"/>
                </a:solidFill>
                <a:latin typeface="Aptos" pitchFamily="34" charset="0"/>
                <a:ea typeface="Aptos" pitchFamily="34" charset="-122"/>
                <a:cs typeface="Aptos" pitchFamily="34" charset="-120"/>
              </a:rPr>
              <a:t>KNOWLEDGE BASE</a:t>
            </a:r>
            <a:endParaRPr lang="en-US" sz="1020" dirty="0"/>
          </a:p>
        </p:txBody>
      </p:sp>
      <p:sp>
        <p:nvSpPr>
          <p:cNvPr id="14" name="Text 12"/>
          <p:cNvSpPr/>
          <p:nvPr/>
        </p:nvSpPr>
        <p:spPr>
          <a:xfrm>
            <a:off x="4544568" y="2596896"/>
            <a:ext cx="2633472" cy="530352"/>
          </a:xfrm>
          <a:prstGeom prst="rect">
            <a:avLst/>
          </a:prstGeom>
          <a:noFill/>
          <a:ln/>
        </p:spPr>
        <p:txBody>
          <a:bodyPr wrap="square" lIns="0" tIns="0" rIns="0" bIns="0" rtlCol="0" anchor="ctr">
            <a:normAutofit/>
          </a:bodyPr>
          <a:lstStyle/>
          <a:p>
            <a:pPr indent="0" marL="0">
              <a:buNone/>
            </a:pPr>
            <a:r>
              <a:rPr lang="en-US" sz="1930" b="1" dirty="0">
                <a:solidFill>
                  <a:srgbClr val="FFFFFF"/>
                </a:solidFill>
                <a:latin typeface="Aptos Display" pitchFamily="34" charset="0"/>
                <a:ea typeface="Aptos Display" pitchFamily="34" charset="-122"/>
                <a:cs typeface="Aptos Display" pitchFamily="34" charset="-120"/>
              </a:rPr>
              <a:t>Approved rules in one place</a:t>
            </a:r>
            <a:endParaRPr lang="en-US" sz="1930" dirty="0"/>
          </a:p>
        </p:txBody>
      </p:sp>
      <p:sp>
        <p:nvSpPr>
          <p:cNvPr id="15" name="Text 13"/>
          <p:cNvSpPr/>
          <p:nvPr/>
        </p:nvSpPr>
        <p:spPr>
          <a:xfrm>
            <a:off x="4544568" y="3255264"/>
            <a:ext cx="2633472" cy="749808"/>
          </a:xfrm>
          <a:prstGeom prst="rect">
            <a:avLst/>
          </a:prstGeom>
          <a:noFill/>
          <a:ln/>
        </p:spPr>
        <p:txBody>
          <a:bodyPr wrap="square" lIns="0" tIns="0" rIns="0" bIns="0" rtlCol="0" anchor="t">
            <a:normAutofit/>
          </a:bodyPr>
          <a:lstStyle/>
          <a:p>
            <a:pPr indent="0" marL="0">
              <a:buNone/>
            </a:pPr>
            <a:r>
              <a:rPr lang="en-US" sz="1300" dirty="0">
                <a:solidFill>
                  <a:srgbClr val="E6F1ED"/>
                </a:solidFill>
                <a:latin typeface="Aptos" pitchFamily="34" charset="0"/>
                <a:ea typeface="Aptos" pitchFamily="34" charset="-122"/>
                <a:cs typeface="Aptos" pitchFamily="34" charset="-120"/>
              </a:rPr>
              <a:t>Each rule keeps the source text, policy version, effective dates and review status.</a:t>
            </a:r>
            <a:endParaRPr lang="en-US" sz="1300" dirty="0"/>
          </a:p>
        </p:txBody>
      </p:sp>
      <p:sp>
        <p:nvSpPr>
          <p:cNvPr id="16" name="Text 14"/>
          <p:cNvSpPr/>
          <p:nvPr/>
        </p:nvSpPr>
        <p:spPr>
          <a:xfrm>
            <a:off x="4544568" y="4251960"/>
            <a:ext cx="2633472" cy="457200"/>
          </a:xfrm>
          <a:prstGeom prst="rect">
            <a:avLst/>
          </a:prstGeom>
          <a:noFill/>
          <a:ln/>
        </p:spPr>
        <p:txBody>
          <a:bodyPr wrap="square" lIns="0" tIns="0" rIns="0" bIns="0" rtlCol="0" anchor="t">
            <a:normAutofit/>
          </a:bodyPr>
          <a:lstStyle/>
          <a:p>
            <a:pPr indent="0" marL="0">
              <a:buNone/>
            </a:pPr>
            <a:r>
              <a:rPr lang="en-US" sz="1260" b="1" dirty="0">
                <a:solidFill>
                  <a:srgbClr val="E6F1ED"/>
                </a:solidFill>
                <a:latin typeface="Aptos" pitchFamily="34" charset="0"/>
                <a:ea typeface="Aptos" pitchFamily="34" charset="-122"/>
                <a:cs typeface="Aptos" pitchFamily="34" charset="-120"/>
              </a:rPr>
              <a:t>Drafts and approved rules stay separate.</a:t>
            </a:r>
            <a:endParaRPr lang="en-US" sz="1260" dirty="0"/>
          </a:p>
        </p:txBody>
      </p:sp>
      <p:sp>
        <p:nvSpPr>
          <p:cNvPr id="17" name="Text 15"/>
          <p:cNvSpPr/>
          <p:nvPr/>
        </p:nvSpPr>
        <p:spPr>
          <a:xfrm>
            <a:off x="7644384" y="3364992"/>
            <a:ext cx="438912" cy="411480"/>
          </a:xfrm>
          <a:prstGeom prst="rect">
            <a:avLst/>
          </a:prstGeom>
          <a:noFill/>
          <a:ln/>
        </p:spPr>
        <p:txBody>
          <a:bodyPr wrap="square" lIns="0" tIns="0" rIns="0" bIns="0" rtlCol="0" anchor="ctr"/>
          <a:lstStyle/>
          <a:p>
            <a:pPr algn="ctr" indent="0" marL="0">
              <a:buNone/>
            </a:pPr>
            <a:r>
              <a:rPr lang="en-US" sz="2200" b="1" dirty="0">
                <a:solidFill>
                  <a:srgbClr val="2E806C"/>
                </a:solidFill>
                <a:latin typeface="Aptos Display" pitchFamily="34" charset="0"/>
                <a:ea typeface="Aptos Display" pitchFamily="34" charset="-122"/>
                <a:cs typeface="Aptos Display" pitchFamily="34" charset="-120"/>
              </a:rPr>
              <a:t>→</a:t>
            </a:r>
            <a:endParaRPr lang="en-US" sz="2200" dirty="0"/>
          </a:p>
        </p:txBody>
      </p:sp>
      <p:sp>
        <p:nvSpPr>
          <p:cNvPr id="18" name="Text 16"/>
          <p:cNvSpPr/>
          <p:nvPr/>
        </p:nvSpPr>
        <p:spPr>
          <a:xfrm>
            <a:off x="8183880" y="2212848"/>
            <a:ext cx="1097280" cy="201168"/>
          </a:xfrm>
          <a:prstGeom prst="rect">
            <a:avLst/>
          </a:prstGeom>
          <a:noFill/>
          <a:ln/>
        </p:spPr>
        <p:txBody>
          <a:bodyPr wrap="square" lIns="0" tIns="0" rIns="0" bIns="0" rtlCol="0" anchor="ctr">
            <a:normAutofit/>
          </a:bodyPr>
          <a:lstStyle/>
          <a:p>
            <a:pPr indent="0" marL="0">
              <a:buNone/>
            </a:pPr>
            <a:r>
              <a:rPr lang="en-US" sz="1020" b="1" spc="70" kern="0" dirty="0">
                <a:solidFill>
                  <a:srgbClr val="697079"/>
                </a:solidFill>
                <a:latin typeface="Aptos" pitchFamily="34" charset="0"/>
                <a:ea typeface="Aptos" pitchFamily="34" charset="-122"/>
                <a:cs typeface="Aptos" pitchFamily="34" charset="-120"/>
              </a:rPr>
              <a:t>USES</a:t>
            </a:r>
            <a:endParaRPr lang="en-US" sz="1020" dirty="0"/>
          </a:p>
        </p:txBody>
      </p:sp>
      <p:sp>
        <p:nvSpPr>
          <p:cNvPr id="19" name="Shape 17"/>
          <p:cNvSpPr/>
          <p:nvPr/>
        </p:nvSpPr>
        <p:spPr>
          <a:xfrm>
            <a:off x="8183880" y="2935224"/>
            <a:ext cx="2852928" cy="0"/>
          </a:xfrm>
          <a:prstGeom prst="line">
            <a:avLst/>
          </a:prstGeom>
          <a:noFill/>
          <a:ln w="10160">
            <a:solidFill>
              <a:srgbClr val="E4E2DC"/>
            </a:solidFill>
            <a:prstDash val="solid"/>
          </a:ln>
        </p:spPr>
      </p:sp>
      <p:sp>
        <p:nvSpPr>
          <p:cNvPr id="20" name="Text 18"/>
          <p:cNvSpPr/>
          <p:nvPr/>
        </p:nvSpPr>
        <p:spPr>
          <a:xfrm>
            <a:off x="8275320" y="2587752"/>
            <a:ext cx="1828800" cy="310896"/>
          </a:xfrm>
          <a:prstGeom prst="rect">
            <a:avLst/>
          </a:prstGeom>
          <a:noFill/>
          <a:ln/>
        </p:spPr>
        <p:txBody>
          <a:bodyPr wrap="square" lIns="0" tIns="0" rIns="0" bIns="0" rtlCol="0" anchor="t">
            <a:normAutofit/>
          </a:bodyPr>
          <a:lstStyle/>
          <a:p>
            <a:pPr indent="0" marL="0">
              <a:buNone/>
            </a:pPr>
            <a:r>
              <a:rPr lang="en-US" sz="1280" dirty="0">
                <a:solidFill>
                  <a:srgbClr val="20262E"/>
                </a:solidFill>
                <a:latin typeface="Aptos" pitchFamily="34" charset="0"/>
                <a:ea typeface="Aptos" pitchFamily="34" charset="-122"/>
                <a:cs typeface="Aptos" pitchFamily="34" charset="-120"/>
              </a:rPr>
              <a:t>Claim checks</a:t>
            </a:r>
            <a:endParaRPr lang="en-US" sz="1280" dirty="0"/>
          </a:p>
        </p:txBody>
      </p:sp>
      <p:sp>
        <p:nvSpPr>
          <p:cNvPr id="21" name="Shape 19"/>
          <p:cNvSpPr/>
          <p:nvPr/>
        </p:nvSpPr>
        <p:spPr>
          <a:xfrm>
            <a:off x="10314432" y="2615184"/>
            <a:ext cx="804672" cy="228600"/>
          </a:xfrm>
          <a:prstGeom prst="roundRect">
            <a:avLst>
              <a:gd name="adj" fmla="val 32000"/>
            </a:avLst>
          </a:prstGeom>
          <a:solidFill>
            <a:srgbClr val="F3E2D7"/>
          </a:solidFill>
          <a:ln w="12700">
            <a:solidFill>
              <a:srgbClr val="F3E2D7">
                <a:alpha val="0"/>
              </a:srgbClr>
            </a:solidFill>
            <a:prstDash val="solid"/>
          </a:ln>
        </p:spPr>
      </p:sp>
      <p:sp>
        <p:nvSpPr>
          <p:cNvPr id="22" name="Text 20"/>
          <p:cNvSpPr/>
          <p:nvPr/>
        </p:nvSpPr>
        <p:spPr>
          <a:xfrm>
            <a:off x="10314432" y="2624328"/>
            <a:ext cx="804672" cy="182880"/>
          </a:xfrm>
          <a:prstGeom prst="rect">
            <a:avLst/>
          </a:prstGeom>
          <a:noFill/>
          <a:ln/>
        </p:spPr>
        <p:txBody>
          <a:bodyPr wrap="square" lIns="0" tIns="0" rIns="0" bIns="0" rtlCol="0" anchor="ctr"/>
          <a:lstStyle/>
          <a:p>
            <a:pPr algn="ctr" indent="0" marL="0">
              <a:buNone/>
            </a:pPr>
            <a:r>
              <a:rPr lang="en-US" sz="850" b="1" dirty="0">
                <a:solidFill>
                  <a:srgbClr val="BC6333"/>
                </a:solidFill>
                <a:latin typeface="Aptos" pitchFamily="34" charset="0"/>
                <a:ea typeface="Aptos" pitchFamily="34" charset="-122"/>
                <a:cs typeface="Aptos" pitchFamily="34" charset="-120"/>
              </a:rPr>
              <a:t>VALIDATING</a:t>
            </a:r>
            <a:endParaRPr lang="en-US" sz="850" dirty="0"/>
          </a:p>
        </p:txBody>
      </p:sp>
      <p:sp>
        <p:nvSpPr>
          <p:cNvPr id="23" name="Shape 21"/>
          <p:cNvSpPr/>
          <p:nvPr/>
        </p:nvSpPr>
        <p:spPr>
          <a:xfrm>
            <a:off x="8183880" y="3456432"/>
            <a:ext cx="2852928" cy="0"/>
          </a:xfrm>
          <a:prstGeom prst="line">
            <a:avLst/>
          </a:prstGeom>
          <a:noFill/>
          <a:ln w="10160">
            <a:solidFill>
              <a:srgbClr val="E4E2DC"/>
            </a:solidFill>
            <a:prstDash val="solid"/>
          </a:ln>
        </p:spPr>
      </p:sp>
      <p:sp>
        <p:nvSpPr>
          <p:cNvPr id="24" name="Text 22"/>
          <p:cNvSpPr/>
          <p:nvPr/>
        </p:nvSpPr>
        <p:spPr>
          <a:xfrm>
            <a:off x="8275320" y="3108960"/>
            <a:ext cx="1828800" cy="310896"/>
          </a:xfrm>
          <a:prstGeom prst="rect">
            <a:avLst/>
          </a:prstGeom>
          <a:noFill/>
          <a:ln/>
        </p:spPr>
        <p:txBody>
          <a:bodyPr wrap="square" lIns="0" tIns="0" rIns="0" bIns="0" rtlCol="0" anchor="t">
            <a:normAutofit/>
          </a:bodyPr>
          <a:lstStyle/>
          <a:p>
            <a:pPr indent="0" marL="0">
              <a:buNone/>
            </a:pPr>
            <a:r>
              <a:rPr lang="en-US" sz="1280" dirty="0">
                <a:solidFill>
                  <a:srgbClr val="20262E"/>
                </a:solidFill>
                <a:latin typeface="Aptos" pitchFamily="34" charset="0"/>
                <a:ea typeface="Aptos" pitchFamily="34" charset="-122"/>
                <a:cs typeface="Aptos" pitchFamily="34" charset="-120"/>
              </a:rPr>
              <a:t>Investigator lookup</a:t>
            </a:r>
            <a:endParaRPr lang="en-US" sz="1280" dirty="0"/>
          </a:p>
        </p:txBody>
      </p:sp>
      <p:sp>
        <p:nvSpPr>
          <p:cNvPr id="25" name="Shape 23"/>
          <p:cNvSpPr/>
          <p:nvPr/>
        </p:nvSpPr>
        <p:spPr>
          <a:xfrm>
            <a:off x="10314432" y="3136392"/>
            <a:ext cx="804672" cy="228600"/>
          </a:xfrm>
          <a:prstGeom prst="roundRect">
            <a:avLst>
              <a:gd name="adj" fmla="val 32000"/>
            </a:avLst>
          </a:prstGeom>
          <a:solidFill>
            <a:srgbClr val="F3E2D7"/>
          </a:solidFill>
          <a:ln w="12700">
            <a:solidFill>
              <a:srgbClr val="F3E2D7">
                <a:alpha val="0"/>
              </a:srgbClr>
            </a:solidFill>
            <a:prstDash val="solid"/>
          </a:ln>
        </p:spPr>
      </p:sp>
      <p:sp>
        <p:nvSpPr>
          <p:cNvPr id="26" name="Text 24"/>
          <p:cNvSpPr/>
          <p:nvPr/>
        </p:nvSpPr>
        <p:spPr>
          <a:xfrm>
            <a:off x="10314432" y="3145536"/>
            <a:ext cx="804672" cy="182880"/>
          </a:xfrm>
          <a:prstGeom prst="rect">
            <a:avLst/>
          </a:prstGeom>
          <a:noFill/>
          <a:ln/>
        </p:spPr>
        <p:txBody>
          <a:bodyPr wrap="square" lIns="0" tIns="0" rIns="0" bIns="0" rtlCol="0" anchor="ctr"/>
          <a:lstStyle/>
          <a:p>
            <a:pPr algn="ctr" indent="0" marL="0">
              <a:buNone/>
            </a:pPr>
            <a:r>
              <a:rPr lang="en-US" sz="850" b="1" dirty="0">
                <a:solidFill>
                  <a:srgbClr val="BC6333"/>
                </a:solidFill>
                <a:latin typeface="Aptos" pitchFamily="34" charset="0"/>
                <a:ea typeface="Aptos" pitchFamily="34" charset="-122"/>
                <a:cs typeface="Aptos" pitchFamily="34" charset="-120"/>
              </a:rPr>
              <a:t>VALIDATING</a:t>
            </a:r>
            <a:endParaRPr lang="en-US" sz="850" dirty="0"/>
          </a:p>
        </p:txBody>
      </p:sp>
      <p:sp>
        <p:nvSpPr>
          <p:cNvPr id="27" name="Shape 25"/>
          <p:cNvSpPr/>
          <p:nvPr/>
        </p:nvSpPr>
        <p:spPr>
          <a:xfrm>
            <a:off x="8183880" y="3977640"/>
            <a:ext cx="2852928" cy="0"/>
          </a:xfrm>
          <a:prstGeom prst="line">
            <a:avLst/>
          </a:prstGeom>
          <a:noFill/>
          <a:ln w="10160">
            <a:solidFill>
              <a:srgbClr val="E4E2DC"/>
            </a:solidFill>
            <a:prstDash val="solid"/>
          </a:ln>
        </p:spPr>
      </p:sp>
      <p:sp>
        <p:nvSpPr>
          <p:cNvPr id="28" name="Text 26"/>
          <p:cNvSpPr/>
          <p:nvPr/>
        </p:nvSpPr>
        <p:spPr>
          <a:xfrm>
            <a:off x="8275320" y="3630168"/>
            <a:ext cx="1828800" cy="310896"/>
          </a:xfrm>
          <a:prstGeom prst="rect">
            <a:avLst/>
          </a:prstGeom>
          <a:noFill/>
          <a:ln/>
        </p:spPr>
        <p:txBody>
          <a:bodyPr wrap="square" lIns="0" tIns="0" rIns="0" bIns="0" rtlCol="0" anchor="t">
            <a:normAutofit/>
          </a:bodyPr>
          <a:lstStyle/>
          <a:p>
            <a:pPr indent="0" marL="0">
              <a:buNone/>
            </a:pPr>
            <a:r>
              <a:rPr lang="en-US" sz="1280" dirty="0">
                <a:solidFill>
                  <a:srgbClr val="20262E"/>
                </a:solidFill>
                <a:latin typeface="Aptos" pitchFamily="34" charset="0"/>
                <a:ea typeface="Aptos" pitchFamily="34" charset="-122"/>
                <a:cs typeface="Aptos" pitchFamily="34" charset="-120"/>
              </a:rPr>
              <a:t>Policy Q&amp;A</a:t>
            </a:r>
            <a:endParaRPr lang="en-US" sz="1280" dirty="0"/>
          </a:p>
        </p:txBody>
      </p:sp>
      <p:sp>
        <p:nvSpPr>
          <p:cNvPr id="29" name="Shape 27"/>
          <p:cNvSpPr/>
          <p:nvPr/>
        </p:nvSpPr>
        <p:spPr>
          <a:xfrm>
            <a:off x="10314432" y="3657600"/>
            <a:ext cx="804672" cy="228600"/>
          </a:xfrm>
          <a:prstGeom prst="roundRect">
            <a:avLst>
              <a:gd name="adj" fmla="val 32000"/>
            </a:avLst>
          </a:prstGeom>
          <a:solidFill>
            <a:srgbClr val="DDEDE7"/>
          </a:solidFill>
          <a:ln w="12700">
            <a:solidFill>
              <a:srgbClr val="DDEDE7">
                <a:alpha val="0"/>
              </a:srgbClr>
            </a:solidFill>
            <a:prstDash val="solid"/>
          </a:ln>
        </p:spPr>
      </p:sp>
      <p:sp>
        <p:nvSpPr>
          <p:cNvPr id="30" name="Text 28"/>
          <p:cNvSpPr/>
          <p:nvPr/>
        </p:nvSpPr>
        <p:spPr>
          <a:xfrm>
            <a:off x="10314432" y="3666744"/>
            <a:ext cx="804672" cy="182880"/>
          </a:xfrm>
          <a:prstGeom prst="rect">
            <a:avLst/>
          </a:prstGeom>
          <a:noFill/>
          <a:ln/>
        </p:spPr>
        <p:txBody>
          <a:bodyPr wrap="square" lIns="0" tIns="0" rIns="0" bIns="0" rtlCol="0" anchor="ctr"/>
          <a:lstStyle/>
          <a:p>
            <a:pPr algn="ctr" indent="0" marL="0">
              <a:buNone/>
            </a:pPr>
            <a:r>
              <a:rPr lang="en-US" sz="850" b="1" dirty="0">
                <a:solidFill>
                  <a:srgbClr val="2E806C"/>
                </a:solidFill>
                <a:latin typeface="Aptos" pitchFamily="34" charset="0"/>
                <a:ea typeface="Aptos" pitchFamily="34" charset="-122"/>
                <a:cs typeface="Aptos" pitchFamily="34" charset="-120"/>
              </a:rPr>
              <a:t>NEXT</a:t>
            </a:r>
            <a:endParaRPr lang="en-US" sz="850" dirty="0"/>
          </a:p>
        </p:txBody>
      </p:sp>
      <p:sp>
        <p:nvSpPr>
          <p:cNvPr id="31" name="Shape 29"/>
          <p:cNvSpPr/>
          <p:nvPr/>
        </p:nvSpPr>
        <p:spPr>
          <a:xfrm>
            <a:off x="8183880" y="4498848"/>
            <a:ext cx="2852928" cy="0"/>
          </a:xfrm>
          <a:prstGeom prst="line">
            <a:avLst/>
          </a:prstGeom>
          <a:noFill/>
          <a:ln w="10160">
            <a:solidFill>
              <a:srgbClr val="E4E2DC"/>
            </a:solidFill>
            <a:prstDash val="solid"/>
          </a:ln>
        </p:spPr>
      </p:sp>
      <p:sp>
        <p:nvSpPr>
          <p:cNvPr id="32" name="Text 30"/>
          <p:cNvSpPr/>
          <p:nvPr/>
        </p:nvSpPr>
        <p:spPr>
          <a:xfrm>
            <a:off x="8275320" y="4151376"/>
            <a:ext cx="1828800" cy="310896"/>
          </a:xfrm>
          <a:prstGeom prst="rect">
            <a:avLst/>
          </a:prstGeom>
          <a:noFill/>
          <a:ln/>
        </p:spPr>
        <p:txBody>
          <a:bodyPr wrap="square" lIns="0" tIns="0" rIns="0" bIns="0" rtlCol="0" anchor="t">
            <a:normAutofit/>
          </a:bodyPr>
          <a:lstStyle/>
          <a:p>
            <a:pPr indent="0" marL="0">
              <a:buNone/>
            </a:pPr>
            <a:r>
              <a:rPr lang="en-US" sz="1280" dirty="0">
                <a:solidFill>
                  <a:srgbClr val="20262E"/>
                </a:solidFill>
                <a:latin typeface="Aptos" pitchFamily="34" charset="0"/>
                <a:ea typeface="Aptos" pitchFamily="34" charset="-122"/>
                <a:cs typeface="Aptos" pitchFamily="34" charset="-120"/>
              </a:rPr>
              <a:t>Anomaly summaries</a:t>
            </a:r>
            <a:endParaRPr lang="en-US" sz="1280" dirty="0"/>
          </a:p>
        </p:txBody>
      </p:sp>
      <p:sp>
        <p:nvSpPr>
          <p:cNvPr id="33" name="Shape 31"/>
          <p:cNvSpPr/>
          <p:nvPr/>
        </p:nvSpPr>
        <p:spPr>
          <a:xfrm>
            <a:off x="10314432" y="4178808"/>
            <a:ext cx="804672" cy="228600"/>
          </a:xfrm>
          <a:prstGeom prst="roundRect">
            <a:avLst>
              <a:gd name="adj" fmla="val 32000"/>
            </a:avLst>
          </a:prstGeom>
          <a:solidFill>
            <a:srgbClr val="DDEDE7"/>
          </a:solidFill>
          <a:ln w="12700">
            <a:solidFill>
              <a:srgbClr val="DDEDE7">
                <a:alpha val="0"/>
              </a:srgbClr>
            </a:solidFill>
            <a:prstDash val="solid"/>
          </a:ln>
        </p:spPr>
      </p:sp>
      <p:sp>
        <p:nvSpPr>
          <p:cNvPr id="34" name="Text 32"/>
          <p:cNvSpPr/>
          <p:nvPr/>
        </p:nvSpPr>
        <p:spPr>
          <a:xfrm>
            <a:off x="10314432" y="4187952"/>
            <a:ext cx="804672" cy="182880"/>
          </a:xfrm>
          <a:prstGeom prst="rect">
            <a:avLst/>
          </a:prstGeom>
          <a:noFill/>
          <a:ln/>
        </p:spPr>
        <p:txBody>
          <a:bodyPr wrap="square" lIns="0" tIns="0" rIns="0" bIns="0" rtlCol="0" anchor="ctr"/>
          <a:lstStyle/>
          <a:p>
            <a:pPr algn="ctr" indent="0" marL="0">
              <a:buNone/>
            </a:pPr>
            <a:r>
              <a:rPr lang="en-US" sz="850" b="1" dirty="0">
                <a:solidFill>
                  <a:srgbClr val="2E806C"/>
                </a:solidFill>
                <a:latin typeface="Aptos" pitchFamily="34" charset="0"/>
                <a:ea typeface="Aptos" pitchFamily="34" charset="-122"/>
                <a:cs typeface="Aptos" pitchFamily="34" charset="-120"/>
              </a:rPr>
              <a:t>NEXT</a:t>
            </a:r>
            <a:endParaRPr lang="en-US" sz="850" dirty="0"/>
          </a:p>
        </p:txBody>
      </p:sp>
      <p:sp>
        <p:nvSpPr>
          <p:cNvPr id="35" name="Shape 33"/>
          <p:cNvSpPr/>
          <p:nvPr/>
        </p:nvSpPr>
        <p:spPr>
          <a:xfrm>
            <a:off x="8183880" y="5020056"/>
            <a:ext cx="2852928" cy="0"/>
          </a:xfrm>
          <a:prstGeom prst="line">
            <a:avLst/>
          </a:prstGeom>
          <a:noFill/>
          <a:ln w="10160">
            <a:solidFill>
              <a:srgbClr val="E4E2DC"/>
            </a:solidFill>
            <a:prstDash val="solid"/>
          </a:ln>
        </p:spPr>
      </p:sp>
      <p:sp>
        <p:nvSpPr>
          <p:cNvPr id="36" name="Text 34"/>
          <p:cNvSpPr/>
          <p:nvPr/>
        </p:nvSpPr>
        <p:spPr>
          <a:xfrm>
            <a:off x="8275320" y="4672584"/>
            <a:ext cx="1828800" cy="310896"/>
          </a:xfrm>
          <a:prstGeom prst="rect">
            <a:avLst/>
          </a:prstGeom>
          <a:noFill/>
          <a:ln/>
        </p:spPr>
        <p:txBody>
          <a:bodyPr wrap="square" lIns="0" tIns="0" rIns="0" bIns="0" rtlCol="0" anchor="t">
            <a:normAutofit/>
          </a:bodyPr>
          <a:lstStyle/>
          <a:p>
            <a:pPr indent="0" marL="0">
              <a:buNone/>
            </a:pPr>
            <a:r>
              <a:rPr lang="en-US" sz="1280" dirty="0">
                <a:solidFill>
                  <a:srgbClr val="20262E"/>
                </a:solidFill>
                <a:latin typeface="Aptos" pitchFamily="34" charset="0"/>
                <a:ea typeface="Aptos" pitchFamily="34" charset="-122"/>
                <a:cs typeface="Aptos" pitchFamily="34" charset="-120"/>
              </a:rPr>
              <a:t>Coverage gaps / conflicts</a:t>
            </a:r>
            <a:endParaRPr lang="en-US" sz="1280" dirty="0"/>
          </a:p>
        </p:txBody>
      </p:sp>
      <p:sp>
        <p:nvSpPr>
          <p:cNvPr id="37" name="Shape 35"/>
          <p:cNvSpPr/>
          <p:nvPr/>
        </p:nvSpPr>
        <p:spPr>
          <a:xfrm>
            <a:off x="10314432" y="4700016"/>
            <a:ext cx="804672" cy="228600"/>
          </a:xfrm>
          <a:prstGeom prst="roundRect">
            <a:avLst>
              <a:gd name="adj" fmla="val 32000"/>
            </a:avLst>
          </a:prstGeom>
          <a:solidFill>
            <a:srgbClr val="E9E8E3"/>
          </a:solidFill>
          <a:ln w="12700">
            <a:solidFill>
              <a:srgbClr val="E9E8E3">
                <a:alpha val="0"/>
              </a:srgbClr>
            </a:solidFill>
            <a:prstDash val="solid"/>
          </a:ln>
        </p:spPr>
      </p:sp>
      <p:sp>
        <p:nvSpPr>
          <p:cNvPr id="38" name="Text 36"/>
          <p:cNvSpPr/>
          <p:nvPr/>
        </p:nvSpPr>
        <p:spPr>
          <a:xfrm>
            <a:off x="10314432" y="4709160"/>
            <a:ext cx="804672" cy="182880"/>
          </a:xfrm>
          <a:prstGeom prst="rect">
            <a:avLst/>
          </a:prstGeom>
          <a:noFill/>
          <a:ln/>
        </p:spPr>
        <p:txBody>
          <a:bodyPr wrap="square" lIns="0" tIns="0" rIns="0" bIns="0" rtlCol="0" anchor="ctr"/>
          <a:lstStyle/>
          <a:p>
            <a:pPr algn="ctr" indent="0" marL="0">
              <a:buNone/>
            </a:pPr>
            <a:r>
              <a:rPr lang="en-US" sz="850" b="1" dirty="0">
                <a:solidFill>
                  <a:srgbClr val="6D7278"/>
                </a:solidFill>
                <a:latin typeface="Aptos" pitchFamily="34" charset="0"/>
                <a:ea typeface="Aptos" pitchFamily="34" charset="-122"/>
                <a:cs typeface="Aptos" pitchFamily="34" charset="-120"/>
              </a:rPr>
              <a:t>LATER</a:t>
            </a:r>
            <a:endParaRPr lang="en-US" sz="850" dirty="0"/>
          </a:p>
        </p:txBody>
      </p:sp>
      <p:sp>
        <p:nvSpPr>
          <p:cNvPr id="39" name="Shape 37"/>
          <p:cNvSpPr/>
          <p:nvPr/>
        </p:nvSpPr>
        <p:spPr>
          <a:xfrm>
            <a:off x="987552" y="5888736"/>
            <a:ext cx="0" cy="429768"/>
          </a:xfrm>
          <a:prstGeom prst="line">
            <a:avLst/>
          </a:prstGeom>
          <a:noFill/>
          <a:ln w="27940">
            <a:solidFill>
              <a:srgbClr val="2E806C"/>
            </a:solidFill>
            <a:prstDash val="solid"/>
          </a:ln>
        </p:spPr>
      </p:sp>
      <p:sp>
        <p:nvSpPr>
          <p:cNvPr id="40" name="Text 38"/>
          <p:cNvSpPr/>
          <p:nvPr/>
        </p:nvSpPr>
        <p:spPr>
          <a:xfrm>
            <a:off x="1188720" y="5879592"/>
            <a:ext cx="9948672" cy="411480"/>
          </a:xfrm>
          <a:prstGeom prst="rect">
            <a:avLst/>
          </a:prstGeom>
          <a:noFill/>
          <a:ln/>
        </p:spPr>
        <p:txBody>
          <a:bodyPr wrap="square" lIns="0" tIns="0" rIns="0" bIns="0" rtlCol="0" anchor="ctr">
            <a:normAutofit/>
          </a:bodyPr>
          <a:lstStyle/>
          <a:p>
            <a:pPr indent="0" marL="0">
              <a:buNone/>
            </a:pPr>
            <a:r>
              <a:rPr lang="en-US" sz="1280" b="1" dirty="0">
                <a:solidFill>
                  <a:srgbClr val="20262E"/>
                </a:solidFill>
                <a:latin typeface="Aptos" pitchFamily="34" charset="0"/>
                <a:ea typeface="Aptos" pitchFamily="34" charset="-122"/>
                <a:cs typeface="Aptos" pitchFamily="34" charset="-120"/>
              </a:rPr>
              <a:t>Why it matters: </a:t>
            </a:r>
            <a:pPr indent="0" marL="0">
              <a:buNone/>
            </a:pPr>
            <a:r>
              <a:rPr lang="en-US" sz="1280" dirty="0">
                <a:solidFill>
                  <a:srgbClr val="454C54"/>
                </a:solidFill>
                <a:latin typeface="Aptos" pitchFamily="34" charset="0"/>
                <a:ea typeface="Aptos" pitchFamily="34" charset="-122"/>
                <a:cs typeface="Aptos" pitchFamily="34" charset="-120"/>
              </a:rPr>
              <a:t>turn policy into reusable data once, then use it consistently across the team.</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HOW IT WORKS</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A simple four-step flow</a:t>
            </a:r>
            <a:endParaRPr lang="en-US" sz="2850" dirty="0"/>
          </a:p>
        </p:txBody>
      </p:sp>
      <p:sp>
        <p:nvSpPr>
          <p:cNvPr id="4" name="Text 2"/>
          <p:cNvSpPr/>
          <p:nvPr/>
        </p:nvSpPr>
        <p:spPr>
          <a:xfrm>
            <a:off x="987552" y="1572768"/>
            <a:ext cx="10058400" cy="411480"/>
          </a:xfrm>
          <a:prstGeom prst="rect">
            <a:avLst/>
          </a:prstGeom>
          <a:noFill/>
          <a:ln/>
        </p:spPr>
        <p:txBody>
          <a:bodyPr wrap="square" lIns="0" tIns="0" rIns="0" bIns="0" rtlCol="0" anchor="ctr">
            <a:normAutofit/>
          </a:bodyPr>
          <a:lstStyle/>
          <a:p>
            <a:pPr indent="0" marL="0">
              <a:buNone/>
            </a:pPr>
            <a:r>
              <a:rPr lang="en-US" sz="1380" dirty="0">
                <a:solidFill>
                  <a:srgbClr val="697079"/>
                </a:solidFill>
                <a:latin typeface="Aptos" pitchFamily="34" charset="0"/>
                <a:ea typeface="Aptos" pitchFamily="34" charset="-122"/>
                <a:cs typeface="Aptos" pitchFamily="34" charset="-120"/>
              </a:rPr>
              <a:t>The engine can speed up reading and organization, while people still own the policy decision.</a:t>
            </a:r>
            <a:endParaRPr lang="en-US" sz="1380" dirty="0"/>
          </a:p>
        </p:txBody>
      </p:sp>
      <p:sp>
        <p:nvSpPr>
          <p:cNvPr id="5" name="Shape 3"/>
          <p:cNvSpPr/>
          <p:nvPr/>
        </p:nvSpPr>
        <p:spPr>
          <a:xfrm>
            <a:off x="987552" y="2395728"/>
            <a:ext cx="2267712" cy="2322576"/>
          </a:xfrm>
          <a:prstGeom prst="roundRect">
            <a:avLst>
              <a:gd name="adj" fmla="val 2016"/>
            </a:avLst>
          </a:prstGeom>
          <a:solidFill>
            <a:srgbClr val="E5EDF3"/>
          </a:solidFill>
          <a:ln w="10160">
            <a:solidFill>
              <a:srgbClr val="E5EDF3"/>
            </a:solidFill>
            <a:prstDash val="solid"/>
          </a:ln>
        </p:spPr>
      </p:sp>
      <p:sp>
        <p:nvSpPr>
          <p:cNvPr id="6" name="Shape 4"/>
          <p:cNvSpPr/>
          <p:nvPr/>
        </p:nvSpPr>
        <p:spPr>
          <a:xfrm>
            <a:off x="1188720" y="2615184"/>
            <a:ext cx="310896" cy="310896"/>
          </a:xfrm>
          <a:prstGeom prst="ellipse">
            <a:avLst/>
          </a:prstGeom>
          <a:solidFill>
            <a:srgbClr val="2E806C"/>
          </a:solidFill>
          <a:ln w="12700">
            <a:solidFill>
              <a:srgbClr val="2E806C">
                <a:alpha val="0"/>
              </a:srgbClr>
            </a:solidFill>
            <a:prstDash val="solid"/>
          </a:ln>
        </p:spPr>
      </p:sp>
      <p:sp>
        <p:nvSpPr>
          <p:cNvPr id="7" name="Text 5"/>
          <p:cNvSpPr/>
          <p:nvPr/>
        </p:nvSpPr>
        <p:spPr>
          <a:xfrm>
            <a:off x="1188720" y="2619756"/>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8" name="Text 6"/>
          <p:cNvSpPr/>
          <p:nvPr/>
        </p:nvSpPr>
        <p:spPr>
          <a:xfrm>
            <a:off x="1188720" y="3127248"/>
            <a:ext cx="1828800" cy="329184"/>
          </a:xfrm>
          <a:prstGeom prst="rect">
            <a:avLst/>
          </a:prstGeom>
          <a:noFill/>
          <a:ln/>
        </p:spPr>
        <p:txBody>
          <a:bodyPr wrap="square" lIns="0" tIns="0" rIns="0" bIns="0" rtlCol="0" anchor="ctr">
            <a:normAutofit/>
          </a:bodyPr>
          <a:lstStyle/>
          <a:p>
            <a:pPr indent="0" marL="0">
              <a:buNone/>
            </a:pPr>
            <a:r>
              <a:rPr lang="en-US" sz="1800" b="1" dirty="0">
                <a:solidFill>
                  <a:srgbClr val="20262E"/>
                </a:solidFill>
                <a:latin typeface="Aptos Display" pitchFamily="34" charset="0"/>
                <a:ea typeface="Aptos Display" pitchFamily="34" charset="-122"/>
                <a:cs typeface="Aptos Display" pitchFamily="34" charset="-120"/>
              </a:rPr>
              <a:t>Read</a:t>
            </a:r>
            <a:endParaRPr lang="en-US" sz="1800" dirty="0"/>
          </a:p>
        </p:txBody>
      </p:sp>
      <p:sp>
        <p:nvSpPr>
          <p:cNvPr id="9" name="Text 7"/>
          <p:cNvSpPr/>
          <p:nvPr/>
        </p:nvSpPr>
        <p:spPr>
          <a:xfrm>
            <a:off x="1188720" y="3566160"/>
            <a:ext cx="1847088" cy="896112"/>
          </a:xfrm>
          <a:prstGeom prst="rect">
            <a:avLst/>
          </a:prstGeom>
          <a:noFill/>
          <a:ln/>
        </p:spPr>
        <p:txBody>
          <a:bodyPr wrap="square" lIns="0" tIns="0" rIns="0" bIns="0" rtlCol="0" anchor="t">
            <a:normAutofit/>
          </a:bodyPr>
          <a:lstStyle/>
          <a:p>
            <a:pPr indent="0" marL="0">
              <a:buNone/>
            </a:pPr>
            <a:r>
              <a:rPr lang="en-US" sz="1260" dirty="0">
                <a:solidFill>
                  <a:srgbClr val="525A62"/>
                </a:solidFill>
                <a:latin typeface="Aptos" pitchFamily="34" charset="0"/>
                <a:ea typeface="Aptos" pitchFamily="34" charset="-122"/>
                <a:cs typeface="Aptos" pitchFamily="34" charset="-120"/>
              </a:rPr>
              <a:t>Bring in CMS edits, AHCCCS policy documents and reference tables.</a:t>
            </a:r>
            <a:endParaRPr lang="en-US" sz="1260" dirty="0"/>
          </a:p>
        </p:txBody>
      </p:sp>
      <p:sp>
        <p:nvSpPr>
          <p:cNvPr id="10" name="Text 8"/>
          <p:cNvSpPr/>
          <p:nvPr/>
        </p:nvSpPr>
        <p:spPr>
          <a:xfrm>
            <a:off x="3346704" y="3218688"/>
            <a:ext cx="292608" cy="365760"/>
          </a:xfrm>
          <a:prstGeom prst="rect">
            <a:avLst/>
          </a:prstGeom>
          <a:noFill/>
          <a:ln/>
        </p:spPr>
        <p:txBody>
          <a:bodyPr wrap="square" lIns="0" tIns="0" rIns="0" bIns="0" rtlCol="0" anchor="ctr"/>
          <a:lstStyle/>
          <a:p>
            <a:pPr algn="ctr" indent="0" marL="0">
              <a:buNone/>
            </a:pPr>
            <a:r>
              <a:rPr lang="en-US" sz="3000" b="1" dirty="0">
                <a:solidFill>
                  <a:srgbClr val="A8B1B3"/>
                </a:solidFill>
                <a:latin typeface="Aptos Display" pitchFamily="34" charset="0"/>
                <a:ea typeface="Aptos Display" pitchFamily="34" charset="-122"/>
                <a:cs typeface="Aptos Display" pitchFamily="34" charset="-120"/>
              </a:rPr>
              <a:t>›</a:t>
            </a:r>
            <a:endParaRPr lang="en-US" sz="3000" dirty="0"/>
          </a:p>
        </p:txBody>
      </p:sp>
      <p:sp>
        <p:nvSpPr>
          <p:cNvPr id="11" name="Shape 9"/>
          <p:cNvSpPr/>
          <p:nvPr/>
        </p:nvSpPr>
        <p:spPr>
          <a:xfrm>
            <a:off x="3803904" y="2395728"/>
            <a:ext cx="2267712" cy="2322576"/>
          </a:xfrm>
          <a:prstGeom prst="roundRect">
            <a:avLst>
              <a:gd name="adj" fmla="val 2016"/>
            </a:avLst>
          </a:prstGeom>
          <a:solidFill>
            <a:srgbClr val="E5F1ED"/>
          </a:solidFill>
          <a:ln w="10160">
            <a:solidFill>
              <a:srgbClr val="E5F1ED"/>
            </a:solidFill>
            <a:prstDash val="solid"/>
          </a:ln>
        </p:spPr>
      </p:sp>
      <p:sp>
        <p:nvSpPr>
          <p:cNvPr id="12" name="Shape 10"/>
          <p:cNvSpPr/>
          <p:nvPr/>
        </p:nvSpPr>
        <p:spPr>
          <a:xfrm>
            <a:off x="4005072" y="2615184"/>
            <a:ext cx="310896" cy="310896"/>
          </a:xfrm>
          <a:prstGeom prst="ellipse">
            <a:avLst/>
          </a:prstGeom>
          <a:solidFill>
            <a:srgbClr val="2E806C"/>
          </a:solidFill>
          <a:ln w="12700">
            <a:solidFill>
              <a:srgbClr val="2E806C">
                <a:alpha val="0"/>
              </a:srgbClr>
            </a:solidFill>
            <a:prstDash val="solid"/>
          </a:ln>
        </p:spPr>
      </p:sp>
      <p:sp>
        <p:nvSpPr>
          <p:cNvPr id="13" name="Text 11"/>
          <p:cNvSpPr/>
          <p:nvPr/>
        </p:nvSpPr>
        <p:spPr>
          <a:xfrm>
            <a:off x="4005072" y="2619756"/>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4" name="Text 12"/>
          <p:cNvSpPr/>
          <p:nvPr/>
        </p:nvSpPr>
        <p:spPr>
          <a:xfrm>
            <a:off x="4005072" y="3127248"/>
            <a:ext cx="1828800" cy="329184"/>
          </a:xfrm>
          <a:prstGeom prst="rect">
            <a:avLst/>
          </a:prstGeom>
          <a:noFill/>
          <a:ln/>
        </p:spPr>
        <p:txBody>
          <a:bodyPr wrap="square" lIns="0" tIns="0" rIns="0" bIns="0" rtlCol="0" anchor="ctr">
            <a:normAutofit/>
          </a:bodyPr>
          <a:lstStyle/>
          <a:p>
            <a:pPr indent="0" marL="0">
              <a:buNone/>
            </a:pPr>
            <a:r>
              <a:rPr lang="en-US" sz="1800" b="1" dirty="0">
                <a:solidFill>
                  <a:srgbClr val="20262E"/>
                </a:solidFill>
                <a:latin typeface="Aptos Display" pitchFamily="34" charset="0"/>
                <a:ea typeface="Aptos Display" pitchFamily="34" charset="-122"/>
                <a:cs typeface="Aptos Display" pitchFamily="34" charset="-120"/>
              </a:rPr>
              <a:t>Propose</a:t>
            </a:r>
            <a:endParaRPr lang="en-US" sz="1800" dirty="0"/>
          </a:p>
        </p:txBody>
      </p:sp>
      <p:sp>
        <p:nvSpPr>
          <p:cNvPr id="15" name="Text 13"/>
          <p:cNvSpPr/>
          <p:nvPr/>
        </p:nvSpPr>
        <p:spPr>
          <a:xfrm>
            <a:off x="4005072" y="3566160"/>
            <a:ext cx="1847088" cy="896112"/>
          </a:xfrm>
          <a:prstGeom prst="rect">
            <a:avLst/>
          </a:prstGeom>
          <a:noFill/>
          <a:ln/>
        </p:spPr>
        <p:txBody>
          <a:bodyPr wrap="square" lIns="0" tIns="0" rIns="0" bIns="0" rtlCol="0" anchor="t">
            <a:normAutofit/>
          </a:bodyPr>
          <a:lstStyle/>
          <a:p>
            <a:pPr indent="0" marL="0">
              <a:buNone/>
            </a:pPr>
            <a:r>
              <a:rPr lang="en-US" sz="1260" dirty="0">
                <a:solidFill>
                  <a:srgbClr val="525A62"/>
                </a:solidFill>
                <a:latin typeface="Aptos" pitchFamily="34" charset="0"/>
                <a:ea typeface="Aptos" pitchFamily="34" charset="-122"/>
                <a:cs typeface="Aptos" pitchFamily="34" charset="-120"/>
              </a:rPr>
              <a:t>Identify possible rules, limits, combinations and exceptions.</a:t>
            </a:r>
            <a:endParaRPr lang="en-US" sz="1260" dirty="0"/>
          </a:p>
        </p:txBody>
      </p:sp>
      <p:sp>
        <p:nvSpPr>
          <p:cNvPr id="16" name="Text 14"/>
          <p:cNvSpPr/>
          <p:nvPr/>
        </p:nvSpPr>
        <p:spPr>
          <a:xfrm>
            <a:off x="6163056" y="3218688"/>
            <a:ext cx="292608" cy="365760"/>
          </a:xfrm>
          <a:prstGeom prst="rect">
            <a:avLst/>
          </a:prstGeom>
          <a:noFill/>
          <a:ln/>
        </p:spPr>
        <p:txBody>
          <a:bodyPr wrap="square" lIns="0" tIns="0" rIns="0" bIns="0" rtlCol="0" anchor="ctr"/>
          <a:lstStyle/>
          <a:p>
            <a:pPr algn="ctr" indent="0" marL="0">
              <a:buNone/>
            </a:pPr>
            <a:r>
              <a:rPr lang="en-US" sz="3000" b="1" dirty="0">
                <a:solidFill>
                  <a:srgbClr val="A8B1B3"/>
                </a:solidFill>
                <a:latin typeface="Aptos Display" pitchFamily="34" charset="0"/>
                <a:ea typeface="Aptos Display" pitchFamily="34" charset="-122"/>
                <a:cs typeface="Aptos Display" pitchFamily="34" charset="-120"/>
              </a:rPr>
              <a:t>›</a:t>
            </a:r>
            <a:endParaRPr lang="en-US" sz="3000" dirty="0"/>
          </a:p>
        </p:txBody>
      </p:sp>
      <p:sp>
        <p:nvSpPr>
          <p:cNvPr id="17" name="Shape 15"/>
          <p:cNvSpPr/>
          <p:nvPr/>
        </p:nvSpPr>
        <p:spPr>
          <a:xfrm>
            <a:off x="6620256" y="2395728"/>
            <a:ext cx="2267712" cy="2322576"/>
          </a:xfrm>
          <a:prstGeom prst="roundRect">
            <a:avLst>
              <a:gd name="adj" fmla="val 2016"/>
            </a:avLst>
          </a:prstGeom>
          <a:solidFill>
            <a:srgbClr val="E8F2EF"/>
          </a:solidFill>
          <a:ln w="10160">
            <a:solidFill>
              <a:srgbClr val="E8F2EF"/>
            </a:solidFill>
            <a:prstDash val="solid"/>
          </a:ln>
        </p:spPr>
      </p:sp>
      <p:sp>
        <p:nvSpPr>
          <p:cNvPr id="18" name="Shape 16"/>
          <p:cNvSpPr/>
          <p:nvPr/>
        </p:nvSpPr>
        <p:spPr>
          <a:xfrm>
            <a:off x="6821424" y="2615184"/>
            <a:ext cx="310896" cy="310896"/>
          </a:xfrm>
          <a:prstGeom prst="ellipse">
            <a:avLst/>
          </a:prstGeom>
          <a:solidFill>
            <a:srgbClr val="2E806C"/>
          </a:solidFill>
          <a:ln w="12700">
            <a:solidFill>
              <a:srgbClr val="2E806C">
                <a:alpha val="0"/>
              </a:srgbClr>
            </a:solidFill>
            <a:prstDash val="solid"/>
          </a:ln>
        </p:spPr>
      </p:sp>
      <p:sp>
        <p:nvSpPr>
          <p:cNvPr id="19" name="Text 17"/>
          <p:cNvSpPr/>
          <p:nvPr/>
        </p:nvSpPr>
        <p:spPr>
          <a:xfrm>
            <a:off x="6821424" y="2619756"/>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20" name="Text 18"/>
          <p:cNvSpPr/>
          <p:nvPr/>
        </p:nvSpPr>
        <p:spPr>
          <a:xfrm>
            <a:off x="6821424" y="3127248"/>
            <a:ext cx="1828800" cy="329184"/>
          </a:xfrm>
          <a:prstGeom prst="rect">
            <a:avLst/>
          </a:prstGeom>
          <a:noFill/>
          <a:ln/>
        </p:spPr>
        <p:txBody>
          <a:bodyPr wrap="square" lIns="0" tIns="0" rIns="0" bIns="0" rtlCol="0" anchor="ctr">
            <a:normAutofit/>
          </a:bodyPr>
          <a:lstStyle/>
          <a:p>
            <a:pPr indent="0" marL="0">
              <a:buNone/>
            </a:pPr>
            <a:r>
              <a:rPr lang="en-US" sz="1800" b="1" dirty="0">
                <a:solidFill>
                  <a:srgbClr val="20262E"/>
                </a:solidFill>
                <a:latin typeface="Aptos Display" pitchFamily="34" charset="0"/>
                <a:ea typeface="Aptos Display" pitchFamily="34" charset="-122"/>
                <a:cs typeface="Aptos Display" pitchFamily="34" charset="-120"/>
              </a:rPr>
              <a:t>Review</a:t>
            </a:r>
            <a:endParaRPr lang="en-US" sz="1800" dirty="0"/>
          </a:p>
        </p:txBody>
      </p:sp>
      <p:sp>
        <p:nvSpPr>
          <p:cNvPr id="21" name="Text 19"/>
          <p:cNvSpPr/>
          <p:nvPr/>
        </p:nvSpPr>
        <p:spPr>
          <a:xfrm>
            <a:off x="6821424" y="3566160"/>
            <a:ext cx="1847088" cy="896112"/>
          </a:xfrm>
          <a:prstGeom prst="rect">
            <a:avLst/>
          </a:prstGeom>
          <a:noFill/>
          <a:ln/>
        </p:spPr>
        <p:txBody>
          <a:bodyPr wrap="square" lIns="0" tIns="0" rIns="0" bIns="0" rtlCol="0" anchor="t">
            <a:normAutofit/>
          </a:bodyPr>
          <a:lstStyle/>
          <a:p>
            <a:pPr indent="0" marL="0">
              <a:buNone/>
            </a:pPr>
            <a:r>
              <a:rPr lang="en-US" sz="1260" dirty="0">
                <a:solidFill>
                  <a:srgbClr val="525A62"/>
                </a:solidFill>
                <a:latin typeface="Aptos" pitchFamily="34" charset="0"/>
                <a:ea typeface="Aptos" pitchFamily="34" charset="-122"/>
                <a:cs typeface="Aptos" pitchFamily="34" charset="-120"/>
              </a:rPr>
              <a:t>A policy or medical reviewer checks the rule against the source.</a:t>
            </a:r>
            <a:endParaRPr lang="en-US" sz="1260" dirty="0"/>
          </a:p>
        </p:txBody>
      </p:sp>
      <p:sp>
        <p:nvSpPr>
          <p:cNvPr id="22" name="Text 20"/>
          <p:cNvSpPr/>
          <p:nvPr/>
        </p:nvSpPr>
        <p:spPr>
          <a:xfrm>
            <a:off x="8979408" y="3218688"/>
            <a:ext cx="292608" cy="365760"/>
          </a:xfrm>
          <a:prstGeom prst="rect">
            <a:avLst/>
          </a:prstGeom>
          <a:noFill/>
          <a:ln/>
        </p:spPr>
        <p:txBody>
          <a:bodyPr wrap="square" lIns="0" tIns="0" rIns="0" bIns="0" rtlCol="0" anchor="ctr"/>
          <a:lstStyle/>
          <a:p>
            <a:pPr algn="ctr" indent="0" marL="0">
              <a:buNone/>
            </a:pPr>
            <a:r>
              <a:rPr lang="en-US" sz="3000" b="1" dirty="0">
                <a:solidFill>
                  <a:srgbClr val="A8B1B3"/>
                </a:solidFill>
                <a:latin typeface="Aptos Display" pitchFamily="34" charset="0"/>
                <a:ea typeface="Aptos Display" pitchFamily="34" charset="-122"/>
                <a:cs typeface="Aptos Display" pitchFamily="34" charset="-120"/>
              </a:rPr>
              <a:t>›</a:t>
            </a:r>
            <a:endParaRPr lang="en-US" sz="3000" dirty="0"/>
          </a:p>
        </p:txBody>
      </p:sp>
      <p:sp>
        <p:nvSpPr>
          <p:cNvPr id="23" name="Shape 21"/>
          <p:cNvSpPr/>
          <p:nvPr/>
        </p:nvSpPr>
        <p:spPr>
          <a:xfrm>
            <a:off x="9436608" y="2395728"/>
            <a:ext cx="2267712" cy="2322576"/>
          </a:xfrm>
          <a:prstGeom prst="roundRect">
            <a:avLst>
              <a:gd name="adj" fmla="val 2016"/>
            </a:avLst>
          </a:prstGeom>
          <a:solidFill>
            <a:srgbClr val="F6EADF"/>
          </a:solidFill>
          <a:ln w="10160">
            <a:solidFill>
              <a:srgbClr val="F6EADF"/>
            </a:solidFill>
            <a:prstDash val="solid"/>
          </a:ln>
        </p:spPr>
      </p:sp>
      <p:sp>
        <p:nvSpPr>
          <p:cNvPr id="24" name="Shape 22"/>
          <p:cNvSpPr/>
          <p:nvPr/>
        </p:nvSpPr>
        <p:spPr>
          <a:xfrm>
            <a:off x="9637776" y="2615184"/>
            <a:ext cx="310896" cy="310896"/>
          </a:xfrm>
          <a:prstGeom prst="ellipse">
            <a:avLst/>
          </a:prstGeom>
          <a:solidFill>
            <a:srgbClr val="BC6333"/>
          </a:solidFill>
          <a:ln w="12700">
            <a:solidFill>
              <a:srgbClr val="BC6333">
                <a:alpha val="0"/>
              </a:srgbClr>
            </a:solidFill>
            <a:prstDash val="solid"/>
          </a:ln>
        </p:spPr>
      </p:sp>
      <p:sp>
        <p:nvSpPr>
          <p:cNvPr id="25" name="Text 23"/>
          <p:cNvSpPr/>
          <p:nvPr/>
        </p:nvSpPr>
        <p:spPr>
          <a:xfrm>
            <a:off x="9637776" y="2619756"/>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6" name="Text 24"/>
          <p:cNvSpPr/>
          <p:nvPr/>
        </p:nvSpPr>
        <p:spPr>
          <a:xfrm>
            <a:off x="9637776" y="3127248"/>
            <a:ext cx="1828800" cy="329184"/>
          </a:xfrm>
          <a:prstGeom prst="rect">
            <a:avLst/>
          </a:prstGeom>
          <a:noFill/>
          <a:ln/>
        </p:spPr>
        <p:txBody>
          <a:bodyPr wrap="square" lIns="0" tIns="0" rIns="0" bIns="0" rtlCol="0" anchor="ctr">
            <a:normAutofit/>
          </a:bodyPr>
          <a:lstStyle/>
          <a:p>
            <a:pPr indent="0" marL="0">
              <a:buNone/>
            </a:pPr>
            <a:r>
              <a:rPr lang="en-US" sz="1800" b="1" dirty="0">
                <a:solidFill>
                  <a:srgbClr val="20262E"/>
                </a:solidFill>
                <a:latin typeface="Aptos Display" pitchFamily="34" charset="0"/>
                <a:ea typeface="Aptos Display" pitchFamily="34" charset="-122"/>
                <a:cs typeface="Aptos Display" pitchFamily="34" charset="-120"/>
              </a:rPr>
              <a:t>Use</a:t>
            </a:r>
            <a:endParaRPr lang="en-US" sz="1800" dirty="0"/>
          </a:p>
        </p:txBody>
      </p:sp>
      <p:sp>
        <p:nvSpPr>
          <p:cNvPr id="27" name="Text 25"/>
          <p:cNvSpPr/>
          <p:nvPr/>
        </p:nvSpPr>
        <p:spPr>
          <a:xfrm>
            <a:off x="9637776" y="3566160"/>
            <a:ext cx="1847088" cy="896112"/>
          </a:xfrm>
          <a:prstGeom prst="rect">
            <a:avLst/>
          </a:prstGeom>
          <a:noFill/>
          <a:ln/>
        </p:spPr>
        <p:txBody>
          <a:bodyPr wrap="square" lIns="0" tIns="0" rIns="0" bIns="0" rtlCol="0" anchor="t">
            <a:normAutofit/>
          </a:bodyPr>
          <a:lstStyle/>
          <a:p>
            <a:pPr indent="0" marL="0">
              <a:buNone/>
            </a:pPr>
            <a:r>
              <a:rPr lang="en-US" sz="1260" dirty="0">
                <a:solidFill>
                  <a:srgbClr val="525A62"/>
                </a:solidFill>
                <a:latin typeface="Aptos" pitchFamily="34" charset="0"/>
                <a:ea typeface="Aptos" pitchFamily="34" charset="-122"/>
                <a:cs typeface="Aptos" pitchFamily="34" charset="-120"/>
              </a:rPr>
              <a:t>Only approved rules can support a claim finding or policy answer.</a:t>
            </a:r>
            <a:endParaRPr lang="en-US" sz="1260" dirty="0"/>
          </a:p>
        </p:txBody>
      </p:sp>
      <p:sp>
        <p:nvSpPr>
          <p:cNvPr id="28" name="Shape 26"/>
          <p:cNvSpPr/>
          <p:nvPr/>
        </p:nvSpPr>
        <p:spPr>
          <a:xfrm>
            <a:off x="987552" y="5779008"/>
            <a:ext cx="0" cy="429768"/>
          </a:xfrm>
          <a:prstGeom prst="line">
            <a:avLst/>
          </a:prstGeom>
          <a:noFill/>
          <a:ln w="27940">
            <a:solidFill>
              <a:srgbClr val="2E806C"/>
            </a:solidFill>
            <a:prstDash val="solid"/>
          </a:ln>
        </p:spPr>
      </p:sp>
      <p:sp>
        <p:nvSpPr>
          <p:cNvPr id="29" name="Text 27"/>
          <p:cNvSpPr/>
          <p:nvPr/>
        </p:nvSpPr>
        <p:spPr>
          <a:xfrm>
            <a:off x="1188720" y="5769864"/>
            <a:ext cx="9948672" cy="411480"/>
          </a:xfrm>
          <a:prstGeom prst="rect">
            <a:avLst/>
          </a:prstGeom>
          <a:noFill/>
          <a:ln/>
        </p:spPr>
        <p:txBody>
          <a:bodyPr wrap="square" lIns="0" tIns="0" rIns="0" bIns="0" rtlCol="0" anchor="ctr">
            <a:normAutofit/>
          </a:bodyPr>
          <a:lstStyle/>
          <a:p>
            <a:pPr indent="0" marL="0">
              <a:buNone/>
            </a:pPr>
            <a:r>
              <a:rPr lang="en-US" sz="1280" b="1" dirty="0">
                <a:solidFill>
                  <a:srgbClr val="20262E"/>
                </a:solidFill>
                <a:latin typeface="Aptos" pitchFamily="34" charset="0"/>
                <a:ea typeface="Aptos" pitchFamily="34" charset="-122"/>
                <a:cs typeface="Aptos" pitchFamily="34" charset="-120"/>
              </a:rPr>
              <a:t>Core principle: </a:t>
            </a:r>
            <a:pPr indent="0" marL="0">
              <a:buNone/>
            </a:pPr>
            <a:r>
              <a:rPr lang="en-US" sz="1280" dirty="0">
                <a:solidFill>
                  <a:srgbClr val="454C54"/>
                </a:solidFill>
                <a:latin typeface="Aptos" pitchFamily="34" charset="0"/>
                <a:ea typeface="Aptos" pitchFamily="34" charset="-122"/>
                <a:cs typeface="Aptos" pitchFamily="34" charset="-120"/>
              </a:rPr>
              <a:t>AI can propose. A trusted rule still requires evidence + review.</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WHAT GOES INTO THE KNOWLEDGE BASE</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Rules the team already works with</a:t>
            </a:r>
            <a:endParaRPr lang="en-US" sz="2850" dirty="0"/>
          </a:p>
        </p:txBody>
      </p:sp>
      <p:sp>
        <p:nvSpPr>
          <p:cNvPr id="4" name="Text 2"/>
          <p:cNvSpPr/>
          <p:nvPr/>
        </p:nvSpPr>
        <p:spPr>
          <a:xfrm>
            <a:off x="987552" y="1572768"/>
            <a:ext cx="10058400" cy="411480"/>
          </a:xfrm>
          <a:prstGeom prst="rect">
            <a:avLst/>
          </a:prstGeom>
          <a:noFill/>
          <a:ln/>
        </p:spPr>
        <p:txBody>
          <a:bodyPr wrap="square" lIns="0" tIns="0" rIns="0" bIns="0" rtlCol="0" anchor="ctr">
            <a:normAutofit/>
          </a:bodyPr>
          <a:lstStyle/>
          <a:p>
            <a:pPr indent="0" marL="0">
              <a:buNone/>
            </a:pPr>
            <a:r>
              <a:rPr lang="en-US" sz="1380" dirty="0">
                <a:solidFill>
                  <a:srgbClr val="697079"/>
                </a:solidFill>
                <a:latin typeface="Aptos" pitchFamily="34" charset="0"/>
                <a:ea typeface="Aptos" pitchFamily="34" charset="-122"/>
                <a:cs typeface="Aptos" pitchFamily="34" charset="-120"/>
              </a:rPr>
              <a:t>We focus on policy that can support a clear review question—not every sentence in a manual.</a:t>
            </a:r>
            <a:endParaRPr lang="en-US" sz="1380" dirty="0"/>
          </a:p>
        </p:txBody>
      </p:sp>
      <p:sp>
        <p:nvSpPr>
          <p:cNvPr id="5" name="Shape 3"/>
          <p:cNvSpPr/>
          <p:nvPr/>
        </p:nvSpPr>
        <p:spPr>
          <a:xfrm>
            <a:off x="987552" y="2249424"/>
            <a:ext cx="2743200" cy="2980944"/>
          </a:xfrm>
          <a:prstGeom prst="roundRect">
            <a:avLst>
              <a:gd name="adj" fmla="val 1667"/>
            </a:avLst>
          </a:prstGeom>
          <a:solidFill>
            <a:srgbClr val="E5EDF3"/>
          </a:solidFill>
          <a:ln w="10160">
            <a:solidFill>
              <a:srgbClr val="E5EDF3"/>
            </a:solidFill>
            <a:prstDash val="solid"/>
          </a:ln>
        </p:spPr>
      </p:sp>
      <p:sp>
        <p:nvSpPr>
          <p:cNvPr id="6" name="Text 4"/>
          <p:cNvSpPr/>
          <p:nvPr/>
        </p:nvSpPr>
        <p:spPr>
          <a:xfrm>
            <a:off x="1188720" y="2487168"/>
            <a:ext cx="2194560" cy="201168"/>
          </a:xfrm>
          <a:prstGeom prst="rect">
            <a:avLst/>
          </a:prstGeom>
          <a:noFill/>
          <a:ln/>
        </p:spPr>
        <p:txBody>
          <a:bodyPr wrap="square" lIns="0" tIns="0" rIns="0" bIns="0" rtlCol="0" anchor="ctr">
            <a:normAutofit/>
          </a:bodyPr>
          <a:lstStyle/>
          <a:p>
            <a:pPr indent="0" marL="0">
              <a:buNone/>
            </a:pPr>
            <a:r>
              <a:rPr lang="en-US" sz="1020" b="1" spc="70" kern="0" dirty="0">
                <a:solidFill>
                  <a:srgbClr val="2E806C"/>
                </a:solidFill>
                <a:latin typeface="Aptos" pitchFamily="34" charset="0"/>
                <a:ea typeface="Aptos" pitchFamily="34" charset="-122"/>
                <a:cs typeface="Aptos" pitchFamily="34" charset="-120"/>
              </a:rPr>
              <a:t>FEDERAL EDITS</a:t>
            </a:r>
            <a:endParaRPr lang="en-US" sz="1020" dirty="0"/>
          </a:p>
        </p:txBody>
      </p:sp>
      <p:sp>
        <p:nvSpPr>
          <p:cNvPr id="7" name="Text 5"/>
          <p:cNvSpPr/>
          <p:nvPr/>
        </p:nvSpPr>
        <p:spPr>
          <a:xfrm>
            <a:off x="1188720" y="2843784"/>
            <a:ext cx="2286000" cy="384048"/>
          </a:xfrm>
          <a:prstGeom prst="rect">
            <a:avLst/>
          </a:prstGeom>
          <a:noFill/>
          <a:ln/>
        </p:spPr>
        <p:txBody>
          <a:bodyPr wrap="square" lIns="0" tIns="0" rIns="0" bIns="0" rtlCol="0" anchor="ctr">
            <a:normAutofit/>
          </a:bodyPr>
          <a:lstStyle/>
          <a:p>
            <a:pPr indent="0" marL="0">
              <a:buNone/>
            </a:pPr>
            <a:r>
              <a:rPr lang="en-US" sz="1920" b="1" dirty="0">
                <a:solidFill>
                  <a:srgbClr val="20262E"/>
                </a:solidFill>
                <a:latin typeface="Aptos Display" pitchFamily="34" charset="0"/>
                <a:ea typeface="Aptos Display" pitchFamily="34" charset="-122"/>
                <a:cs typeface="Aptos Display" pitchFamily="34" charset="-120"/>
              </a:rPr>
              <a:t>NCCI</a:t>
            </a:r>
            <a:endParaRPr lang="en-US" sz="1920" dirty="0"/>
          </a:p>
        </p:txBody>
      </p:sp>
      <p:sp>
        <p:nvSpPr>
          <p:cNvPr id="8" name="Text 6"/>
          <p:cNvSpPr/>
          <p:nvPr/>
        </p:nvSpPr>
        <p:spPr>
          <a:xfrm>
            <a:off x="1188720" y="3401568"/>
            <a:ext cx="2240280" cy="1417320"/>
          </a:xfrm>
          <a:prstGeom prst="rect">
            <a:avLst/>
          </a:prstGeom>
          <a:noFill/>
          <a:ln/>
        </p:spPr>
        <p:txBody>
          <a:bodyPr wrap="square" lIns="0" tIns="0" rIns="0" bIns="0" rtlCol="0" anchor="t">
            <a:normAutofit/>
          </a:bodyPr>
          <a:lstStyle/>
          <a:p>
            <a:pPr indent="0" marL="0">
              <a:buNone/>
            </a:pPr>
            <a:r>
              <a:rPr lang="en-US" sz="1260" dirty="0">
                <a:solidFill>
                  <a:srgbClr val="505860"/>
                </a:solidFill>
                <a:latin typeface="Aptos" pitchFamily="34" charset="0"/>
                <a:ea typeface="Aptos" pitchFamily="34" charset="-122"/>
                <a:cs typeface="Aptos" pitchFamily="34" charset="-120"/>
              </a:rPr>
              <a:t>Codes that should not be billed together</a:t>
            </a:r>
            <a:endParaRPr lang="en-US" sz="1260" dirty="0"/>
          </a:p>
          <a:p>
            <a:pPr indent="0" marL="0">
              <a:buNone/>
            </a:pPr>
            <a:endParaRPr lang="en-US" sz="1260" dirty="0"/>
          </a:p>
          <a:p>
            <a:pPr indent="0" marL="0">
              <a:buNone/>
            </a:pPr>
            <a:r>
              <a:rPr lang="en-US" sz="1260" dirty="0">
                <a:solidFill>
                  <a:srgbClr val="505860"/>
                </a:solidFill>
                <a:latin typeface="Aptos" pitchFamily="34" charset="0"/>
                <a:ea typeface="Aptos" pitchFamily="34" charset="-122"/>
                <a:cs typeface="Aptos" pitchFamily="34" charset="-120"/>
              </a:rPr>
              <a:t>Maximum units allowed on one claim line</a:t>
            </a:r>
            <a:endParaRPr lang="en-US" sz="1260" dirty="0"/>
          </a:p>
        </p:txBody>
      </p:sp>
      <p:sp>
        <p:nvSpPr>
          <p:cNvPr id="9" name="Text 7"/>
          <p:cNvSpPr/>
          <p:nvPr/>
        </p:nvSpPr>
        <p:spPr>
          <a:xfrm>
            <a:off x="1188720" y="4828032"/>
            <a:ext cx="2240280" cy="228600"/>
          </a:xfrm>
          <a:prstGeom prst="rect">
            <a:avLst/>
          </a:prstGeom>
          <a:noFill/>
          <a:ln/>
        </p:spPr>
        <p:txBody>
          <a:bodyPr wrap="square" lIns="0" tIns="0" rIns="0" bIns="0" rtlCol="0" anchor="t">
            <a:normAutofit/>
          </a:bodyPr>
          <a:lstStyle/>
          <a:p>
            <a:pPr indent="0" marL="0">
              <a:buNone/>
            </a:pPr>
            <a:r>
              <a:rPr lang="en-US" sz="1030" b="1" dirty="0">
                <a:solidFill>
                  <a:srgbClr val="7A7F84"/>
                </a:solidFill>
                <a:latin typeface="Aptos" pitchFamily="34" charset="0"/>
                <a:ea typeface="Aptos" pitchFamily="34" charset="-122"/>
                <a:cs typeface="Aptos" pitchFamily="34" charset="-120"/>
              </a:rPr>
              <a:t>Structured CMS data</a:t>
            </a:r>
            <a:endParaRPr lang="en-US" sz="1030" dirty="0"/>
          </a:p>
        </p:txBody>
      </p:sp>
      <p:sp>
        <p:nvSpPr>
          <p:cNvPr id="10" name="Shape 8"/>
          <p:cNvSpPr/>
          <p:nvPr/>
        </p:nvSpPr>
        <p:spPr>
          <a:xfrm>
            <a:off x="4078224" y="2249424"/>
            <a:ext cx="2743200" cy="2980944"/>
          </a:xfrm>
          <a:prstGeom prst="roundRect">
            <a:avLst>
              <a:gd name="adj" fmla="val 1667"/>
            </a:avLst>
          </a:prstGeom>
          <a:solidFill>
            <a:srgbClr val="E5F1ED"/>
          </a:solidFill>
          <a:ln w="10160">
            <a:solidFill>
              <a:srgbClr val="E5F1ED"/>
            </a:solidFill>
            <a:prstDash val="solid"/>
          </a:ln>
        </p:spPr>
      </p:sp>
      <p:sp>
        <p:nvSpPr>
          <p:cNvPr id="11" name="Text 9"/>
          <p:cNvSpPr/>
          <p:nvPr/>
        </p:nvSpPr>
        <p:spPr>
          <a:xfrm>
            <a:off x="4279392" y="2487168"/>
            <a:ext cx="2194560" cy="201168"/>
          </a:xfrm>
          <a:prstGeom prst="rect">
            <a:avLst/>
          </a:prstGeom>
          <a:noFill/>
          <a:ln/>
        </p:spPr>
        <p:txBody>
          <a:bodyPr wrap="square" lIns="0" tIns="0" rIns="0" bIns="0" rtlCol="0" anchor="ctr">
            <a:normAutofit/>
          </a:bodyPr>
          <a:lstStyle/>
          <a:p>
            <a:pPr indent="0" marL="0">
              <a:buNone/>
            </a:pPr>
            <a:r>
              <a:rPr lang="en-US" sz="1020" b="1" spc="70" kern="0" dirty="0">
                <a:solidFill>
                  <a:srgbClr val="2E806C"/>
                </a:solidFill>
                <a:latin typeface="Aptos" pitchFamily="34" charset="0"/>
                <a:ea typeface="Aptos" pitchFamily="34" charset="-122"/>
                <a:cs typeface="Aptos" pitchFamily="34" charset="-120"/>
              </a:rPr>
              <a:t>AHCCCS POLICY</a:t>
            </a:r>
            <a:endParaRPr lang="en-US" sz="1020" dirty="0"/>
          </a:p>
        </p:txBody>
      </p:sp>
      <p:sp>
        <p:nvSpPr>
          <p:cNvPr id="12" name="Text 10"/>
          <p:cNvSpPr/>
          <p:nvPr/>
        </p:nvSpPr>
        <p:spPr>
          <a:xfrm>
            <a:off x="4279392" y="2843784"/>
            <a:ext cx="2286000" cy="384048"/>
          </a:xfrm>
          <a:prstGeom prst="rect">
            <a:avLst/>
          </a:prstGeom>
          <a:noFill/>
          <a:ln/>
        </p:spPr>
        <p:txBody>
          <a:bodyPr wrap="square" lIns="0" tIns="0" rIns="0" bIns="0" rtlCol="0" anchor="ctr">
            <a:normAutofit/>
          </a:bodyPr>
          <a:lstStyle/>
          <a:p>
            <a:pPr indent="0" marL="0">
              <a:buNone/>
            </a:pPr>
            <a:r>
              <a:rPr lang="en-US" sz="1920" b="1" dirty="0">
                <a:solidFill>
                  <a:srgbClr val="20262E"/>
                </a:solidFill>
                <a:latin typeface="Aptos Display" pitchFamily="34" charset="0"/>
                <a:ea typeface="Aptos Display" pitchFamily="34" charset="-122"/>
                <a:cs typeface="Aptos Display" pitchFamily="34" charset="-120"/>
              </a:rPr>
              <a:t>State rules</a:t>
            </a:r>
            <a:endParaRPr lang="en-US" sz="1920" dirty="0"/>
          </a:p>
        </p:txBody>
      </p:sp>
      <p:sp>
        <p:nvSpPr>
          <p:cNvPr id="13" name="Text 11"/>
          <p:cNvSpPr/>
          <p:nvPr/>
        </p:nvSpPr>
        <p:spPr>
          <a:xfrm>
            <a:off x="4279392" y="3401568"/>
            <a:ext cx="2240280" cy="1417320"/>
          </a:xfrm>
          <a:prstGeom prst="rect">
            <a:avLst/>
          </a:prstGeom>
          <a:noFill/>
          <a:ln/>
        </p:spPr>
        <p:txBody>
          <a:bodyPr wrap="square" lIns="0" tIns="0" rIns="0" bIns="0" rtlCol="0" anchor="t">
            <a:normAutofit/>
          </a:bodyPr>
          <a:lstStyle/>
          <a:p>
            <a:pPr indent="0" marL="0">
              <a:buNone/>
            </a:pPr>
            <a:r>
              <a:rPr lang="en-US" sz="1260" dirty="0">
                <a:solidFill>
                  <a:srgbClr val="505860"/>
                </a:solidFill>
                <a:latin typeface="Aptos" pitchFamily="34" charset="0"/>
                <a:ea typeface="Aptos" pitchFamily="34" charset="-122"/>
                <a:cs typeface="Aptos" pitchFamily="34" charset="-120"/>
              </a:rPr>
              <a:t>Same-day restrictions</a:t>
            </a:r>
            <a:endParaRPr lang="en-US" sz="1260" dirty="0"/>
          </a:p>
          <a:p>
            <a:pPr indent="0" marL="0">
              <a:buNone/>
            </a:pPr>
            <a:endParaRPr lang="en-US" sz="1260" dirty="0"/>
          </a:p>
          <a:p>
            <a:pPr indent="0" marL="0">
              <a:buNone/>
            </a:pPr>
            <a:r>
              <a:rPr lang="en-US" sz="1260" dirty="0">
                <a:solidFill>
                  <a:srgbClr val="505860"/>
                </a:solidFill>
                <a:latin typeface="Aptos" pitchFamily="34" charset="0"/>
                <a:ea typeface="Aptos" pitchFamily="34" charset="-122"/>
                <a:cs typeface="Aptos" pitchFamily="34" charset="-120"/>
              </a:rPr>
              <a:t>Service limits</a:t>
            </a:r>
            <a:endParaRPr lang="en-US" sz="1260" dirty="0"/>
          </a:p>
          <a:p>
            <a:pPr indent="0" marL="0">
              <a:buNone/>
            </a:pPr>
            <a:endParaRPr lang="en-US" sz="1260" dirty="0"/>
          </a:p>
          <a:p>
            <a:pPr indent="0" marL="0">
              <a:buNone/>
            </a:pPr>
            <a:r>
              <a:rPr lang="en-US" sz="1260" dirty="0">
                <a:solidFill>
                  <a:srgbClr val="505860"/>
                </a:solidFill>
                <a:latin typeface="Aptos" pitchFamily="34" charset="0"/>
                <a:ea typeface="Aptos" pitchFamily="34" charset="-122"/>
                <a:cs typeface="Aptos" pitchFamily="34" charset="-120"/>
              </a:rPr>
              <a:t>Provider, setting, age, modifier or PA conditions</a:t>
            </a:r>
            <a:endParaRPr lang="en-US" sz="1260" dirty="0"/>
          </a:p>
        </p:txBody>
      </p:sp>
      <p:sp>
        <p:nvSpPr>
          <p:cNvPr id="14" name="Text 12"/>
          <p:cNvSpPr/>
          <p:nvPr/>
        </p:nvSpPr>
        <p:spPr>
          <a:xfrm>
            <a:off x="4279392" y="4828032"/>
            <a:ext cx="2240280" cy="228600"/>
          </a:xfrm>
          <a:prstGeom prst="rect">
            <a:avLst/>
          </a:prstGeom>
          <a:noFill/>
          <a:ln/>
        </p:spPr>
        <p:txBody>
          <a:bodyPr wrap="square" lIns="0" tIns="0" rIns="0" bIns="0" rtlCol="0" anchor="t">
            <a:normAutofit/>
          </a:bodyPr>
          <a:lstStyle/>
          <a:p>
            <a:pPr indent="0" marL="0">
              <a:buNone/>
            </a:pPr>
            <a:r>
              <a:rPr lang="en-US" sz="1030" b="1" dirty="0">
                <a:solidFill>
                  <a:srgbClr val="7A7F84"/>
                </a:solidFill>
                <a:latin typeface="Aptos" pitchFamily="34" charset="0"/>
                <a:ea typeface="Aptos" pitchFamily="34" charset="-122"/>
                <a:cs typeface="Aptos" pitchFamily="34" charset="-120"/>
              </a:rPr>
              <a:t>Reviewed before activation</a:t>
            </a:r>
            <a:endParaRPr lang="en-US" sz="1030" dirty="0"/>
          </a:p>
        </p:txBody>
      </p:sp>
      <p:sp>
        <p:nvSpPr>
          <p:cNvPr id="15" name="Shape 13"/>
          <p:cNvSpPr/>
          <p:nvPr/>
        </p:nvSpPr>
        <p:spPr>
          <a:xfrm>
            <a:off x="7168896" y="2249424"/>
            <a:ext cx="2743200" cy="2980944"/>
          </a:xfrm>
          <a:prstGeom prst="roundRect">
            <a:avLst>
              <a:gd name="adj" fmla="val 1667"/>
            </a:avLst>
          </a:prstGeom>
          <a:solidFill>
            <a:srgbClr val="F6EADF"/>
          </a:solidFill>
          <a:ln w="10160">
            <a:solidFill>
              <a:srgbClr val="F6EADF"/>
            </a:solidFill>
            <a:prstDash val="solid"/>
          </a:ln>
        </p:spPr>
      </p:sp>
      <p:sp>
        <p:nvSpPr>
          <p:cNvPr id="16" name="Text 14"/>
          <p:cNvSpPr/>
          <p:nvPr/>
        </p:nvSpPr>
        <p:spPr>
          <a:xfrm>
            <a:off x="7370064" y="2487168"/>
            <a:ext cx="2194560" cy="201168"/>
          </a:xfrm>
          <a:prstGeom prst="rect">
            <a:avLst/>
          </a:prstGeom>
          <a:noFill/>
          <a:ln/>
        </p:spPr>
        <p:txBody>
          <a:bodyPr wrap="square" lIns="0" tIns="0" rIns="0" bIns="0" rtlCol="0" anchor="ctr">
            <a:normAutofit/>
          </a:bodyPr>
          <a:lstStyle/>
          <a:p>
            <a:pPr indent="0" marL="0">
              <a:buNone/>
            </a:pPr>
            <a:r>
              <a:rPr lang="en-US" sz="1020" b="1" spc="70" kern="0" dirty="0">
                <a:solidFill>
                  <a:srgbClr val="BC6333"/>
                </a:solidFill>
                <a:latin typeface="Aptos" pitchFamily="34" charset="0"/>
                <a:ea typeface="Aptos" pitchFamily="34" charset="-122"/>
                <a:cs typeface="Aptos" pitchFamily="34" charset="-120"/>
              </a:rPr>
              <a:t>REFERENCE TABLES</a:t>
            </a:r>
            <a:endParaRPr lang="en-US" sz="1020" dirty="0"/>
          </a:p>
        </p:txBody>
      </p:sp>
      <p:sp>
        <p:nvSpPr>
          <p:cNvPr id="17" name="Text 15"/>
          <p:cNvSpPr/>
          <p:nvPr/>
        </p:nvSpPr>
        <p:spPr>
          <a:xfrm>
            <a:off x="7370064" y="2843784"/>
            <a:ext cx="2286000" cy="384048"/>
          </a:xfrm>
          <a:prstGeom prst="rect">
            <a:avLst/>
          </a:prstGeom>
          <a:noFill/>
          <a:ln/>
        </p:spPr>
        <p:txBody>
          <a:bodyPr wrap="square" lIns="0" tIns="0" rIns="0" bIns="0" rtlCol="0" anchor="ctr">
            <a:normAutofit/>
          </a:bodyPr>
          <a:lstStyle/>
          <a:p>
            <a:pPr indent="0" marL="0">
              <a:buNone/>
            </a:pPr>
            <a:r>
              <a:rPr lang="en-US" sz="1920" b="1" dirty="0">
                <a:solidFill>
                  <a:srgbClr val="20262E"/>
                </a:solidFill>
                <a:latin typeface="Aptos Display" pitchFamily="34" charset="0"/>
                <a:ea typeface="Aptos Display" pitchFamily="34" charset="-122"/>
                <a:cs typeface="Aptos Display" pitchFamily="34" charset="-120"/>
              </a:rPr>
              <a:t>State tables</a:t>
            </a:r>
            <a:endParaRPr lang="en-US" sz="1920" dirty="0"/>
          </a:p>
        </p:txBody>
      </p:sp>
      <p:sp>
        <p:nvSpPr>
          <p:cNvPr id="18" name="Text 16"/>
          <p:cNvSpPr/>
          <p:nvPr/>
        </p:nvSpPr>
        <p:spPr>
          <a:xfrm>
            <a:off x="7370064" y="3401568"/>
            <a:ext cx="2240280" cy="1417320"/>
          </a:xfrm>
          <a:prstGeom prst="rect">
            <a:avLst/>
          </a:prstGeom>
          <a:noFill/>
          <a:ln/>
        </p:spPr>
        <p:txBody>
          <a:bodyPr wrap="square" lIns="0" tIns="0" rIns="0" bIns="0" rtlCol="0" anchor="t">
            <a:normAutofit/>
          </a:bodyPr>
          <a:lstStyle/>
          <a:p>
            <a:pPr indent="0" marL="0">
              <a:buNone/>
            </a:pPr>
            <a:r>
              <a:rPr lang="en-US" sz="1260" dirty="0">
                <a:solidFill>
                  <a:srgbClr val="505860"/>
                </a:solidFill>
                <a:latin typeface="Aptos" pitchFamily="34" charset="0"/>
                <a:ea typeface="Aptos" pitchFamily="34" charset="-122"/>
                <a:cs typeface="Aptos" pitchFamily="34" charset="-120"/>
              </a:rPr>
              <a:t>Same Day Disallow Table</a:t>
            </a:r>
            <a:endParaRPr lang="en-US" sz="1260" dirty="0"/>
          </a:p>
          <a:p>
            <a:pPr indent="0" marL="0">
              <a:buNone/>
            </a:pPr>
            <a:endParaRPr lang="en-US" sz="1260" dirty="0"/>
          </a:p>
          <a:p>
            <a:pPr indent="0" marL="0">
              <a:buNone/>
            </a:pPr>
            <a:r>
              <a:rPr lang="en-US" sz="1260" dirty="0">
                <a:solidFill>
                  <a:srgbClr val="505860"/>
                </a:solidFill>
                <a:latin typeface="Aptos" pitchFamily="34" charset="0"/>
                <a:ea typeface="Aptos" pitchFamily="34" charset="-122"/>
                <a:cs typeface="Aptos" pitchFamily="34" charset="-120"/>
              </a:rPr>
              <a:t>HCPCS/CPT Daily Limits</a:t>
            </a:r>
            <a:endParaRPr lang="en-US" sz="1260" dirty="0"/>
          </a:p>
          <a:p>
            <a:pPr indent="0" marL="0">
              <a:buNone/>
            </a:pPr>
            <a:endParaRPr lang="en-US" sz="1260" dirty="0"/>
          </a:p>
          <a:p>
            <a:pPr indent="0" marL="0">
              <a:buNone/>
            </a:pPr>
            <a:r>
              <a:rPr lang="en-US" sz="1260" dirty="0">
                <a:solidFill>
                  <a:srgbClr val="505860"/>
                </a:solidFill>
                <a:latin typeface="Aptos" pitchFamily="34" charset="0"/>
                <a:ea typeface="Aptos" pitchFamily="34" charset="-122"/>
                <a:cs typeface="Aptos" pitchFamily="34" charset="-120"/>
              </a:rPr>
              <a:t>B2 Matrix + related exhibits</a:t>
            </a:r>
            <a:endParaRPr lang="en-US" sz="1260" dirty="0"/>
          </a:p>
        </p:txBody>
      </p:sp>
      <p:sp>
        <p:nvSpPr>
          <p:cNvPr id="19" name="Text 17"/>
          <p:cNvSpPr/>
          <p:nvPr/>
        </p:nvSpPr>
        <p:spPr>
          <a:xfrm>
            <a:off x="7370064" y="4828032"/>
            <a:ext cx="2240280" cy="228600"/>
          </a:xfrm>
          <a:prstGeom prst="rect">
            <a:avLst/>
          </a:prstGeom>
          <a:noFill/>
          <a:ln/>
        </p:spPr>
        <p:txBody>
          <a:bodyPr wrap="square" lIns="0" tIns="0" rIns="0" bIns="0" rtlCol="0" anchor="t">
            <a:normAutofit/>
          </a:bodyPr>
          <a:lstStyle/>
          <a:p>
            <a:pPr indent="0" marL="0">
              <a:buNone/>
            </a:pPr>
            <a:r>
              <a:rPr lang="en-US" sz="1030" b="1" dirty="0">
                <a:solidFill>
                  <a:srgbClr val="7A7F84"/>
                </a:solidFill>
                <a:latin typeface="Aptos" pitchFamily="34" charset="0"/>
                <a:ea typeface="Aptos" pitchFamily="34" charset="-122"/>
                <a:cs typeface="Aptos" pitchFamily="34" charset="-120"/>
              </a:rPr>
              <a:t>Next source expansion</a:t>
            </a:r>
            <a:endParaRPr lang="en-US" sz="1030" dirty="0"/>
          </a:p>
        </p:txBody>
      </p:sp>
      <p:sp>
        <p:nvSpPr>
          <p:cNvPr id="20" name="Shape 18"/>
          <p:cNvSpPr/>
          <p:nvPr/>
        </p:nvSpPr>
        <p:spPr>
          <a:xfrm>
            <a:off x="10204704" y="2249424"/>
            <a:ext cx="987552" cy="2980944"/>
          </a:xfrm>
          <a:prstGeom prst="roundRect">
            <a:avLst>
              <a:gd name="adj" fmla="val 4630"/>
            </a:avLst>
          </a:prstGeom>
          <a:solidFill>
            <a:srgbClr val="F1F0EB"/>
          </a:solidFill>
          <a:ln w="10160">
            <a:solidFill>
              <a:srgbClr val="F1F0EB"/>
            </a:solidFill>
            <a:prstDash val="solid"/>
          </a:ln>
        </p:spPr>
      </p:sp>
      <p:sp>
        <p:nvSpPr>
          <p:cNvPr id="21" name="Text 19"/>
          <p:cNvSpPr/>
          <p:nvPr/>
        </p:nvSpPr>
        <p:spPr>
          <a:xfrm>
            <a:off x="10469880" y="2606040"/>
            <a:ext cx="438912" cy="438912"/>
          </a:xfrm>
          <a:prstGeom prst="rect">
            <a:avLst/>
          </a:prstGeom>
          <a:noFill/>
          <a:ln/>
        </p:spPr>
        <p:txBody>
          <a:bodyPr wrap="square" lIns="0" tIns="0" rIns="0" bIns="0" rtlCol="0" anchor="ctr"/>
          <a:lstStyle/>
          <a:p>
            <a:pPr algn="ctr" indent="0" marL="0">
              <a:buNone/>
            </a:pPr>
            <a:r>
              <a:rPr lang="en-US" sz="2800" b="1" dirty="0">
                <a:solidFill>
                  <a:srgbClr val="2E806C"/>
                </a:solidFill>
                <a:latin typeface="Aptos Display" pitchFamily="34" charset="0"/>
                <a:ea typeface="Aptos Display" pitchFamily="34" charset="-122"/>
                <a:cs typeface="Aptos Display" pitchFamily="34" charset="-120"/>
              </a:rPr>
              <a:t>?</a:t>
            </a:r>
            <a:endParaRPr lang="en-US" sz="2800" dirty="0"/>
          </a:p>
        </p:txBody>
      </p:sp>
      <p:sp>
        <p:nvSpPr>
          <p:cNvPr id="22" name="Text 20"/>
          <p:cNvSpPr/>
          <p:nvPr/>
        </p:nvSpPr>
        <p:spPr>
          <a:xfrm>
            <a:off x="10332720" y="3355848"/>
            <a:ext cx="731520" cy="1143000"/>
          </a:xfrm>
          <a:prstGeom prst="rect">
            <a:avLst/>
          </a:prstGeom>
          <a:noFill/>
          <a:ln/>
        </p:spPr>
        <p:txBody>
          <a:bodyPr wrap="square" lIns="0" tIns="0" rIns="0" bIns="0" rtlCol="0" anchor="ctr">
            <a:normAutofit/>
          </a:bodyPr>
          <a:lstStyle/>
          <a:p>
            <a:pPr indent="0" marL="0">
              <a:buNone/>
            </a:pPr>
            <a:r>
              <a:rPr lang="en-US" sz="1090" dirty="0">
                <a:solidFill>
                  <a:srgbClr val="575E64"/>
                </a:solidFill>
                <a:latin typeface="Aptos" pitchFamily="34" charset="0"/>
                <a:ea typeface="Aptos" pitchFamily="34" charset="-122"/>
                <a:cs typeface="Aptos" pitchFamily="34" charset="-120"/>
              </a:rPr>
              <a:t>Other policy</a:t>
            </a:r>
            <a:endParaRPr lang="en-US" sz="1090" dirty="0"/>
          </a:p>
          <a:p>
            <a:pPr indent="0" marL="0">
              <a:buNone/>
            </a:pPr>
            <a:r>
              <a:rPr lang="en-US" sz="1090" dirty="0">
                <a:solidFill>
                  <a:srgbClr val="575E64"/>
                </a:solidFill>
                <a:latin typeface="Aptos" pitchFamily="34" charset="0"/>
                <a:ea typeface="Aptos" pitchFamily="34" charset="-122"/>
                <a:cs typeface="Aptos" pitchFamily="34" charset="-120"/>
              </a:rPr>
              <a:t>sources can be added later using the same structure.</a:t>
            </a:r>
            <a:endParaRPr lang="en-US" sz="1090" dirty="0"/>
          </a:p>
        </p:txBody>
      </p:sp>
      <p:sp>
        <p:nvSpPr>
          <p:cNvPr id="23" name="Shape 21"/>
          <p:cNvSpPr/>
          <p:nvPr/>
        </p:nvSpPr>
        <p:spPr>
          <a:xfrm>
            <a:off x="987552" y="5852160"/>
            <a:ext cx="0" cy="429768"/>
          </a:xfrm>
          <a:prstGeom prst="line">
            <a:avLst/>
          </a:prstGeom>
          <a:noFill/>
          <a:ln w="27940">
            <a:solidFill>
              <a:srgbClr val="2E806C"/>
            </a:solidFill>
            <a:prstDash val="solid"/>
          </a:ln>
        </p:spPr>
      </p:sp>
      <p:sp>
        <p:nvSpPr>
          <p:cNvPr id="24" name="Text 22"/>
          <p:cNvSpPr/>
          <p:nvPr/>
        </p:nvSpPr>
        <p:spPr>
          <a:xfrm>
            <a:off x="1188720" y="5843016"/>
            <a:ext cx="9948672" cy="411480"/>
          </a:xfrm>
          <a:prstGeom prst="rect">
            <a:avLst/>
          </a:prstGeom>
          <a:noFill/>
          <a:ln/>
        </p:spPr>
        <p:txBody>
          <a:bodyPr wrap="square" lIns="0" tIns="0" rIns="0" bIns="0" rtlCol="0" anchor="ctr">
            <a:normAutofit/>
          </a:bodyPr>
          <a:lstStyle/>
          <a:p>
            <a:pPr indent="0" marL="0">
              <a:buNone/>
            </a:pPr>
            <a:r>
              <a:rPr lang="en-US" sz="1280" dirty="0">
                <a:solidFill>
                  <a:srgbClr val="454C54"/>
                </a:solidFill>
                <a:latin typeface="Aptos" pitchFamily="34" charset="0"/>
                <a:ea typeface="Aptos" pitchFamily="34" charset="-122"/>
                <a:cs typeface="Aptos" pitchFamily="34" charset="-120"/>
              </a:rPr>
              <a:t>The goal is not more rules. The goal is the right rules, with the context needed to use them safely.</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WHAT THE TEAM WILL SEE</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A finding should explain itself</a:t>
            </a:r>
            <a:endParaRPr lang="en-US" sz="2850" dirty="0"/>
          </a:p>
        </p:txBody>
      </p:sp>
      <p:sp>
        <p:nvSpPr>
          <p:cNvPr id="4" name="Text 2"/>
          <p:cNvSpPr/>
          <p:nvPr/>
        </p:nvSpPr>
        <p:spPr>
          <a:xfrm>
            <a:off x="987552" y="1572768"/>
            <a:ext cx="10058400" cy="411480"/>
          </a:xfrm>
          <a:prstGeom prst="rect">
            <a:avLst/>
          </a:prstGeom>
          <a:noFill/>
          <a:ln/>
        </p:spPr>
        <p:txBody>
          <a:bodyPr wrap="square" lIns="0" tIns="0" rIns="0" bIns="0" rtlCol="0" anchor="ctr">
            <a:normAutofit/>
          </a:bodyPr>
          <a:lstStyle/>
          <a:p>
            <a:pPr indent="0" marL="0">
              <a:buNone/>
            </a:pPr>
            <a:r>
              <a:rPr lang="en-US" sz="1380" dirty="0">
                <a:solidFill>
                  <a:srgbClr val="697079"/>
                </a:solidFill>
                <a:latin typeface="Aptos" pitchFamily="34" charset="0"/>
                <a:ea typeface="Aptos" pitchFamily="34" charset="-122"/>
                <a:cs typeface="Aptos" pitchFamily="34" charset="-120"/>
              </a:rPr>
              <a:t>The output should support review—not simply say “the system thinks this is suspicious.”</a:t>
            </a:r>
            <a:endParaRPr lang="en-US" sz="1380" dirty="0"/>
          </a:p>
        </p:txBody>
      </p:sp>
      <p:sp>
        <p:nvSpPr>
          <p:cNvPr id="5" name="Shape 3"/>
          <p:cNvSpPr/>
          <p:nvPr/>
        </p:nvSpPr>
        <p:spPr>
          <a:xfrm>
            <a:off x="987552" y="2240280"/>
            <a:ext cx="10040112" cy="2880360"/>
          </a:xfrm>
          <a:prstGeom prst="roundRect">
            <a:avLst>
              <a:gd name="adj" fmla="val 1587"/>
            </a:avLst>
          </a:prstGeom>
          <a:solidFill>
            <a:srgbClr val="FBFBF8"/>
          </a:solidFill>
          <a:ln w="10160">
            <a:solidFill>
              <a:srgbClr val="E4E2DC"/>
            </a:solidFill>
            <a:prstDash val="solid"/>
          </a:ln>
        </p:spPr>
      </p:sp>
      <p:sp>
        <p:nvSpPr>
          <p:cNvPr id="6" name="Text 4"/>
          <p:cNvSpPr/>
          <p:nvPr/>
        </p:nvSpPr>
        <p:spPr>
          <a:xfrm>
            <a:off x="1252728" y="2487168"/>
            <a:ext cx="2011680" cy="201168"/>
          </a:xfrm>
          <a:prstGeom prst="rect">
            <a:avLst/>
          </a:prstGeom>
          <a:noFill/>
          <a:ln/>
        </p:spPr>
        <p:txBody>
          <a:bodyPr wrap="square" lIns="0" tIns="0" rIns="0" bIns="0" rtlCol="0" anchor="ctr">
            <a:normAutofit/>
          </a:bodyPr>
          <a:lstStyle/>
          <a:p>
            <a:pPr indent="0" marL="0">
              <a:buNone/>
            </a:pPr>
            <a:r>
              <a:rPr lang="en-US" sz="1020" b="1" spc="70" kern="0" dirty="0">
                <a:solidFill>
                  <a:srgbClr val="6C7B81"/>
                </a:solidFill>
                <a:latin typeface="Aptos" pitchFamily="34" charset="0"/>
                <a:ea typeface="Aptos" pitchFamily="34" charset="-122"/>
                <a:cs typeface="Aptos" pitchFamily="34" charset="-120"/>
              </a:rPr>
              <a:t>ILLUSTRATIVE EXAMPLE</a:t>
            </a:r>
            <a:endParaRPr lang="en-US" sz="1020" dirty="0"/>
          </a:p>
        </p:txBody>
      </p:sp>
      <p:sp>
        <p:nvSpPr>
          <p:cNvPr id="7" name="Text 5"/>
          <p:cNvSpPr/>
          <p:nvPr/>
        </p:nvSpPr>
        <p:spPr>
          <a:xfrm>
            <a:off x="1252728" y="2852928"/>
            <a:ext cx="6812280" cy="411480"/>
          </a:xfrm>
          <a:prstGeom prst="rect">
            <a:avLst/>
          </a:prstGeom>
          <a:noFill/>
          <a:ln/>
        </p:spPr>
        <p:txBody>
          <a:bodyPr wrap="square" lIns="0" tIns="0" rIns="0" bIns="0" rtlCol="0" anchor="ctr">
            <a:normAutofit/>
          </a:bodyPr>
          <a:lstStyle/>
          <a:p>
            <a:pPr indent="0" marL="0">
              <a:buNone/>
            </a:pPr>
            <a:r>
              <a:rPr lang="en-US" sz="1830" b="1" dirty="0">
                <a:solidFill>
                  <a:srgbClr val="20262E"/>
                </a:solidFill>
                <a:latin typeface="Aptos Display" pitchFamily="34" charset="0"/>
                <a:ea typeface="Aptos Display" pitchFamily="34" charset="-122"/>
                <a:cs typeface="Aptos Display" pitchFamily="34" charset="-120"/>
              </a:rPr>
              <a:t>Member received Service A + Service B on the same date</a:t>
            </a:r>
            <a:endParaRPr lang="en-US" sz="1830" dirty="0"/>
          </a:p>
        </p:txBody>
      </p:sp>
      <p:sp>
        <p:nvSpPr>
          <p:cNvPr id="8" name="Text 6"/>
          <p:cNvSpPr/>
          <p:nvPr/>
        </p:nvSpPr>
        <p:spPr>
          <a:xfrm>
            <a:off x="1252728" y="3319272"/>
            <a:ext cx="6995160" cy="347472"/>
          </a:xfrm>
          <a:prstGeom prst="rect">
            <a:avLst/>
          </a:prstGeom>
          <a:noFill/>
          <a:ln/>
        </p:spPr>
        <p:txBody>
          <a:bodyPr wrap="square" lIns="0" tIns="0" rIns="0" bIns="0" rtlCol="0" anchor="t">
            <a:normAutofit/>
          </a:bodyPr>
          <a:lstStyle/>
          <a:p>
            <a:pPr indent="0" marL="0">
              <a:buNone/>
            </a:pPr>
            <a:r>
              <a:rPr lang="en-US" sz="1190" dirty="0">
                <a:solidFill>
                  <a:srgbClr val="606870"/>
                </a:solidFill>
                <a:latin typeface="Aptos" pitchFamily="34" charset="0"/>
                <a:ea typeface="Aptos" pitchFamily="34" charset="-122"/>
                <a:cs typeface="Aptos" pitchFamily="34" charset="-120"/>
              </a:rPr>
              <a:t>The engine finds an approved rule that says the combination normally requires review.</a:t>
            </a:r>
            <a:endParaRPr lang="en-US" sz="1190" dirty="0"/>
          </a:p>
        </p:txBody>
      </p:sp>
      <p:sp>
        <p:nvSpPr>
          <p:cNvPr id="9" name="Shape 7"/>
          <p:cNvSpPr/>
          <p:nvPr/>
        </p:nvSpPr>
        <p:spPr>
          <a:xfrm>
            <a:off x="1271016" y="3867912"/>
            <a:ext cx="146304" cy="146304"/>
          </a:xfrm>
          <a:prstGeom prst="ellipse">
            <a:avLst/>
          </a:prstGeom>
          <a:solidFill>
            <a:srgbClr val="2E806C"/>
          </a:solidFill>
          <a:ln w="12700">
            <a:solidFill>
              <a:srgbClr val="2E806C">
                <a:alpha val="0"/>
              </a:srgbClr>
            </a:solidFill>
            <a:prstDash val="solid"/>
          </a:ln>
        </p:spPr>
      </p:sp>
      <p:sp>
        <p:nvSpPr>
          <p:cNvPr id="10" name="Text 8"/>
          <p:cNvSpPr/>
          <p:nvPr/>
        </p:nvSpPr>
        <p:spPr>
          <a:xfrm>
            <a:off x="1545336" y="3803904"/>
            <a:ext cx="1353312" cy="256032"/>
          </a:xfrm>
          <a:prstGeom prst="rect">
            <a:avLst/>
          </a:prstGeom>
          <a:noFill/>
          <a:ln/>
        </p:spPr>
        <p:txBody>
          <a:bodyPr wrap="square" lIns="0" tIns="0" rIns="0" bIns="0" rtlCol="0" anchor="t">
            <a:normAutofit/>
          </a:bodyPr>
          <a:lstStyle/>
          <a:p>
            <a:pPr indent="0" marL="0">
              <a:buNone/>
            </a:pPr>
            <a:r>
              <a:rPr lang="en-US" sz="1120" b="1" dirty="0">
                <a:solidFill>
                  <a:srgbClr val="2E806C"/>
                </a:solidFill>
                <a:latin typeface="Aptos" pitchFamily="34" charset="0"/>
                <a:ea typeface="Aptos" pitchFamily="34" charset="-122"/>
                <a:cs typeface="Aptos" pitchFamily="34" charset="-120"/>
              </a:rPr>
              <a:t>What happened</a:t>
            </a:r>
            <a:endParaRPr lang="en-US" sz="1120" dirty="0"/>
          </a:p>
        </p:txBody>
      </p:sp>
      <p:sp>
        <p:nvSpPr>
          <p:cNvPr id="11" name="Text 9"/>
          <p:cNvSpPr/>
          <p:nvPr/>
        </p:nvSpPr>
        <p:spPr>
          <a:xfrm>
            <a:off x="2999232" y="3803904"/>
            <a:ext cx="5175504" cy="256032"/>
          </a:xfrm>
          <a:prstGeom prst="rect">
            <a:avLst/>
          </a:prstGeom>
          <a:noFill/>
          <a:ln/>
        </p:spPr>
        <p:txBody>
          <a:bodyPr wrap="square" lIns="0" tIns="0" rIns="0" bIns="0" rtlCol="0" anchor="t">
            <a:normAutofit/>
          </a:bodyPr>
          <a:lstStyle/>
          <a:p>
            <a:pPr indent="0" marL="0">
              <a:buNone/>
            </a:pPr>
            <a:r>
              <a:rPr lang="en-US" sz="1120" dirty="0">
                <a:solidFill>
                  <a:srgbClr val="535B63"/>
                </a:solidFill>
                <a:latin typeface="Aptos" pitchFamily="34" charset="0"/>
                <a:ea typeface="Aptos" pitchFamily="34" charset="-122"/>
                <a:cs typeface="Aptos" pitchFamily="34" charset="-120"/>
              </a:rPr>
              <a:t>The services were billed together.</a:t>
            </a:r>
            <a:endParaRPr lang="en-US" sz="1120" dirty="0"/>
          </a:p>
        </p:txBody>
      </p:sp>
      <p:sp>
        <p:nvSpPr>
          <p:cNvPr id="12" name="Shape 10"/>
          <p:cNvSpPr/>
          <p:nvPr/>
        </p:nvSpPr>
        <p:spPr>
          <a:xfrm>
            <a:off x="1271016" y="4187952"/>
            <a:ext cx="146304" cy="146304"/>
          </a:xfrm>
          <a:prstGeom prst="ellipse">
            <a:avLst/>
          </a:prstGeom>
          <a:solidFill>
            <a:srgbClr val="2E806C"/>
          </a:solidFill>
          <a:ln w="12700">
            <a:solidFill>
              <a:srgbClr val="2E806C">
                <a:alpha val="0"/>
              </a:srgbClr>
            </a:solidFill>
            <a:prstDash val="solid"/>
          </a:ln>
        </p:spPr>
      </p:sp>
      <p:sp>
        <p:nvSpPr>
          <p:cNvPr id="13" name="Text 11"/>
          <p:cNvSpPr/>
          <p:nvPr/>
        </p:nvSpPr>
        <p:spPr>
          <a:xfrm>
            <a:off x="1545336" y="4123944"/>
            <a:ext cx="1353312" cy="256032"/>
          </a:xfrm>
          <a:prstGeom prst="rect">
            <a:avLst/>
          </a:prstGeom>
          <a:noFill/>
          <a:ln/>
        </p:spPr>
        <p:txBody>
          <a:bodyPr wrap="square" lIns="0" tIns="0" rIns="0" bIns="0" rtlCol="0" anchor="t">
            <a:normAutofit/>
          </a:bodyPr>
          <a:lstStyle/>
          <a:p>
            <a:pPr indent="0" marL="0">
              <a:buNone/>
            </a:pPr>
            <a:r>
              <a:rPr lang="en-US" sz="1120" b="1" dirty="0">
                <a:solidFill>
                  <a:srgbClr val="2E806C"/>
                </a:solidFill>
                <a:latin typeface="Aptos" pitchFamily="34" charset="0"/>
                <a:ea typeface="Aptos" pitchFamily="34" charset="-122"/>
                <a:cs typeface="Aptos" pitchFamily="34" charset="-120"/>
              </a:rPr>
              <a:t>Policy basis</a:t>
            </a:r>
            <a:endParaRPr lang="en-US" sz="1120" dirty="0"/>
          </a:p>
        </p:txBody>
      </p:sp>
      <p:sp>
        <p:nvSpPr>
          <p:cNvPr id="14" name="Text 12"/>
          <p:cNvSpPr/>
          <p:nvPr/>
        </p:nvSpPr>
        <p:spPr>
          <a:xfrm>
            <a:off x="2999232" y="4123944"/>
            <a:ext cx="5175504" cy="256032"/>
          </a:xfrm>
          <a:prstGeom prst="rect">
            <a:avLst/>
          </a:prstGeom>
          <a:noFill/>
          <a:ln/>
        </p:spPr>
        <p:txBody>
          <a:bodyPr wrap="square" lIns="0" tIns="0" rIns="0" bIns="0" rtlCol="0" anchor="t">
            <a:normAutofit/>
          </a:bodyPr>
          <a:lstStyle/>
          <a:p>
            <a:pPr indent="0" marL="0">
              <a:buNone/>
            </a:pPr>
            <a:r>
              <a:rPr lang="en-US" sz="1120" dirty="0">
                <a:solidFill>
                  <a:srgbClr val="535B63"/>
                </a:solidFill>
                <a:latin typeface="Aptos" pitchFamily="34" charset="0"/>
                <a:ea typeface="Aptos" pitchFamily="34" charset="-122"/>
                <a:cs typeface="Aptos" pitchFamily="34" charset="-120"/>
              </a:rPr>
              <a:t>The applicable NCCI or AHCCCS rule is shown.</a:t>
            </a:r>
            <a:endParaRPr lang="en-US" sz="1120" dirty="0"/>
          </a:p>
        </p:txBody>
      </p:sp>
      <p:sp>
        <p:nvSpPr>
          <p:cNvPr id="15" name="Shape 13"/>
          <p:cNvSpPr/>
          <p:nvPr/>
        </p:nvSpPr>
        <p:spPr>
          <a:xfrm>
            <a:off x="1271016" y="4507992"/>
            <a:ext cx="146304" cy="146304"/>
          </a:xfrm>
          <a:prstGeom prst="ellipse">
            <a:avLst/>
          </a:prstGeom>
          <a:solidFill>
            <a:srgbClr val="2E806C"/>
          </a:solidFill>
          <a:ln w="12700">
            <a:solidFill>
              <a:srgbClr val="2E806C">
                <a:alpha val="0"/>
              </a:srgbClr>
            </a:solidFill>
            <a:prstDash val="solid"/>
          </a:ln>
        </p:spPr>
      </p:sp>
      <p:sp>
        <p:nvSpPr>
          <p:cNvPr id="16" name="Text 14"/>
          <p:cNvSpPr/>
          <p:nvPr/>
        </p:nvSpPr>
        <p:spPr>
          <a:xfrm>
            <a:off x="1545336" y="4443984"/>
            <a:ext cx="1353312" cy="256032"/>
          </a:xfrm>
          <a:prstGeom prst="rect">
            <a:avLst/>
          </a:prstGeom>
          <a:noFill/>
          <a:ln/>
        </p:spPr>
        <p:txBody>
          <a:bodyPr wrap="square" lIns="0" tIns="0" rIns="0" bIns="0" rtlCol="0" anchor="t">
            <a:normAutofit/>
          </a:bodyPr>
          <a:lstStyle/>
          <a:p>
            <a:pPr indent="0" marL="0">
              <a:buNone/>
            </a:pPr>
            <a:r>
              <a:rPr lang="en-US" sz="1120" b="1" dirty="0">
                <a:solidFill>
                  <a:srgbClr val="2E806C"/>
                </a:solidFill>
                <a:latin typeface="Aptos" pitchFamily="34" charset="0"/>
                <a:ea typeface="Aptos" pitchFamily="34" charset="-122"/>
                <a:cs typeface="Aptos" pitchFamily="34" charset="-120"/>
              </a:rPr>
              <a:t>Important context</a:t>
            </a:r>
            <a:endParaRPr lang="en-US" sz="1120" dirty="0"/>
          </a:p>
        </p:txBody>
      </p:sp>
      <p:sp>
        <p:nvSpPr>
          <p:cNvPr id="17" name="Text 15"/>
          <p:cNvSpPr/>
          <p:nvPr/>
        </p:nvSpPr>
        <p:spPr>
          <a:xfrm>
            <a:off x="2999232" y="4443984"/>
            <a:ext cx="5175504" cy="256032"/>
          </a:xfrm>
          <a:prstGeom prst="rect">
            <a:avLst/>
          </a:prstGeom>
          <a:noFill/>
          <a:ln/>
        </p:spPr>
        <p:txBody>
          <a:bodyPr wrap="square" lIns="0" tIns="0" rIns="0" bIns="0" rtlCol="0" anchor="t">
            <a:normAutofit/>
          </a:bodyPr>
          <a:lstStyle/>
          <a:p>
            <a:pPr indent="0" marL="0">
              <a:buNone/>
            </a:pPr>
            <a:r>
              <a:rPr lang="en-US" sz="1120" dirty="0">
                <a:solidFill>
                  <a:srgbClr val="535B63"/>
                </a:solidFill>
                <a:latin typeface="Aptos" pitchFamily="34" charset="0"/>
                <a:ea typeface="Aptos" pitchFamily="34" charset="-122"/>
                <a:cs typeface="Aptos" pitchFamily="34" charset="-120"/>
              </a:rPr>
              <a:t>Date, provider/setting, modifiers, exceptions and PA.</a:t>
            </a:r>
            <a:endParaRPr lang="en-US" sz="1120" dirty="0"/>
          </a:p>
        </p:txBody>
      </p:sp>
      <p:sp>
        <p:nvSpPr>
          <p:cNvPr id="18" name="Shape 16"/>
          <p:cNvSpPr/>
          <p:nvPr/>
        </p:nvSpPr>
        <p:spPr>
          <a:xfrm>
            <a:off x="1271016" y="4828032"/>
            <a:ext cx="146304" cy="146304"/>
          </a:xfrm>
          <a:prstGeom prst="ellipse">
            <a:avLst/>
          </a:prstGeom>
          <a:solidFill>
            <a:srgbClr val="2E806C"/>
          </a:solidFill>
          <a:ln w="12700">
            <a:solidFill>
              <a:srgbClr val="2E806C">
                <a:alpha val="0"/>
              </a:srgbClr>
            </a:solidFill>
            <a:prstDash val="solid"/>
          </a:ln>
        </p:spPr>
      </p:sp>
      <p:sp>
        <p:nvSpPr>
          <p:cNvPr id="19" name="Text 17"/>
          <p:cNvSpPr/>
          <p:nvPr/>
        </p:nvSpPr>
        <p:spPr>
          <a:xfrm>
            <a:off x="1545336" y="4764024"/>
            <a:ext cx="1353312" cy="256032"/>
          </a:xfrm>
          <a:prstGeom prst="rect">
            <a:avLst/>
          </a:prstGeom>
          <a:noFill/>
          <a:ln/>
        </p:spPr>
        <p:txBody>
          <a:bodyPr wrap="square" lIns="0" tIns="0" rIns="0" bIns="0" rtlCol="0" anchor="t">
            <a:normAutofit/>
          </a:bodyPr>
          <a:lstStyle/>
          <a:p>
            <a:pPr indent="0" marL="0">
              <a:buNone/>
            </a:pPr>
            <a:r>
              <a:rPr lang="en-US" sz="1120" b="1" dirty="0">
                <a:solidFill>
                  <a:srgbClr val="2E806C"/>
                </a:solidFill>
                <a:latin typeface="Aptos" pitchFamily="34" charset="0"/>
                <a:ea typeface="Aptos" pitchFamily="34" charset="-122"/>
                <a:cs typeface="Aptos" pitchFamily="34" charset="-120"/>
              </a:rPr>
              <a:t>Reviewer action</a:t>
            </a:r>
            <a:endParaRPr lang="en-US" sz="1120" dirty="0"/>
          </a:p>
        </p:txBody>
      </p:sp>
      <p:sp>
        <p:nvSpPr>
          <p:cNvPr id="20" name="Text 18"/>
          <p:cNvSpPr/>
          <p:nvPr/>
        </p:nvSpPr>
        <p:spPr>
          <a:xfrm>
            <a:off x="2999232" y="4764024"/>
            <a:ext cx="5175504" cy="256032"/>
          </a:xfrm>
          <a:prstGeom prst="rect">
            <a:avLst/>
          </a:prstGeom>
          <a:noFill/>
          <a:ln/>
        </p:spPr>
        <p:txBody>
          <a:bodyPr wrap="square" lIns="0" tIns="0" rIns="0" bIns="0" rtlCol="0" anchor="t">
            <a:normAutofit/>
          </a:bodyPr>
          <a:lstStyle/>
          <a:p>
            <a:pPr indent="0" marL="0">
              <a:buNone/>
            </a:pPr>
            <a:r>
              <a:rPr lang="en-US" sz="1120" dirty="0">
                <a:solidFill>
                  <a:srgbClr val="535B63"/>
                </a:solidFill>
                <a:latin typeface="Aptos" pitchFamily="34" charset="0"/>
                <a:ea typeface="Aptos" pitchFamily="34" charset="-122"/>
                <a:cs typeface="Aptos" pitchFamily="34" charset="-120"/>
              </a:rPr>
              <a:t>Decide whether it is appropriate, explainable or needs follow-up.</a:t>
            </a:r>
            <a:endParaRPr lang="en-US" sz="1120" dirty="0"/>
          </a:p>
        </p:txBody>
      </p:sp>
      <p:sp>
        <p:nvSpPr>
          <p:cNvPr id="21" name="Shape 19"/>
          <p:cNvSpPr/>
          <p:nvPr/>
        </p:nvSpPr>
        <p:spPr>
          <a:xfrm>
            <a:off x="8686800" y="2770632"/>
            <a:ext cx="1947672" cy="749808"/>
          </a:xfrm>
          <a:prstGeom prst="roundRect">
            <a:avLst>
              <a:gd name="adj" fmla="val 6098"/>
            </a:avLst>
          </a:prstGeom>
          <a:solidFill>
            <a:srgbClr val="DDEDE7"/>
          </a:solidFill>
          <a:ln w="10160">
            <a:solidFill>
              <a:srgbClr val="DDEDE7"/>
            </a:solidFill>
            <a:prstDash val="solid"/>
          </a:ln>
        </p:spPr>
      </p:sp>
      <p:sp>
        <p:nvSpPr>
          <p:cNvPr id="22" name="Text 20"/>
          <p:cNvSpPr/>
          <p:nvPr/>
        </p:nvSpPr>
        <p:spPr>
          <a:xfrm>
            <a:off x="8924544" y="2926080"/>
            <a:ext cx="1499616" cy="365760"/>
          </a:xfrm>
          <a:prstGeom prst="rect">
            <a:avLst/>
          </a:prstGeom>
          <a:noFill/>
          <a:ln/>
        </p:spPr>
        <p:txBody>
          <a:bodyPr wrap="square" lIns="0" tIns="0" rIns="0" bIns="0" rtlCol="0" anchor="ctr">
            <a:normAutofit/>
          </a:bodyPr>
          <a:lstStyle/>
          <a:p>
            <a:pPr indent="0" marL="0">
              <a:buNone/>
            </a:pPr>
            <a:r>
              <a:rPr lang="en-US" sz="1180" b="1" dirty="0">
                <a:solidFill>
                  <a:srgbClr val="2E806C"/>
                </a:solidFill>
                <a:latin typeface="Aptos" pitchFamily="34" charset="0"/>
                <a:ea typeface="Aptos" pitchFamily="34" charset="-122"/>
                <a:cs typeface="Aptos" pitchFamily="34" charset="-120"/>
              </a:rPr>
              <a:t>Source-backed</a:t>
            </a:r>
            <a:endParaRPr lang="en-US" sz="1180" dirty="0"/>
          </a:p>
          <a:p>
            <a:pPr indent="0" marL="0">
              <a:buNone/>
            </a:pPr>
            <a:r>
              <a:rPr lang="en-US" sz="1180" b="1" dirty="0">
                <a:solidFill>
                  <a:srgbClr val="2E806C"/>
                </a:solidFill>
                <a:latin typeface="Aptos" pitchFamily="34" charset="0"/>
                <a:ea typeface="Aptos" pitchFamily="34" charset="-122"/>
                <a:cs typeface="Aptos" pitchFamily="34" charset="-120"/>
              </a:rPr>
              <a:t>explanation</a:t>
            </a:r>
            <a:endParaRPr lang="en-US" sz="1180" dirty="0"/>
          </a:p>
        </p:txBody>
      </p:sp>
      <p:sp>
        <p:nvSpPr>
          <p:cNvPr id="23" name="Shape 21"/>
          <p:cNvSpPr/>
          <p:nvPr/>
        </p:nvSpPr>
        <p:spPr>
          <a:xfrm>
            <a:off x="987552" y="5861304"/>
            <a:ext cx="0" cy="429768"/>
          </a:xfrm>
          <a:prstGeom prst="line">
            <a:avLst/>
          </a:prstGeom>
          <a:noFill/>
          <a:ln w="27940">
            <a:solidFill>
              <a:srgbClr val="2E806C"/>
            </a:solidFill>
            <a:prstDash val="solid"/>
          </a:ln>
        </p:spPr>
      </p:sp>
      <p:sp>
        <p:nvSpPr>
          <p:cNvPr id="24" name="Text 22"/>
          <p:cNvSpPr/>
          <p:nvPr/>
        </p:nvSpPr>
        <p:spPr>
          <a:xfrm>
            <a:off x="1188720" y="5852160"/>
            <a:ext cx="9948672" cy="411480"/>
          </a:xfrm>
          <a:prstGeom prst="rect">
            <a:avLst/>
          </a:prstGeom>
          <a:noFill/>
          <a:ln/>
        </p:spPr>
        <p:txBody>
          <a:bodyPr wrap="square" lIns="0" tIns="0" rIns="0" bIns="0" rtlCol="0" anchor="ctr">
            <a:normAutofit/>
          </a:bodyPr>
          <a:lstStyle/>
          <a:p>
            <a:pPr indent="0" marL="0">
              <a:buNone/>
            </a:pPr>
            <a:r>
              <a:rPr lang="en-US" sz="1280" b="1" dirty="0">
                <a:solidFill>
                  <a:srgbClr val="20262E"/>
                </a:solidFill>
                <a:latin typeface="Aptos" pitchFamily="34" charset="0"/>
                <a:ea typeface="Aptos" pitchFamily="34" charset="-122"/>
                <a:cs typeface="Aptos" pitchFamily="34" charset="-120"/>
              </a:rPr>
              <a:t>Review principle: </a:t>
            </a:r>
            <a:pPr indent="0" marL="0">
              <a:buNone/>
            </a:pPr>
            <a:r>
              <a:rPr lang="en-US" sz="1280" dirty="0">
                <a:solidFill>
                  <a:srgbClr val="454C54"/>
                </a:solidFill>
                <a:latin typeface="Aptos" pitchFamily="34" charset="0"/>
                <a:ea typeface="Aptos" pitchFamily="34" charset="-122"/>
                <a:cs typeface="Aptos" pitchFamily="34" charset="-120"/>
              </a:rPr>
              <a:t>a flag is a starting point for review—not an automatic denial.</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DEFENSIBLE • STATE RULES</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How a state rule earns its place</a:t>
            </a:r>
            <a:endParaRPr lang="en-US" sz="2850" dirty="0"/>
          </a:p>
        </p:txBody>
      </p:sp>
      <p:sp>
        <p:nvSpPr>
          <p:cNvPr id="4" name="Shape 2"/>
          <p:cNvSpPr/>
          <p:nvPr/>
        </p:nvSpPr>
        <p:spPr>
          <a:xfrm>
            <a:off x="987552" y="2039112"/>
            <a:ext cx="1508760" cy="621792"/>
          </a:xfrm>
          <a:prstGeom prst="roundRect">
            <a:avLst>
              <a:gd name="adj" fmla="val 7353"/>
            </a:avLst>
          </a:prstGeom>
          <a:solidFill>
            <a:srgbClr val="F0EFEA"/>
          </a:solidFill>
          <a:ln w="10160">
            <a:solidFill>
              <a:srgbClr val="F0EFEA"/>
            </a:solidFill>
            <a:prstDash val="solid"/>
          </a:ln>
        </p:spPr>
      </p:sp>
      <p:sp>
        <p:nvSpPr>
          <p:cNvPr id="5" name="Text 3"/>
          <p:cNvSpPr/>
          <p:nvPr/>
        </p:nvSpPr>
        <p:spPr>
          <a:xfrm>
            <a:off x="1097280" y="2157984"/>
            <a:ext cx="1289304" cy="384048"/>
          </a:xfrm>
          <a:prstGeom prst="rect">
            <a:avLst/>
          </a:prstGeom>
          <a:noFill/>
          <a:ln/>
        </p:spPr>
        <p:txBody>
          <a:bodyPr wrap="square" lIns="0" tIns="0" rIns="0" bIns="0" rtlCol="0" anchor="ctr">
            <a:normAutofit/>
          </a:bodyPr>
          <a:lstStyle/>
          <a:p>
            <a:pPr indent="0" marL="0">
              <a:buNone/>
            </a:pPr>
            <a:r>
              <a:rPr lang="en-US" sz="1240" b="1" dirty="0">
                <a:solidFill>
                  <a:srgbClr val="20262E"/>
                </a:solidFill>
                <a:latin typeface="Aptos" pitchFamily="34" charset="0"/>
                <a:ea typeface="Aptos" pitchFamily="34" charset="-122"/>
                <a:cs typeface="Aptos" pitchFamily="34" charset="-120"/>
              </a:rPr>
              <a:t>AI proposes</a:t>
            </a:r>
            <a:endParaRPr lang="en-US" sz="1240" dirty="0"/>
          </a:p>
        </p:txBody>
      </p:sp>
      <p:sp>
        <p:nvSpPr>
          <p:cNvPr id="6" name="Text 4"/>
          <p:cNvSpPr/>
          <p:nvPr/>
        </p:nvSpPr>
        <p:spPr>
          <a:xfrm>
            <a:off x="2615184" y="2185416"/>
            <a:ext cx="329184" cy="292608"/>
          </a:xfrm>
          <a:prstGeom prst="rect">
            <a:avLst/>
          </a:prstGeom>
          <a:noFill/>
          <a:ln/>
        </p:spPr>
        <p:txBody>
          <a:bodyPr wrap="square" lIns="0" tIns="0" rIns="0" bIns="0" rtlCol="0" anchor="ctr"/>
          <a:lstStyle/>
          <a:p>
            <a:pPr algn="ctr" indent="0" marL="0">
              <a:buNone/>
            </a:pPr>
            <a:r>
              <a:rPr lang="en-US" sz="1900" b="1" dirty="0">
                <a:solidFill>
                  <a:srgbClr val="2E806C"/>
                </a:solidFill>
                <a:latin typeface="Aptos Display" pitchFamily="34" charset="0"/>
                <a:ea typeface="Aptos Display" pitchFamily="34" charset="-122"/>
                <a:cs typeface="Aptos Display" pitchFamily="34" charset="-120"/>
              </a:rPr>
              <a:t>→</a:t>
            </a:r>
            <a:endParaRPr lang="en-US" sz="1900" dirty="0"/>
          </a:p>
        </p:txBody>
      </p:sp>
      <p:sp>
        <p:nvSpPr>
          <p:cNvPr id="7" name="Shape 5"/>
          <p:cNvSpPr/>
          <p:nvPr/>
        </p:nvSpPr>
        <p:spPr>
          <a:xfrm>
            <a:off x="2871216" y="2039112"/>
            <a:ext cx="1965960" cy="621792"/>
          </a:xfrm>
          <a:prstGeom prst="roundRect">
            <a:avLst>
              <a:gd name="adj" fmla="val 7353"/>
            </a:avLst>
          </a:prstGeom>
          <a:solidFill>
            <a:srgbClr val="F0EFEA"/>
          </a:solidFill>
          <a:ln w="10160">
            <a:solidFill>
              <a:srgbClr val="F0EFEA"/>
            </a:solidFill>
            <a:prstDash val="solid"/>
          </a:ln>
        </p:spPr>
      </p:sp>
      <p:sp>
        <p:nvSpPr>
          <p:cNvPr id="8" name="Text 6"/>
          <p:cNvSpPr/>
          <p:nvPr/>
        </p:nvSpPr>
        <p:spPr>
          <a:xfrm>
            <a:off x="2980944" y="2157984"/>
            <a:ext cx="1746504" cy="384048"/>
          </a:xfrm>
          <a:prstGeom prst="rect">
            <a:avLst/>
          </a:prstGeom>
          <a:noFill/>
          <a:ln/>
        </p:spPr>
        <p:txBody>
          <a:bodyPr wrap="square" lIns="0" tIns="0" rIns="0" bIns="0" rtlCol="0" anchor="ctr">
            <a:normAutofit/>
          </a:bodyPr>
          <a:lstStyle/>
          <a:p>
            <a:pPr indent="0" marL="0">
              <a:buNone/>
            </a:pPr>
            <a:r>
              <a:rPr lang="en-US" sz="1240" b="1" dirty="0">
                <a:solidFill>
                  <a:srgbClr val="20262E"/>
                </a:solidFill>
                <a:latin typeface="Aptos" pitchFamily="34" charset="0"/>
                <a:ea typeface="Aptos" pitchFamily="34" charset="-122"/>
                <a:cs typeface="Aptos" pitchFamily="34" charset="-120"/>
              </a:rPr>
              <a:t>Checked against</a:t>
            </a:r>
            <a:endParaRPr lang="en-US" sz="1240" dirty="0"/>
          </a:p>
          <a:p>
            <a:pPr indent="0" marL="0">
              <a:buNone/>
            </a:pPr>
            <a:r>
              <a:rPr lang="en-US" sz="1240" b="1" dirty="0">
                <a:solidFill>
                  <a:srgbClr val="20262E"/>
                </a:solidFill>
                <a:latin typeface="Aptos" pitchFamily="34" charset="0"/>
                <a:ea typeface="Aptos" pitchFamily="34" charset="-122"/>
                <a:cs typeface="Aptos" pitchFamily="34" charset="-120"/>
              </a:rPr>
              <a:t>the source</a:t>
            </a:r>
            <a:endParaRPr lang="en-US" sz="1240" dirty="0"/>
          </a:p>
        </p:txBody>
      </p:sp>
      <p:sp>
        <p:nvSpPr>
          <p:cNvPr id="9" name="Text 7"/>
          <p:cNvSpPr/>
          <p:nvPr/>
        </p:nvSpPr>
        <p:spPr>
          <a:xfrm>
            <a:off x="4956048" y="2185416"/>
            <a:ext cx="329184" cy="292608"/>
          </a:xfrm>
          <a:prstGeom prst="rect">
            <a:avLst/>
          </a:prstGeom>
          <a:noFill/>
          <a:ln/>
        </p:spPr>
        <p:txBody>
          <a:bodyPr wrap="square" lIns="0" tIns="0" rIns="0" bIns="0" rtlCol="0" anchor="ctr"/>
          <a:lstStyle/>
          <a:p>
            <a:pPr algn="ctr" indent="0" marL="0">
              <a:buNone/>
            </a:pPr>
            <a:r>
              <a:rPr lang="en-US" sz="1900" b="1" dirty="0">
                <a:solidFill>
                  <a:srgbClr val="2E806C"/>
                </a:solidFill>
                <a:latin typeface="Aptos Display" pitchFamily="34" charset="0"/>
                <a:ea typeface="Aptos Display" pitchFamily="34" charset="-122"/>
                <a:cs typeface="Aptos Display" pitchFamily="34" charset="-120"/>
              </a:rPr>
              <a:t>→</a:t>
            </a:r>
            <a:endParaRPr lang="en-US" sz="1900" dirty="0"/>
          </a:p>
        </p:txBody>
      </p:sp>
      <p:sp>
        <p:nvSpPr>
          <p:cNvPr id="10" name="Shape 8"/>
          <p:cNvSpPr/>
          <p:nvPr/>
        </p:nvSpPr>
        <p:spPr>
          <a:xfrm>
            <a:off x="5230368" y="2039112"/>
            <a:ext cx="1225296" cy="621792"/>
          </a:xfrm>
          <a:prstGeom prst="roundRect">
            <a:avLst>
              <a:gd name="adj" fmla="val 7353"/>
            </a:avLst>
          </a:prstGeom>
          <a:solidFill>
            <a:srgbClr val="2E806C"/>
          </a:solidFill>
          <a:ln w="10160">
            <a:solidFill>
              <a:srgbClr val="2E806C"/>
            </a:solidFill>
            <a:prstDash val="solid"/>
          </a:ln>
        </p:spPr>
      </p:sp>
      <p:sp>
        <p:nvSpPr>
          <p:cNvPr id="11" name="Text 9"/>
          <p:cNvSpPr/>
          <p:nvPr/>
        </p:nvSpPr>
        <p:spPr>
          <a:xfrm>
            <a:off x="5340096" y="2157984"/>
            <a:ext cx="1005840" cy="384048"/>
          </a:xfrm>
          <a:prstGeom prst="rect">
            <a:avLst/>
          </a:prstGeom>
          <a:noFill/>
          <a:ln/>
        </p:spPr>
        <p:txBody>
          <a:bodyPr wrap="square" lIns="0" tIns="0" rIns="0" bIns="0" rtlCol="0" anchor="ctr">
            <a:normAutofit/>
          </a:bodyPr>
          <a:lstStyle/>
          <a:p>
            <a:pPr indent="0" marL="0">
              <a:buNone/>
            </a:pPr>
            <a:r>
              <a:rPr lang="en-US" sz="1240" b="1" dirty="0">
                <a:solidFill>
                  <a:srgbClr val="FFFFFF"/>
                </a:solidFill>
                <a:latin typeface="Aptos" pitchFamily="34" charset="0"/>
                <a:ea typeface="Aptos" pitchFamily="34" charset="-122"/>
                <a:cs typeface="Aptos" pitchFamily="34" charset="-120"/>
              </a:rPr>
              <a:t>Expert</a:t>
            </a:r>
            <a:endParaRPr lang="en-US" sz="1240" dirty="0"/>
          </a:p>
          <a:p>
            <a:pPr indent="0" marL="0">
              <a:buNone/>
            </a:pPr>
            <a:r>
              <a:rPr lang="en-US" sz="1240" b="1" dirty="0">
                <a:solidFill>
                  <a:srgbClr val="FFFFFF"/>
                </a:solidFill>
                <a:latin typeface="Aptos" pitchFamily="34" charset="0"/>
                <a:ea typeface="Aptos" pitchFamily="34" charset="-122"/>
                <a:cs typeface="Aptos" pitchFamily="34" charset="-120"/>
              </a:rPr>
              <a:t>sign-off</a:t>
            </a:r>
            <a:endParaRPr lang="en-US" sz="1240" dirty="0"/>
          </a:p>
        </p:txBody>
      </p:sp>
      <p:sp>
        <p:nvSpPr>
          <p:cNvPr id="12" name="Text 10"/>
          <p:cNvSpPr/>
          <p:nvPr/>
        </p:nvSpPr>
        <p:spPr>
          <a:xfrm>
            <a:off x="6574536" y="2185416"/>
            <a:ext cx="329184" cy="292608"/>
          </a:xfrm>
          <a:prstGeom prst="rect">
            <a:avLst/>
          </a:prstGeom>
          <a:noFill/>
          <a:ln/>
        </p:spPr>
        <p:txBody>
          <a:bodyPr wrap="square" lIns="0" tIns="0" rIns="0" bIns="0" rtlCol="0" anchor="ctr"/>
          <a:lstStyle/>
          <a:p>
            <a:pPr algn="ctr" indent="0" marL="0">
              <a:buNone/>
            </a:pPr>
            <a:r>
              <a:rPr lang="en-US" sz="1900" b="1" dirty="0">
                <a:solidFill>
                  <a:srgbClr val="2E806C"/>
                </a:solidFill>
                <a:latin typeface="Aptos Display" pitchFamily="34" charset="0"/>
                <a:ea typeface="Aptos Display" pitchFamily="34" charset="-122"/>
                <a:cs typeface="Aptos Display" pitchFamily="34" charset="-120"/>
              </a:rPr>
              <a:t>→</a:t>
            </a:r>
            <a:endParaRPr lang="en-US" sz="1900" dirty="0"/>
          </a:p>
        </p:txBody>
      </p:sp>
      <p:sp>
        <p:nvSpPr>
          <p:cNvPr id="13" name="Shape 11"/>
          <p:cNvSpPr/>
          <p:nvPr/>
        </p:nvSpPr>
        <p:spPr>
          <a:xfrm>
            <a:off x="6876288" y="2039112"/>
            <a:ext cx="1234440" cy="621792"/>
          </a:xfrm>
          <a:prstGeom prst="roundRect">
            <a:avLst>
              <a:gd name="adj" fmla="val 7353"/>
            </a:avLst>
          </a:prstGeom>
          <a:solidFill>
            <a:srgbClr val="2E806C"/>
          </a:solidFill>
          <a:ln w="10160">
            <a:solidFill>
              <a:srgbClr val="2E806C"/>
            </a:solidFill>
            <a:prstDash val="solid"/>
          </a:ln>
        </p:spPr>
      </p:sp>
      <p:sp>
        <p:nvSpPr>
          <p:cNvPr id="14" name="Text 12"/>
          <p:cNvSpPr/>
          <p:nvPr/>
        </p:nvSpPr>
        <p:spPr>
          <a:xfrm>
            <a:off x="6986016" y="2157984"/>
            <a:ext cx="1014984" cy="384048"/>
          </a:xfrm>
          <a:prstGeom prst="rect">
            <a:avLst/>
          </a:prstGeom>
          <a:noFill/>
          <a:ln/>
        </p:spPr>
        <p:txBody>
          <a:bodyPr wrap="square" lIns="0" tIns="0" rIns="0" bIns="0" rtlCol="0" anchor="ctr">
            <a:normAutofit/>
          </a:bodyPr>
          <a:lstStyle/>
          <a:p>
            <a:pPr indent="0" marL="0">
              <a:buNone/>
            </a:pPr>
            <a:r>
              <a:rPr lang="en-US" sz="1240" b="1" dirty="0">
                <a:solidFill>
                  <a:srgbClr val="FFFFFF"/>
                </a:solidFill>
                <a:latin typeface="Aptos" pitchFamily="34" charset="0"/>
                <a:ea typeface="Aptos" pitchFamily="34" charset="-122"/>
                <a:cs typeface="Aptos" pitchFamily="34" charset="-120"/>
              </a:rPr>
              <a:t>In use</a:t>
            </a:r>
            <a:endParaRPr lang="en-US" sz="1240" dirty="0"/>
          </a:p>
        </p:txBody>
      </p:sp>
      <p:sp>
        <p:nvSpPr>
          <p:cNvPr id="15" name="Shape 13"/>
          <p:cNvSpPr/>
          <p:nvPr/>
        </p:nvSpPr>
        <p:spPr>
          <a:xfrm>
            <a:off x="987552" y="2788920"/>
            <a:ext cx="1508760" cy="566928"/>
          </a:xfrm>
          <a:prstGeom prst="roundRect">
            <a:avLst>
              <a:gd name="adj" fmla="val 8065"/>
            </a:avLst>
          </a:prstGeom>
          <a:solidFill>
            <a:srgbClr val="F0EFEA"/>
          </a:solidFill>
          <a:ln w="10160">
            <a:solidFill>
              <a:srgbClr val="F0EFEA"/>
            </a:solidFill>
            <a:prstDash val="solid"/>
          </a:ln>
        </p:spPr>
      </p:sp>
      <p:sp>
        <p:nvSpPr>
          <p:cNvPr id="16" name="Text 14"/>
          <p:cNvSpPr/>
          <p:nvPr/>
        </p:nvSpPr>
        <p:spPr>
          <a:xfrm>
            <a:off x="1097280" y="2898648"/>
            <a:ext cx="1289304" cy="310896"/>
          </a:xfrm>
          <a:prstGeom prst="rect">
            <a:avLst/>
          </a:prstGeom>
          <a:noFill/>
          <a:ln/>
        </p:spPr>
        <p:txBody>
          <a:bodyPr wrap="square" lIns="0" tIns="0" rIns="0" bIns="0" rtlCol="0" anchor="ctr">
            <a:normAutofit/>
          </a:bodyPr>
          <a:lstStyle/>
          <a:p>
            <a:pPr indent="0" marL="0">
              <a:buNone/>
            </a:pPr>
            <a:r>
              <a:rPr lang="en-US" sz="1190" b="1" dirty="0">
                <a:solidFill>
                  <a:srgbClr val="20262E"/>
                </a:solidFill>
                <a:latin typeface="Aptos" pitchFamily="34" charset="0"/>
                <a:ea typeface="Aptos" pitchFamily="34" charset="-122"/>
                <a:cs typeface="Aptos" pitchFamily="34" charset="-120"/>
              </a:rPr>
              <a:t>Policy changes</a:t>
            </a:r>
            <a:endParaRPr lang="en-US" sz="1190" dirty="0"/>
          </a:p>
        </p:txBody>
      </p:sp>
      <p:sp>
        <p:nvSpPr>
          <p:cNvPr id="17" name="Text 15"/>
          <p:cNvSpPr/>
          <p:nvPr/>
        </p:nvSpPr>
        <p:spPr>
          <a:xfrm>
            <a:off x="2615184" y="2907792"/>
            <a:ext cx="329184" cy="274320"/>
          </a:xfrm>
          <a:prstGeom prst="rect">
            <a:avLst/>
          </a:prstGeom>
          <a:noFill/>
          <a:ln/>
        </p:spPr>
        <p:txBody>
          <a:bodyPr wrap="square" lIns="0" tIns="0" rIns="0" bIns="0" rtlCol="0" anchor="ctr"/>
          <a:lstStyle/>
          <a:p>
            <a:pPr algn="ctr" indent="0" marL="0">
              <a:buNone/>
            </a:pPr>
            <a:r>
              <a:rPr lang="en-US" sz="1900" b="1" dirty="0">
                <a:solidFill>
                  <a:srgbClr val="2E806C"/>
                </a:solidFill>
                <a:latin typeface="Aptos Display" pitchFamily="34" charset="0"/>
                <a:ea typeface="Aptos Display" pitchFamily="34" charset="-122"/>
                <a:cs typeface="Aptos Display" pitchFamily="34" charset="-120"/>
              </a:rPr>
              <a:t>→</a:t>
            </a:r>
            <a:endParaRPr lang="en-US" sz="1900" dirty="0"/>
          </a:p>
        </p:txBody>
      </p:sp>
      <p:sp>
        <p:nvSpPr>
          <p:cNvPr id="18" name="Shape 16"/>
          <p:cNvSpPr/>
          <p:nvPr/>
        </p:nvSpPr>
        <p:spPr>
          <a:xfrm>
            <a:off x="2871216" y="2788920"/>
            <a:ext cx="1965960" cy="566928"/>
          </a:xfrm>
          <a:prstGeom prst="roundRect">
            <a:avLst>
              <a:gd name="adj" fmla="val 8065"/>
            </a:avLst>
          </a:prstGeom>
          <a:solidFill>
            <a:srgbClr val="F0EFEA"/>
          </a:solidFill>
          <a:ln w="10160">
            <a:solidFill>
              <a:srgbClr val="F0EFEA"/>
            </a:solidFill>
            <a:prstDash val="solid"/>
          </a:ln>
        </p:spPr>
      </p:sp>
      <p:sp>
        <p:nvSpPr>
          <p:cNvPr id="19" name="Text 17"/>
          <p:cNvSpPr/>
          <p:nvPr/>
        </p:nvSpPr>
        <p:spPr>
          <a:xfrm>
            <a:off x="2980944" y="2898648"/>
            <a:ext cx="1746504" cy="310896"/>
          </a:xfrm>
          <a:prstGeom prst="rect">
            <a:avLst/>
          </a:prstGeom>
          <a:noFill/>
          <a:ln/>
        </p:spPr>
        <p:txBody>
          <a:bodyPr wrap="square" lIns="0" tIns="0" rIns="0" bIns="0" rtlCol="0" anchor="ctr">
            <a:normAutofit/>
          </a:bodyPr>
          <a:lstStyle/>
          <a:p>
            <a:pPr indent="0" marL="0">
              <a:buNone/>
            </a:pPr>
            <a:r>
              <a:rPr lang="en-US" sz="1190" b="1" dirty="0">
                <a:solidFill>
                  <a:srgbClr val="20262E"/>
                </a:solidFill>
                <a:latin typeface="Aptos" pitchFamily="34" charset="0"/>
                <a:ea typeface="Aptos" pitchFamily="34" charset="-122"/>
                <a:cs typeface="Aptos" pitchFamily="34" charset="-120"/>
              </a:rPr>
              <a:t>Back to review</a:t>
            </a:r>
            <a:endParaRPr lang="en-US" sz="1190" dirty="0"/>
          </a:p>
        </p:txBody>
      </p:sp>
      <p:sp>
        <p:nvSpPr>
          <p:cNvPr id="20" name="Text 18"/>
          <p:cNvSpPr/>
          <p:nvPr/>
        </p:nvSpPr>
        <p:spPr>
          <a:xfrm>
            <a:off x="4956048" y="2907792"/>
            <a:ext cx="329184" cy="274320"/>
          </a:xfrm>
          <a:prstGeom prst="rect">
            <a:avLst/>
          </a:prstGeom>
          <a:noFill/>
          <a:ln/>
        </p:spPr>
        <p:txBody>
          <a:bodyPr wrap="square" lIns="0" tIns="0" rIns="0" bIns="0" rtlCol="0" anchor="ctr"/>
          <a:lstStyle/>
          <a:p>
            <a:pPr algn="ctr" indent="0" marL="0">
              <a:buNone/>
            </a:pPr>
            <a:r>
              <a:rPr lang="en-US" sz="1900" b="1" dirty="0">
                <a:solidFill>
                  <a:srgbClr val="BC6333"/>
                </a:solidFill>
                <a:latin typeface="Aptos Display" pitchFamily="34" charset="0"/>
                <a:ea typeface="Aptos Display" pitchFamily="34" charset="-122"/>
                <a:cs typeface="Aptos Display" pitchFamily="34" charset="-120"/>
              </a:rPr>
              <a:t>→</a:t>
            </a:r>
            <a:endParaRPr lang="en-US" sz="1900" dirty="0"/>
          </a:p>
        </p:txBody>
      </p:sp>
      <p:sp>
        <p:nvSpPr>
          <p:cNvPr id="21" name="Shape 19"/>
          <p:cNvSpPr/>
          <p:nvPr/>
        </p:nvSpPr>
        <p:spPr>
          <a:xfrm>
            <a:off x="5230368" y="2788920"/>
            <a:ext cx="2907792" cy="566928"/>
          </a:xfrm>
          <a:prstGeom prst="roundRect">
            <a:avLst>
              <a:gd name="adj" fmla="val 8065"/>
            </a:avLst>
          </a:prstGeom>
          <a:solidFill>
            <a:srgbClr val="BC6333"/>
          </a:solidFill>
          <a:ln w="10160">
            <a:solidFill>
              <a:srgbClr val="BC6333"/>
            </a:solidFill>
            <a:prstDash val="solid"/>
          </a:ln>
        </p:spPr>
      </p:sp>
      <p:sp>
        <p:nvSpPr>
          <p:cNvPr id="22" name="Text 20"/>
          <p:cNvSpPr/>
          <p:nvPr/>
        </p:nvSpPr>
        <p:spPr>
          <a:xfrm>
            <a:off x="5340096" y="2898648"/>
            <a:ext cx="2688336" cy="310896"/>
          </a:xfrm>
          <a:prstGeom prst="rect">
            <a:avLst/>
          </a:prstGeom>
          <a:noFill/>
          <a:ln/>
        </p:spPr>
        <p:txBody>
          <a:bodyPr wrap="square" lIns="0" tIns="0" rIns="0" bIns="0" rtlCol="0" anchor="ctr">
            <a:normAutofit/>
          </a:bodyPr>
          <a:lstStyle/>
          <a:p>
            <a:pPr indent="0" marL="0">
              <a:buNone/>
            </a:pPr>
            <a:r>
              <a:rPr lang="en-US" sz="1190" b="1" dirty="0">
                <a:solidFill>
                  <a:srgbClr val="FFFFFF"/>
                </a:solidFill>
                <a:latin typeface="Aptos" pitchFamily="34" charset="0"/>
                <a:ea typeface="Aptos" pitchFamily="34" charset="-122"/>
                <a:cs typeface="Aptos" pitchFamily="34" charset="-120"/>
              </a:rPr>
              <a:t>Out of use until re-approved</a:t>
            </a:r>
            <a:endParaRPr lang="en-US" sz="1190" dirty="0"/>
          </a:p>
        </p:txBody>
      </p:sp>
      <p:sp>
        <p:nvSpPr>
          <p:cNvPr id="23" name="Shape 21"/>
          <p:cNvSpPr/>
          <p:nvPr/>
        </p:nvSpPr>
        <p:spPr>
          <a:xfrm>
            <a:off x="987552" y="3675888"/>
            <a:ext cx="4901184" cy="1627632"/>
          </a:xfrm>
          <a:prstGeom prst="roundRect">
            <a:avLst>
              <a:gd name="adj" fmla="val 2809"/>
            </a:avLst>
          </a:prstGeom>
          <a:solidFill>
            <a:srgbClr val="F4F3EF"/>
          </a:solidFill>
          <a:ln w="10160">
            <a:solidFill>
              <a:srgbClr val="ECEAE4"/>
            </a:solidFill>
            <a:prstDash val="solid"/>
          </a:ln>
        </p:spPr>
      </p:sp>
      <p:sp>
        <p:nvSpPr>
          <p:cNvPr id="24" name="Text 22"/>
          <p:cNvSpPr/>
          <p:nvPr/>
        </p:nvSpPr>
        <p:spPr>
          <a:xfrm>
            <a:off x="1207008" y="3913632"/>
            <a:ext cx="2011680" cy="310896"/>
          </a:xfrm>
          <a:prstGeom prst="rect">
            <a:avLst/>
          </a:prstGeom>
          <a:noFill/>
          <a:ln/>
        </p:spPr>
        <p:txBody>
          <a:bodyPr wrap="square" lIns="0" tIns="0" rIns="0" bIns="0" rtlCol="0" anchor="ctr">
            <a:normAutofit/>
          </a:bodyPr>
          <a:lstStyle/>
          <a:p>
            <a:pPr indent="0" marL="0">
              <a:buNone/>
            </a:pPr>
            <a:r>
              <a:rPr lang="en-US" sz="1550" b="1" dirty="0">
                <a:solidFill>
                  <a:srgbClr val="20262E"/>
                </a:solidFill>
                <a:latin typeface="Aptos Display" pitchFamily="34" charset="0"/>
                <a:ea typeface="Aptos Display" pitchFamily="34" charset="-122"/>
                <a:cs typeface="Aptos Display" pitchFamily="34" charset="-120"/>
              </a:rPr>
              <a:t>Automatic checks</a:t>
            </a:r>
            <a:endParaRPr lang="en-US" sz="1550" dirty="0"/>
          </a:p>
        </p:txBody>
      </p:sp>
      <p:sp>
        <p:nvSpPr>
          <p:cNvPr id="25" name="Text 23"/>
          <p:cNvSpPr/>
          <p:nvPr/>
        </p:nvSpPr>
        <p:spPr>
          <a:xfrm>
            <a:off x="1207008" y="4325112"/>
            <a:ext cx="4407408" cy="694944"/>
          </a:xfrm>
          <a:prstGeom prst="rect">
            <a:avLst/>
          </a:prstGeom>
          <a:noFill/>
          <a:ln/>
        </p:spPr>
        <p:txBody>
          <a:bodyPr wrap="square" lIns="0" tIns="0" rIns="0" bIns="0" rtlCol="0" anchor="t">
            <a:normAutofit/>
          </a:bodyPr>
          <a:lstStyle/>
          <a:p>
            <a:pPr indent="0" marL="0">
              <a:buNone/>
            </a:pPr>
            <a:r>
              <a:rPr lang="en-US" sz="1150" dirty="0">
                <a:solidFill>
                  <a:srgbClr val="596168"/>
                </a:solidFill>
                <a:latin typeface="Aptos" pitchFamily="34" charset="0"/>
                <a:ea typeface="Aptos" pitchFamily="34" charset="-122"/>
                <a:cs typeface="Aptos" pitchFamily="34" charset="-120"/>
              </a:rPr>
              <a:t>Source text is required. Codes, numbers, dates and exceptions must be supported. Weak or incomplete evidence is held back for review.</a:t>
            </a:r>
            <a:endParaRPr lang="en-US" sz="1150" dirty="0"/>
          </a:p>
        </p:txBody>
      </p:sp>
      <p:sp>
        <p:nvSpPr>
          <p:cNvPr id="26" name="Shape 24"/>
          <p:cNvSpPr/>
          <p:nvPr/>
        </p:nvSpPr>
        <p:spPr>
          <a:xfrm>
            <a:off x="6144768" y="3675888"/>
            <a:ext cx="4901184" cy="1627632"/>
          </a:xfrm>
          <a:prstGeom prst="roundRect">
            <a:avLst>
              <a:gd name="adj" fmla="val 2809"/>
            </a:avLst>
          </a:prstGeom>
          <a:solidFill>
            <a:srgbClr val="F4F3EF"/>
          </a:solidFill>
          <a:ln w="10160">
            <a:solidFill>
              <a:srgbClr val="ECEAE4"/>
            </a:solidFill>
            <a:prstDash val="solid"/>
          </a:ln>
        </p:spPr>
      </p:sp>
      <p:sp>
        <p:nvSpPr>
          <p:cNvPr id="27" name="Text 25"/>
          <p:cNvSpPr/>
          <p:nvPr/>
        </p:nvSpPr>
        <p:spPr>
          <a:xfrm>
            <a:off x="6364224" y="3913632"/>
            <a:ext cx="2011680" cy="310896"/>
          </a:xfrm>
          <a:prstGeom prst="rect">
            <a:avLst/>
          </a:prstGeom>
          <a:noFill/>
          <a:ln/>
        </p:spPr>
        <p:txBody>
          <a:bodyPr wrap="square" lIns="0" tIns="0" rIns="0" bIns="0" rtlCol="0" anchor="ctr">
            <a:normAutofit/>
          </a:bodyPr>
          <a:lstStyle/>
          <a:p>
            <a:pPr indent="0" marL="0">
              <a:buNone/>
            </a:pPr>
            <a:r>
              <a:rPr lang="en-US" sz="1550" b="1" dirty="0">
                <a:solidFill>
                  <a:srgbClr val="20262E"/>
                </a:solidFill>
                <a:latin typeface="Aptos Display" pitchFamily="34" charset="0"/>
                <a:ea typeface="Aptos Display" pitchFamily="34" charset="-122"/>
                <a:cs typeface="Aptos Display" pitchFamily="34" charset="-120"/>
              </a:rPr>
              <a:t>Human review</a:t>
            </a:r>
            <a:endParaRPr lang="en-US" sz="1550" dirty="0"/>
          </a:p>
        </p:txBody>
      </p:sp>
      <p:sp>
        <p:nvSpPr>
          <p:cNvPr id="28" name="Text 26"/>
          <p:cNvSpPr/>
          <p:nvPr/>
        </p:nvSpPr>
        <p:spPr>
          <a:xfrm>
            <a:off x="6364224" y="4325112"/>
            <a:ext cx="4407408" cy="694944"/>
          </a:xfrm>
          <a:prstGeom prst="rect">
            <a:avLst/>
          </a:prstGeom>
          <a:noFill/>
          <a:ln/>
        </p:spPr>
        <p:txBody>
          <a:bodyPr wrap="square" lIns="0" tIns="0" rIns="0" bIns="0" rtlCol="0" anchor="t">
            <a:normAutofit/>
          </a:bodyPr>
          <a:lstStyle/>
          <a:p>
            <a:pPr indent="0" marL="0">
              <a:buNone/>
            </a:pPr>
            <a:r>
              <a:rPr lang="en-US" sz="1150" dirty="0">
                <a:solidFill>
                  <a:srgbClr val="596168"/>
                </a:solidFill>
                <a:latin typeface="Aptos" pitchFamily="34" charset="0"/>
                <a:ea typeface="Aptos" pitchFamily="34" charset="-122"/>
                <a:cs typeface="Aptos" pitchFamily="34" charset="-120"/>
              </a:rPr>
              <a:t>A named reviewer confirms the meaning. The approval stays tied to the policy version they reviewed.</a:t>
            </a:r>
            <a:endParaRPr lang="en-US" sz="1150" dirty="0"/>
          </a:p>
        </p:txBody>
      </p:sp>
      <p:sp>
        <p:nvSpPr>
          <p:cNvPr id="29" name="Shape 27"/>
          <p:cNvSpPr/>
          <p:nvPr/>
        </p:nvSpPr>
        <p:spPr>
          <a:xfrm>
            <a:off x="987552" y="5870448"/>
            <a:ext cx="0" cy="429768"/>
          </a:xfrm>
          <a:prstGeom prst="line">
            <a:avLst/>
          </a:prstGeom>
          <a:noFill/>
          <a:ln w="27940">
            <a:solidFill>
              <a:srgbClr val="2E806C"/>
            </a:solidFill>
            <a:prstDash val="solid"/>
          </a:ln>
        </p:spPr>
      </p:sp>
      <p:sp>
        <p:nvSpPr>
          <p:cNvPr id="30" name="Text 28"/>
          <p:cNvSpPr/>
          <p:nvPr/>
        </p:nvSpPr>
        <p:spPr>
          <a:xfrm>
            <a:off x="1188720" y="5861304"/>
            <a:ext cx="9948672" cy="411480"/>
          </a:xfrm>
          <a:prstGeom prst="rect">
            <a:avLst/>
          </a:prstGeom>
          <a:noFill/>
          <a:ln/>
        </p:spPr>
        <p:txBody>
          <a:bodyPr wrap="square" lIns="0" tIns="0" rIns="0" bIns="0" rtlCol="0" anchor="ctr">
            <a:normAutofit/>
          </a:bodyPr>
          <a:lstStyle/>
          <a:p>
            <a:pPr indent="0" marL="0">
              <a:buNone/>
            </a:pPr>
            <a:r>
              <a:rPr lang="en-US" sz="1280" b="1" dirty="0">
                <a:solidFill>
                  <a:srgbClr val="20262E"/>
                </a:solidFill>
                <a:latin typeface="Aptos" pitchFamily="34" charset="0"/>
                <a:ea typeface="Aptos" pitchFamily="34" charset="-122"/>
                <a:cs typeface="Aptos" pitchFamily="34" charset="-120"/>
              </a:rPr>
              <a:t>“So AI decides policy?” </a:t>
            </a:r>
            <a:pPr indent="0" marL="0">
              <a:buNone/>
            </a:pPr>
            <a:r>
              <a:rPr lang="en-US" sz="1280" dirty="0">
                <a:solidFill>
                  <a:srgbClr val="454C54"/>
                </a:solidFill>
                <a:latin typeface="Aptos" pitchFamily="34" charset="0"/>
                <a:ea typeface="Aptos" pitchFamily="34" charset="-122"/>
                <a:cs typeface="Aptos" pitchFamily="34" charset="-120"/>
              </a:rPr>
              <a:t>No. AI proposes; a reviewer approves the interpretation against the source.</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CURRENT CONFIDENCE</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What we trust today — and what we are still proving</a:t>
            </a:r>
            <a:endParaRPr lang="en-US" sz="2850" dirty="0"/>
          </a:p>
        </p:txBody>
      </p:sp>
      <p:sp>
        <p:nvSpPr>
          <p:cNvPr id="4" name="Text 2"/>
          <p:cNvSpPr/>
          <p:nvPr/>
        </p:nvSpPr>
        <p:spPr>
          <a:xfrm>
            <a:off x="987552" y="1572768"/>
            <a:ext cx="10058400" cy="411480"/>
          </a:xfrm>
          <a:prstGeom prst="rect">
            <a:avLst/>
          </a:prstGeom>
          <a:noFill/>
          <a:ln/>
        </p:spPr>
        <p:txBody>
          <a:bodyPr wrap="square" lIns="0" tIns="0" rIns="0" bIns="0" rtlCol="0" anchor="ctr">
            <a:normAutofit/>
          </a:bodyPr>
          <a:lstStyle/>
          <a:p>
            <a:pPr indent="0" marL="0">
              <a:buNone/>
            </a:pPr>
            <a:r>
              <a:rPr lang="en-US" sz="1380" dirty="0">
                <a:solidFill>
                  <a:srgbClr val="697079"/>
                </a:solidFill>
                <a:latin typeface="Aptos" pitchFamily="34" charset="0"/>
                <a:ea typeface="Aptos" pitchFamily="34" charset="-122"/>
                <a:cs typeface="Aptos" pitchFamily="34" charset="-120"/>
              </a:rPr>
              <a:t>The foundation is strong enough for controlled review, but we are still validating completeness before broader use.</a:t>
            </a:r>
            <a:endParaRPr lang="en-US" sz="1380" dirty="0"/>
          </a:p>
        </p:txBody>
      </p:sp>
      <p:sp>
        <p:nvSpPr>
          <p:cNvPr id="5" name="Shape 3"/>
          <p:cNvSpPr/>
          <p:nvPr/>
        </p:nvSpPr>
        <p:spPr>
          <a:xfrm>
            <a:off x="987552" y="2157984"/>
            <a:ext cx="4828032" cy="3127248"/>
          </a:xfrm>
          <a:prstGeom prst="roundRect">
            <a:avLst>
              <a:gd name="adj" fmla="val 1462"/>
            </a:avLst>
          </a:prstGeom>
          <a:solidFill>
            <a:srgbClr val="E7F1ED"/>
          </a:solidFill>
          <a:ln w="10160">
            <a:solidFill>
              <a:srgbClr val="D8E9E2"/>
            </a:solidFill>
            <a:prstDash val="solid"/>
          </a:ln>
        </p:spPr>
      </p:sp>
      <p:sp>
        <p:nvSpPr>
          <p:cNvPr id="6" name="Text 4"/>
          <p:cNvSpPr/>
          <p:nvPr/>
        </p:nvSpPr>
        <p:spPr>
          <a:xfrm>
            <a:off x="1243584" y="2414016"/>
            <a:ext cx="1554480" cy="201168"/>
          </a:xfrm>
          <a:prstGeom prst="rect">
            <a:avLst/>
          </a:prstGeom>
          <a:noFill/>
          <a:ln/>
        </p:spPr>
        <p:txBody>
          <a:bodyPr wrap="square" lIns="0" tIns="0" rIns="0" bIns="0" rtlCol="0" anchor="ctr">
            <a:normAutofit/>
          </a:bodyPr>
          <a:lstStyle/>
          <a:p>
            <a:pPr indent="0" marL="0">
              <a:buNone/>
            </a:pPr>
            <a:r>
              <a:rPr lang="en-US" sz="1020" b="1" spc="70" kern="0" dirty="0">
                <a:solidFill>
                  <a:srgbClr val="2E806C"/>
                </a:solidFill>
                <a:latin typeface="Aptos" pitchFamily="34" charset="0"/>
                <a:ea typeface="Aptos" pitchFamily="34" charset="-122"/>
                <a:cs typeface="Aptos" pitchFamily="34" charset="-120"/>
              </a:rPr>
              <a:t>STRONG TODAY</a:t>
            </a:r>
            <a:endParaRPr lang="en-US" sz="1020" dirty="0"/>
          </a:p>
        </p:txBody>
      </p:sp>
      <p:sp>
        <p:nvSpPr>
          <p:cNvPr id="7" name="Text 5"/>
          <p:cNvSpPr/>
          <p:nvPr/>
        </p:nvSpPr>
        <p:spPr>
          <a:xfrm>
            <a:off x="1243584" y="2770632"/>
            <a:ext cx="2743200" cy="347472"/>
          </a:xfrm>
          <a:prstGeom prst="rect">
            <a:avLst/>
          </a:prstGeom>
          <a:noFill/>
          <a:ln/>
        </p:spPr>
        <p:txBody>
          <a:bodyPr wrap="square" lIns="0" tIns="0" rIns="0" bIns="0" rtlCol="0" anchor="ctr">
            <a:normAutofit/>
          </a:bodyPr>
          <a:lstStyle/>
          <a:p>
            <a:pPr indent="0" marL="0">
              <a:buNone/>
            </a:pPr>
            <a:r>
              <a:rPr lang="en-US" sz="1820" b="1" dirty="0">
                <a:solidFill>
                  <a:srgbClr val="20262E"/>
                </a:solidFill>
                <a:latin typeface="Aptos Display" pitchFamily="34" charset="0"/>
                <a:ea typeface="Aptos Display" pitchFamily="34" charset="-122"/>
                <a:cs typeface="Aptos Display" pitchFamily="34" charset="-120"/>
              </a:rPr>
              <a:t>What is working well</a:t>
            </a:r>
            <a:endParaRPr lang="en-US" sz="1820" dirty="0"/>
          </a:p>
        </p:txBody>
      </p:sp>
      <p:sp>
        <p:nvSpPr>
          <p:cNvPr id="8" name="Text 6"/>
          <p:cNvSpPr/>
          <p:nvPr/>
        </p:nvSpPr>
        <p:spPr>
          <a:xfrm>
            <a:off x="1243584" y="3291840"/>
            <a:ext cx="4187952" cy="1627632"/>
          </a:xfrm>
          <a:prstGeom prst="rect">
            <a:avLst/>
          </a:prstGeom>
          <a:noFill/>
          <a:ln/>
        </p:spPr>
        <p:txBody>
          <a:bodyPr wrap="square" lIns="254" tIns="254" rIns="254" bIns="254" rtlCol="0" anchor="ctr">
            <a:normAutofit/>
          </a:bodyPr>
          <a:lstStyle/>
          <a:p>
            <a:pPr marL="127000" indent="-127000">
              <a:buSzPct val="100000"/>
              <a:buChar char="•"/>
            </a:pPr>
            <a:r>
              <a:rPr lang="en-US" sz="1170" dirty="0">
                <a:solidFill>
                  <a:srgbClr val="4D5957"/>
                </a:solidFill>
                <a:latin typeface="Aptos" pitchFamily="34" charset="0"/>
                <a:ea typeface="Aptos" pitchFamily="34" charset="-122"/>
                <a:cs typeface="Aptos" pitchFamily="34" charset="-120"/>
              </a:rPr>
              <a:t>Structured CMS edit files can be loaded consistently.</a:t>
            </a:r>
            <a:endParaRPr lang="en-US" sz="1170" dirty="0"/>
          </a:p>
          <a:p>
            <a:pPr marL="127000" indent="-127000">
              <a:buSzPct val="100000"/>
              <a:buChar char="•"/>
            </a:pPr>
            <a:r>
              <a:rPr lang="en-US" sz="1170" dirty="0">
                <a:solidFill>
                  <a:srgbClr val="4D5957"/>
                </a:solidFill>
                <a:latin typeface="Aptos" pitchFamily="34" charset="0"/>
                <a:ea typeface="Aptos" pitchFamily="34" charset="-122"/>
                <a:cs typeface="Aptos" pitchFamily="34" charset="-120"/>
              </a:rPr>
              <a:t>Every state rule keeps its source and policy version.</a:t>
            </a:r>
            <a:endParaRPr lang="en-US" sz="1170" dirty="0"/>
          </a:p>
          <a:p>
            <a:pPr marL="127000" indent="-127000">
              <a:buSzPct val="100000"/>
              <a:buChar char="•"/>
            </a:pPr>
            <a:r>
              <a:rPr lang="en-US" sz="1170" dirty="0">
                <a:solidFill>
                  <a:srgbClr val="4D5957"/>
                </a:solidFill>
                <a:latin typeface="Aptos" pitchFamily="34" charset="0"/>
                <a:ea typeface="Aptos" pitchFamily="34" charset="-122"/>
                <a:cs typeface="Aptos" pitchFamily="34" charset="-120"/>
              </a:rPr>
              <a:t>Draft rules are separated from approved rules.</a:t>
            </a:r>
            <a:endParaRPr lang="en-US" sz="1170" dirty="0"/>
          </a:p>
          <a:p>
            <a:pPr marL="127000" indent="-127000">
              <a:buSzPct val="100000"/>
              <a:buChar char="•"/>
            </a:pPr>
            <a:r>
              <a:rPr lang="en-US" sz="1170" dirty="0">
                <a:solidFill>
                  <a:srgbClr val="4D5957"/>
                </a:solidFill>
                <a:latin typeface="Aptos" pitchFamily="34" charset="0"/>
                <a:ea typeface="Aptos" pitchFamily="34" charset="-122"/>
                <a:cs typeface="Aptos" pitchFamily="34" charset="-120"/>
              </a:rPr>
              <a:t>Hundreds of automated checks verify rule behavior.</a:t>
            </a:r>
            <a:endParaRPr lang="en-US" sz="1170" dirty="0"/>
          </a:p>
        </p:txBody>
      </p:sp>
      <p:sp>
        <p:nvSpPr>
          <p:cNvPr id="9" name="Shape 7"/>
          <p:cNvSpPr/>
          <p:nvPr/>
        </p:nvSpPr>
        <p:spPr>
          <a:xfrm>
            <a:off x="6144768" y="2157984"/>
            <a:ext cx="4828032" cy="3127248"/>
          </a:xfrm>
          <a:prstGeom prst="roundRect">
            <a:avLst>
              <a:gd name="adj" fmla="val 1462"/>
            </a:avLst>
          </a:prstGeom>
          <a:solidFill>
            <a:srgbClr val="F5E8DD"/>
          </a:solidFill>
          <a:ln w="10160">
            <a:solidFill>
              <a:srgbClr val="EBD9CB"/>
            </a:solidFill>
            <a:prstDash val="solid"/>
          </a:ln>
        </p:spPr>
      </p:sp>
      <p:sp>
        <p:nvSpPr>
          <p:cNvPr id="10" name="Text 8"/>
          <p:cNvSpPr/>
          <p:nvPr/>
        </p:nvSpPr>
        <p:spPr>
          <a:xfrm>
            <a:off x="6400800" y="2414016"/>
            <a:ext cx="1554480" cy="201168"/>
          </a:xfrm>
          <a:prstGeom prst="rect">
            <a:avLst/>
          </a:prstGeom>
          <a:noFill/>
          <a:ln/>
        </p:spPr>
        <p:txBody>
          <a:bodyPr wrap="square" lIns="0" tIns="0" rIns="0" bIns="0" rtlCol="0" anchor="ctr">
            <a:normAutofit/>
          </a:bodyPr>
          <a:lstStyle/>
          <a:p>
            <a:pPr indent="0" marL="0">
              <a:buNone/>
            </a:pPr>
            <a:r>
              <a:rPr lang="en-US" sz="1020" b="1" spc="70" kern="0" dirty="0">
                <a:solidFill>
                  <a:srgbClr val="BC6333"/>
                </a:solidFill>
                <a:latin typeface="Aptos" pitchFamily="34" charset="0"/>
                <a:ea typeface="Aptos" pitchFamily="34" charset="-122"/>
                <a:cs typeface="Aptos" pitchFamily="34" charset="-120"/>
              </a:rPr>
              <a:t>STILL PROVING</a:t>
            </a:r>
            <a:endParaRPr lang="en-US" sz="1020" dirty="0"/>
          </a:p>
        </p:txBody>
      </p:sp>
      <p:sp>
        <p:nvSpPr>
          <p:cNvPr id="11" name="Text 9"/>
          <p:cNvSpPr/>
          <p:nvPr/>
        </p:nvSpPr>
        <p:spPr>
          <a:xfrm>
            <a:off x="6400800" y="2770632"/>
            <a:ext cx="3291840" cy="347472"/>
          </a:xfrm>
          <a:prstGeom prst="rect">
            <a:avLst/>
          </a:prstGeom>
          <a:noFill/>
          <a:ln/>
        </p:spPr>
        <p:txBody>
          <a:bodyPr wrap="square" lIns="0" tIns="0" rIns="0" bIns="0" rtlCol="0" anchor="ctr">
            <a:normAutofit/>
          </a:bodyPr>
          <a:lstStyle/>
          <a:p>
            <a:pPr indent="0" marL="0">
              <a:buNone/>
            </a:pPr>
            <a:r>
              <a:rPr lang="en-US" sz="1820" b="1" dirty="0">
                <a:solidFill>
                  <a:srgbClr val="20262E"/>
                </a:solidFill>
                <a:latin typeface="Aptos Display" pitchFamily="34" charset="0"/>
                <a:ea typeface="Aptos Display" pitchFamily="34" charset="-122"/>
                <a:cs typeface="Aptos Display" pitchFamily="34" charset="-120"/>
              </a:rPr>
              <a:t>What we are validating next</a:t>
            </a:r>
            <a:endParaRPr lang="en-US" sz="1820" dirty="0"/>
          </a:p>
        </p:txBody>
      </p:sp>
      <p:sp>
        <p:nvSpPr>
          <p:cNvPr id="12" name="Text 10"/>
          <p:cNvSpPr/>
          <p:nvPr/>
        </p:nvSpPr>
        <p:spPr>
          <a:xfrm>
            <a:off x="6400800" y="3291840"/>
            <a:ext cx="4187952" cy="1627632"/>
          </a:xfrm>
          <a:prstGeom prst="rect">
            <a:avLst/>
          </a:prstGeom>
          <a:noFill/>
          <a:ln/>
        </p:spPr>
        <p:txBody>
          <a:bodyPr wrap="square" lIns="254" tIns="254" rIns="254" bIns="254" rtlCol="0" anchor="ctr">
            <a:normAutofit/>
          </a:bodyPr>
          <a:lstStyle/>
          <a:p>
            <a:pPr marL="127000" indent="-127000">
              <a:buSzPct val="100000"/>
              <a:buChar char="•"/>
            </a:pPr>
            <a:r>
              <a:rPr lang="en-US" sz="1170" dirty="0">
                <a:solidFill>
                  <a:srgbClr val="5F554E"/>
                </a:solidFill>
                <a:latin typeface="Aptos" pitchFamily="34" charset="0"/>
                <a:ea typeface="Aptos" pitchFamily="34" charset="-122"/>
                <a:cs typeface="Aptos" pitchFamily="34" charset="-120"/>
              </a:rPr>
              <a:t>Did we find all important AHCCCS rules?</a:t>
            </a:r>
            <a:endParaRPr lang="en-US" sz="1170" dirty="0"/>
          </a:p>
          <a:p>
            <a:pPr marL="127000" indent="-127000">
              <a:buSzPct val="100000"/>
              <a:buChar char="•"/>
            </a:pPr>
            <a:r>
              <a:rPr lang="en-US" sz="1170" dirty="0">
                <a:solidFill>
                  <a:srgbClr val="5F554E"/>
                </a:solidFill>
                <a:latin typeface="Aptos" pitchFamily="34" charset="0"/>
                <a:ea typeface="Aptos" pitchFamily="34" charset="-122"/>
                <a:cs typeface="Aptos" pitchFamily="34" charset="-120"/>
              </a:rPr>
              <a:t>Did complex PDF pages and tables come through correctly?</a:t>
            </a:r>
            <a:endParaRPr lang="en-US" sz="1170" dirty="0"/>
          </a:p>
          <a:p>
            <a:pPr marL="127000" indent="-127000">
              <a:buSzPct val="100000"/>
              <a:buChar char="•"/>
            </a:pPr>
            <a:r>
              <a:rPr lang="en-US" sz="1170" dirty="0">
                <a:solidFill>
                  <a:srgbClr val="5F554E"/>
                </a:solidFill>
                <a:latin typeface="Aptos" pitchFamily="34" charset="0"/>
                <a:ea typeface="Aptos" pitchFamily="34" charset="-122"/>
                <a:cs typeface="Aptos" pitchFamily="34" charset="-120"/>
              </a:rPr>
              <a:t>Is the NCCI history and provider routing right for Arizona production use?</a:t>
            </a:r>
            <a:endParaRPr lang="en-US" sz="1170" dirty="0"/>
          </a:p>
          <a:p>
            <a:pPr marL="127000" indent="-127000">
              <a:buSzPct val="100000"/>
              <a:buChar char="•"/>
            </a:pPr>
            <a:r>
              <a:rPr lang="en-US" sz="1170" dirty="0">
                <a:solidFill>
                  <a:srgbClr val="5F554E"/>
                </a:solidFill>
                <a:latin typeface="Aptos" pitchFamily="34" charset="0"/>
                <a:ea typeface="Aptos" pitchFamily="34" charset="-122"/>
                <a:cs typeface="Aptos" pitchFamily="34" charset="-120"/>
              </a:rPr>
              <a:t>Are the findings medically and operationally sensible?</a:t>
            </a:r>
            <a:endParaRPr lang="en-US" sz="1170" dirty="0"/>
          </a:p>
        </p:txBody>
      </p:sp>
      <p:sp>
        <p:nvSpPr>
          <p:cNvPr id="13" name="Shape 11"/>
          <p:cNvSpPr/>
          <p:nvPr/>
        </p:nvSpPr>
        <p:spPr>
          <a:xfrm>
            <a:off x="987552" y="5861304"/>
            <a:ext cx="0" cy="429768"/>
          </a:xfrm>
          <a:prstGeom prst="line">
            <a:avLst/>
          </a:prstGeom>
          <a:noFill/>
          <a:ln w="27940">
            <a:solidFill>
              <a:srgbClr val="2E806C"/>
            </a:solidFill>
            <a:prstDash val="solid"/>
          </a:ln>
        </p:spPr>
      </p:sp>
      <p:sp>
        <p:nvSpPr>
          <p:cNvPr id="14" name="Text 12"/>
          <p:cNvSpPr/>
          <p:nvPr/>
        </p:nvSpPr>
        <p:spPr>
          <a:xfrm>
            <a:off x="1188720" y="5852160"/>
            <a:ext cx="9948672" cy="411480"/>
          </a:xfrm>
          <a:prstGeom prst="rect">
            <a:avLst/>
          </a:prstGeom>
          <a:noFill/>
          <a:ln/>
        </p:spPr>
        <p:txBody>
          <a:bodyPr wrap="square" lIns="0" tIns="0" rIns="0" bIns="0" rtlCol="0" anchor="ctr">
            <a:normAutofit/>
          </a:bodyPr>
          <a:lstStyle/>
          <a:p>
            <a:pPr indent="0" marL="0">
              <a:buNone/>
            </a:pPr>
            <a:r>
              <a:rPr lang="en-US" sz="1280" dirty="0">
                <a:solidFill>
                  <a:srgbClr val="454C54"/>
                </a:solidFill>
                <a:latin typeface="Aptos" pitchFamily="34" charset="0"/>
                <a:ea typeface="Aptos" pitchFamily="34" charset="-122"/>
                <a:cs typeface="Aptos" pitchFamily="34" charset="-120"/>
              </a:rPr>
              <a:t>Use now for controlled review and learning — not as automatic denial logic.</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96E0C4"/>
                </a:solidFill>
                <a:latin typeface="Aptos" pitchFamily="34" charset="0"/>
                <a:ea typeface="Aptos" pitchFamily="34" charset="-122"/>
                <a:cs typeface="Aptos" pitchFamily="34" charset="-120"/>
              </a:rPr>
              <a:t>PLANNED • POLICY Q&amp;A</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3050" b="1" dirty="0">
                <a:solidFill>
                  <a:srgbClr val="FFFFFF"/>
                </a:solidFill>
                <a:latin typeface="Aptos Display" pitchFamily="34" charset="0"/>
                <a:ea typeface="Aptos Display" pitchFamily="34" charset="-122"/>
                <a:cs typeface="Aptos Display" pitchFamily="34" charset="-120"/>
              </a:rPr>
              <a:t>Ask the policy, not the manual</a:t>
            </a:r>
            <a:endParaRPr lang="en-US" sz="3050" dirty="0"/>
          </a:p>
        </p:txBody>
      </p:sp>
      <p:sp>
        <p:nvSpPr>
          <p:cNvPr id="4" name="Text 2"/>
          <p:cNvSpPr/>
          <p:nvPr/>
        </p:nvSpPr>
        <p:spPr>
          <a:xfrm>
            <a:off x="987552" y="1600200"/>
            <a:ext cx="9784080" cy="411480"/>
          </a:xfrm>
          <a:prstGeom prst="rect">
            <a:avLst/>
          </a:prstGeom>
          <a:noFill/>
          <a:ln/>
        </p:spPr>
        <p:txBody>
          <a:bodyPr wrap="square" lIns="0" tIns="0" rIns="0" bIns="0" rtlCol="0" anchor="ctr">
            <a:normAutofit/>
          </a:bodyPr>
          <a:lstStyle/>
          <a:p>
            <a:pPr indent="0" marL="0">
              <a:buNone/>
            </a:pPr>
            <a:r>
              <a:rPr lang="en-US" sz="1380" dirty="0">
                <a:solidFill>
                  <a:srgbClr val="D4DFE7"/>
                </a:solidFill>
                <a:latin typeface="Aptos" pitchFamily="34" charset="0"/>
                <a:ea typeface="Aptos" pitchFamily="34" charset="-122"/>
                <a:cs typeface="Aptos" pitchFamily="34" charset="-120"/>
              </a:rPr>
              <a:t>A simple chat experience that answers policy questions from the reviewed knowledge base.</a:t>
            </a:r>
            <a:endParaRPr lang="en-US" sz="1380" dirty="0"/>
          </a:p>
        </p:txBody>
      </p:sp>
      <p:sp>
        <p:nvSpPr>
          <p:cNvPr id="5" name="Shape 3"/>
          <p:cNvSpPr/>
          <p:nvPr/>
        </p:nvSpPr>
        <p:spPr>
          <a:xfrm>
            <a:off x="987552" y="2139696"/>
            <a:ext cx="6400800" cy="3182112"/>
          </a:xfrm>
          <a:prstGeom prst="roundRect">
            <a:avLst>
              <a:gd name="adj" fmla="val 1437"/>
            </a:avLst>
          </a:prstGeom>
          <a:solidFill>
            <a:srgbClr val="24435F"/>
          </a:solidFill>
          <a:ln w="10160">
            <a:solidFill>
              <a:srgbClr val="34546E"/>
            </a:solidFill>
            <a:prstDash val="solid"/>
          </a:ln>
        </p:spPr>
      </p:sp>
      <p:sp>
        <p:nvSpPr>
          <p:cNvPr id="6" name="Text 4"/>
          <p:cNvSpPr/>
          <p:nvPr/>
        </p:nvSpPr>
        <p:spPr>
          <a:xfrm>
            <a:off x="1243584" y="2386584"/>
            <a:ext cx="1097280" cy="201168"/>
          </a:xfrm>
          <a:prstGeom prst="rect">
            <a:avLst/>
          </a:prstGeom>
          <a:noFill/>
          <a:ln/>
        </p:spPr>
        <p:txBody>
          <a:bodyPr wrap="square" lIns="0" tIns="0" rIns="0" bIns="0" rtlCol="0" anchor="ctr">
            <a:normAutofit/>
          </a:bodyPr>
          <a:lstStyle/>
          <a:p>
            <a:pPr indent="0" marL="0">
              <a:buNone/>
            </a:pPr>
            <a:r>
              <a:rPr lang="en-US" sz="1020" b="1" spc="70" kern="0" dirty="0">
                <a:solidFill>
                  <a:srgbClr val="96E0C4"/>
                </a:solidFill>
                <a:latin typeface="Aptos" pitchFamily="34" charset="0"/>
                <a:ea typeface="Aptos" pitchFamily="34" charset="-122"/>
                <a:cs typeface="Aptos" pitchFamily="34" charset="-120"/>
              </a:rPr>
              <a:t>EXAMPLE</a:t>
            </a:r>
            <a:endParaRPr lang="en-US" sz="1020" dirty="0"/>
          </a:p>
        </p:txBody>
      </p:sp>
      <p:sp>
        <p:nvSpPr>
          <p:cNvPr id="7" name="Shape 5"/>
          <p:cNvSpPr/>
          <p:nvPr/>
        </p:nvSpPr>
        <p:spPr>
          <a:xfrm>
            <a:off x="1298448" y="2788920"/>
            <a:ext cx="5212080" cy="621792"/>
          </a:xfrm>
          <a:prstGeom prst="roundRect">
            <a:avLst>
              <a:gd name="adj" fmla="val 7353"/>
            </a:avLst>
          </a:prstGeom>
          <a:solidFill>
            <a:srgbClr val="E6EDF2"/>
          </a:solidFill>
          <a:ln w="10160">
            <a:solidFill>
              <a:srgbClr val="E6EDF2"/>
            </a:solidFill>
            <a:prstDash val="solid"/>
          </a:ln>
        </p:spPr>
      </p:sp>
      <p:sp>
        <p:nvSpPr>
          <p:cNvPr id="8" name="Text 6"/>
          <p:cNvSpPr/>
          <p:nvPr/>
        </p:nvSpPr>
        <p:spPr>
          <a:xfrm>
            <a:off x="1517904" y="2944368"/>
            <a:ext cx="4736592" cy="256032"/>
          </a:xfrm>
          <a:prstGeom prst="rect">
            <a:avLst/>
          </a:prstGeom>
          <a:noFill/>
          <a:ln/>
        </p:spPr>
        <p:txBody>
          <a:bodyPr wrap="square" lIns="0" tIns="0" rIns="0" bIns="0" rtlCol="0" anchor="ctr">
            <a:normAutofit/>
          </a:bodyPr>
          <a:lstStyle/>
          <a:p>
            <a:pPr indent="0" marL="0">
              <a:buNone/>
            </a:pPr>
            <a:r>
              <a:rPr lang="en-US" sz="1200" b="1" dirty="0">
                <a:solidFill>
                  <a:srgbClr val="20262E"/>
                </a:solidFill>
                <a:latin typeface="Aptos" pitchFamily="34" charset="0"/>
                <a:ea typeface="Aptos" pitchFamily="34" charset="-122"/>
                <a:cs typeface="Aptos" pitchFamily="34" charset="-120"/>
              </a:rPr>
              <a:t>What rules apply when two services are billed on the same day?</a:t>
            </a:r>
            <a:endParaRPr lang="en-US" sz="1200" dirty="0"/>
          </a:p>
        </p:txBody>
      </p:sp>
      <p:sp>
        <p:nvSpPr>
          <p:cNvPr id="9" name="Shape 7"/>
          <p:cNvSpPr/>
          <p:nvPr/>
        </p:nvSpPr>
        <p:spPr>
          <a:xfrm>
            <a:off x="1856232" y="3611880"/>
            <a:ext cx="5074920" cy="1234440"/>
          </a:xfrm>
          <a:prstGeom prst="roundRect">
            <a:avLst>
              <a:gd name="adj" fmla="val 3704"/>
            </a:avLst>
          </a:prstGeom>
          <a:solidFill>
            <a:srgbClr val="2F6F63"/>
          </a:solidFill>
          <a:ln w="10160">
            <a:solidFill>
              <a:srgbClr val="2F6F63"/>
            </a:solidFill>
            <a:prstDash val="solid"/>
          </a:ln>
        </p:spPr>
      </p:sp>
      <p:sp>
        <p:nvSpPr>
          <p:cNvPr id="10" name="Text 8"/>
          <p:cNvSpPr/>
          <p:nvPr/>
        </p:nvSpPr>
        <p:spPr>
          <a:xfrm>
            <a:off x="2084832" y="3813048"/>
            <a:ext cx="4590288" cy="640080"/>
          </a:xfrm>
          <a:prstGeom prst="rect">
            <a:avLst/>
          </a:prstGeom>
          <a:noFill/>
          <a:ln/>
        </p:spPr>
        <p:txBody>
          <a:bodyPr wrap="square" lIns="0" tIns="0" rIns="0" bIns="0" rtlCol="0" anchor="t">
            <a:normAutofit/>
          </a:bodyPr>
          <a:lstStyle/>
          <a:p>
            <a:pPr indent="0" marL="0">
              <a:buNone/>
            </a:pPr>
            <a:r>
              <a:rPr lang="en-US" sz="1160" dirty="0">
                <a:solidFill>
                  <a:srgbClr val="F2FBF8"/>
                </a:solidFill>
                <a:latin typeface="Aptos" pitchFamily="34" charset="0"/>
                <a:ea typeface="Aptos" pitchFamily="34" charset="-122"/>
                <a:cs typeface="Aptos" pitchFamily="34" charset="-120"/>
              </a:rPr>
              <a:t>I found applicable policy guidance. Here is the short answer, the exact source, effective date and any exceptions.</a:t>
            </a:r>
            <a:endParaRPr lang="en-US" sz="1160" dirty="0"/>
          </a:p>
        </p:txBody>
      </p:sp>
      <p:sp>
        <p:nvSpPr>
          <p:cNvPr id="11" name="Text 9"/>
          <p:cNvSpPr/>
          <p:nvPr/>
        </p:nvSpPr>
        <p:spPr>
          <a:xfrm>
            <a:off x="2084832" y="4443984"/>
            <a:ext cx="4526280" cy="237744"/>
          </a:xfrm>
          <a:prstGeom prst="rect">
            <a:avLst/>
          </a:prstGeom>
          <a:noFill/>
          <a:ln/>
        </p:spPr>
        <p:txBody>
          <a:bodyPr wrap="square" lIns="0" tIns="0" rIns="0" bIns="0" rtlCol="0" anchor="t">
            <a:normAutofit/>
          </a:bodyPr>
          <a:lstStyle/>
          <a:p>
            <a:pPr indent="0" marL="0">
              <a:buNone/>
            </a:pPr>
            <a:r>
              <a:rPr lang="en-US" sz="1040" b="1" dirty="0">
                <a:solidFill>
                  <a:srgbClr val="CFE4DC"/>
                </a:solidFill>
                <a:latin typeface="Aptos" pitchFamily="34" charset="0"/>
                <a:ea typeface="Aptos" pitchFamily="34" charset="-122"/>
                <a:cs typeface="Aptos" pitchFamily="34" charset="-120"/>
              </a:rPr>
              <a:t>If the policy is unclear or conflicting, the answer says so instead of guessing.</a:t>
            </a:r>
            <a:endParaRPr lang="en-US" sz="1040" dirty="0"/>
          </a:p>
        </p:txBody>
      </p:sp>
      <p:sp>
        <p:nvSpPr>
          <p:cNvPr id="12" name="Text 10"/>
          <p:cNvSpPr/>
          <p:nvPr/>
        </p:nvSpPr>
        <p:spPr>
          <a:xfrm>
            <a:off x="7845552" y="2395728"/>
            <a:ext cx="2286000" cy="201168"/>
          </a:xfrm>
          <a:prstGeom prst="rect">
            <a:avLst/>
          </a:prstGeom>
          <a:noFill/>
          <a:ln/>
        </p:spPr>
        <p:txBody>
          <a:bodyPr wrap="square" lIns="0" tIns="0" rIns="0" bIns="0" rtlCol="0" anchor="ctr">
            <a:normAutofit/>
          </a:bodyPr>
          <a:lstStyle/>
          <a:p>
            <a:pPr indent="0" marL="0">
              <a:buNone/>
            </a:pPr>
            <a:r>
              <a:rPr lang="en-US" sz="1020" b="1" spc="70" kern="0" dirty="0">
                <a:solidFill>
                  <a:srgbClr val="96E0C4"/>
                </a:solidFill>
                <a:latin typeface="Aptos" pitchFamily="34" charset="0"/>
                <a:ea typeface="Aptos" pitchFamily="34" charset="-122"/>
                <a:cs typeface="Aptos" pitchFamily="34" charset="-120"/>
              </a:rPr>
              <a:t>WHAT MAKES IT USEFUL</a:t>
            </a:r>
            <a:endParaRPr lang="en-US" sz="1020" dirty="0"/>
          </a:p>
        </p:txBody>
      </p:sp>
      <p:sp>
        <p:nvSpPr>
          <p:cNvPr id="13" name="Shape 11"/>
          <p:cNvSpPr/>
          <p:nvPr/>
        </p:nvSpPr>
        <p:spPr>
          <a:xfrm>
            <a:off x="7863840" y="2825496"/>
            <a:ext cx="310896" cy="310896"/>
          </a:xfrm>
          <a:prstGeom prst="ellipse">
            <a:avLst/>
          </a:prstGeom>
          <a:solidFill>
            <a:srgbClr val="3A9079"/>
          </a:solidFill>
          <a:ln w="12700">
            <a:solidFill>
              <a:srgbClr val="3A9079">
                <a:alpha val="0"/>
              </a:srgbClr>
            </a:solidFill>
            <a:prstDash val="solid"/>
          </a:ln>
        </p:spPr>
      </p:sp>
      <p:sp>
        <p:nvSpPr>
          <p:cNvPr id="14" name="Text 12"/>
          <p:cNvSpPr/>
          <p:nvPr/>
        </p:nvSpPr>
        <p:spPr>
          <a:xfrm>
            <a:off x="7863840" y="2830068"/>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1</a:t>
            </a:r>
            <a:endParaRPr lang="en-US" sz="1050" dirty="0"/>
          </a:p>
        </p:txBody>
      </p:sp>
      <p:sp>
        <p:nvSpPr>
          <p:cNvPr id="15" name="Text 13"/>
          <p:cNvSpPr/>
          <p:nvPr/>
        </p:nvSpPr>
        <p:spPr>
          <a:xfrm>
            <a:off x="8339328" y="2834640"/>
            <a:ext cx="2359152" cy="292608"/>
          </a:xfrm>
          <a:prstGeom prst="rect">
            <a:avLst/>
          </a:prstGeom>
          <a:noFill/>
          <a:ln/>
        </p:spPr>
        <p:txBody>
          <a:bodyPr wrap="square" lIns="0" tIns="0" rIns="0" bIns="0" rtlCol="0" anchor="ctr">
            <a:normAutofit/>
          </a:bodyPr>
          <a:lstStyle/>
          <a:p>
            <a:pPr indent="0" marL="0">
              <a:buNone/>
            </a:pPr>
            <a:r>
              <a:rPr lang="en-US" sz="1220" b="1" dirty="0">
                <a:solidFill>
                  <a:srgbClr val="FFFFFF"/>
                </a:solidFill>
                <a:latin typeface="Aptos" pitchFamily="34" charset="0"/>
                <a:ea typeface="Aptos" pitchFamily="34" charset="-122"/>
                <a:cs typeface="Aptos" pitchFamily="34" charset="-120"/>
              </a:rPr>
              <a:t>Direct answer first</a:t>
            </a:r>
            <a:endParaRPr lang="en-US" sz="1220" dirty="0"/>
          </a:p>
        </p:txBody>
      </p:sp>
      <p:sp>
        <p:nvSpPr>
          <p:cNvPr id="16" name="Shape 14"/>
          <p:cNvSpPr/>
          <p:nvPr/>
        </p:nvSpPr>
        <p:spPr>
          <a:xfrm>
            <a:off x="7863840" y="3410712"/>
            <a:ext cx="310896" cy="310896"/>
          </a:xfrm>
          <a:prstGeom prst="ellipse">
            <a:avLst/>
          </a:prstGeom>
          <a:solidFill>
            <a:srgbClr val="3A9079"/>
          </a:solidFill>
          <a:ln w="12700">
            <a:solidFill>
              <a:srgbClr val="3A9079">
                <a:alpha val="0"/>
              </a:srgbClr>
            </a:solidFill>
            <a:prstDash val="solid"/>
          </a:ln>
        </p:spPr>
      </p:sp>
      <p:sp>
        <p:nvSpPr>
          <p:cNvPr id="17" name="Text 15"/>
          <p:cNvSpPr/>
          <p:nvPr/>
        </p:nvSpPr>
        <p:spPr>
          <a:xfrm>
            <a:off x="7863840" y="3415284"/>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2</a:t>
            </a:r>
            <a:endParaRPr lang="en-US" sz="1050" dirty="0"/>
          </a:p>
        </p:txBody>
      </p:sp>
      <p:sp>
        <p:nvSpPr>
          <p:cNvPr id="18" name="Text 16"/>
          <p:cNvSpPr/>
          <p:nvPr/>
        </p:nvSpPr>
        <p:spPr>
          <a:xfrm>
            <a:off x="8339328" y="3419856"/>
            <a:ext cx="2359152" cy="292608"/>
          </a:xfrm>
          <a:prstGeom prst="rect">
            <a:avLst/>
          </a:prstGeom>
          <a:noFill/>
          <a:ln/>
        </p:spPr>
        <p:txBody>
          <a:bodyPr wrap="square" lIns="0" tIns="0" rIns="0" bIns="0" rtlCol="0" anchor="ctr">
            <a:normAutofit/>
          </a:bodyPr>
          <a:lstStyle/>
          <a:p>
            <a:pPr indent="0" marL="0">
              <a:buNone/>
            </a:pPr>
            <a:r>
              <a:rPr lang="en-US" sz="1220" b="1" dirty="0">
                <a:solidFill>
                  <a:srgbClr val="FFFFFF"/>
                </a:solidFill>
                <a:latin typeface="Aptos" pitchFamily="34" charset="0"/>
                <a:ea typeface="Aptos" pitchFamily="34" charset="-122"/>
                <a:cs typeface="Aptos" pitchFamily="34" charset="-120"/>
              </a:rPr>
              <a:t>Exact source + page</a:t>
            </a:r>
            <a:endParaRPr lang="en-US" sz="1220" dirty="0"/>
          </a:p>
        </p:txBody>
      </p:sp>
      <p:sp>
        <p:nvSpPr>
          <p:cNvPr id="19" name="Shape 17"/>
          <p:cNvSpPr/>
          <p:nvPr/>
        </p:nvSpPr>
        <p:spPr>
          <a:xfrm>
            <a:off x="7863840" y="3995928"/>
            <a:ext cx="310896" cy="310896"/>
          </a:xfrm>
          <a:prstGeom prst="ellipse">
            <a:avLst/>
          </a:prstGeom>
          <a:solidFill>
            <a:srgbClr val="3A9079"/>
          </a:solidFill>
          <a:ln w="12700">
            <a:solidFill>
              <a:srgbClr val="3A9079">
                <a:alpha val="0"/>
              </a:srgbClr>
            </a:solidFill>
            <a:prstDash val="solid"/>
          </a:ln>
        </p:spPr>
      </p:sp>
      <p:sp>
        <p:nvSpPr>
          <p:cNvPr id="20" name="Text 18"/>
          <p:cNvSpPr/>
          <p:nvPr/>
        </p:nvSpPr>
        <p:spPr>
          <a:xfrm>
            <a:off x="7863840" y="4000500"/>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3</a:t>
            </a:r>
            <a:endParaRPr lang="en-US" sz="1050" dirty="0"/>
          </a:p>
        </p:txBody>
      </p:sp>
      <p:sp>
        <p:nvSpPr>
          <p:cNvPr id="21" name="Text 19"/>
          <p:cNvSpPr/>
          <p:nvPr/>
        </p:nvSpPr>
        <p:spPr>
          <a:xfrm>
            <a:off x="8339328" y="4005072"/>
            <a:ext cx="2359152" cy="292608"/>
          </a:xfrm>
          <a:prstGeom prst="rect">
            <a:avLst/>
          </a:prstGeom>
          <a:noFill/>
          <a:ln/>
        </p:spPr>
        <p:txBody>
          <a:bodyPr wrap="square" lIns="0" tIns="0" rIns="0" bIns="0" rtlCol="0" anchor="ctr">
            <a:normAutofit/>
          </a:bodyPr>
          <a:lstStyle/>
          <a:p>
            <a:pPr indent="0" marL="0">
              <a:buNone/>
            </a:pPr>
            <a:r>
              <a:rPr lang="en-US" sz="1220" b="1" dirty="0">
                <a:solidFill>
                  <a:srgbClr val="FFFFFF"/>
                </a:solidFill>
                <a:latin typeface="Aptos" pitchFamily="34" charset="0"/>
                <a:ea typeface="Aptos" pitchFamily="34" charset="-122"/>
                <a:cs typeface="Aptos" pitchFamily="34" charset="-120"/>
              </a:rPr>
              <a:t>Effective-date aware</a:t>
            </a:r>
            <a:endParaRPr lang="en-US" sz="1220" dirty="0"/>
          </a:p>
        </p:txBody>
      </p:sp>
      <p:sp>
        <p:nvSpPr>
          <p:cNvPr id="22" name="Shape 20"/>
          <p:cNvSpPr/>
          <p:nvPr/>
        </p:nvSpPr>
        <p:spPr>
          <a:xfrm>
            <a:off x="7863840" y="4581144"/>
            <a:ext cx="310896" cy="310896"/>
          </a:xfrm>
          <a:prstGeom prst="ellipse">
            <a:avLst/>
          </a:prstGeom>
          <a:solidFill>
            <a:srgbClr val="3A9079"/>
          </a:solidFill>
          <a:ln w="12700">
            <a:solidFill>
              <a:srgbClr val="3A9079">
                <a:alpha val="0"/>
              </a:srgbClr>
            </a:solidFill>
            <a:prstDash val="solid"/>
          </a:ln>
        </p:spPr>
      </p:sp>
      <p:sp>
        <p:nvSpPr>
          <p:cNvPr id="23" name="Text 21"/>
          <p:cNvSpPr/>
          <p:nvPr/>
        </p:nvSpPr>
        <p:spPr>
          <a:xfrm>
            <a:off x="7863840" y="4585716"/>
            <a:ext cx="310896" cy="283464"/>
          </a:xfrm>
          <a:prstGeom prst="rect">
            <a:avLst/>
          </a:prstGeom>
          <a:noFill/>
          <a:ln/>
        </p:spPr>
        <p:txBody>
          <a:bodyPr wrap="square" lIns="0" tIns="0" rIns="0" bIns="0" rtlCol="0" anchor="ctr"/>
          <a:lstStyle/>
          <a:p>
            <a:pPr algn="ctr" indent="0" marL="0">
              <a:buNone/>
            </a:pPr>
            <a:r>
              <a:rPr lang="en-US" sz="1050" b="1" dirty="0">
                <a:solidFill>
                  <a:srgbClr val="FFFFFF"/>
                </a:solidFill>
                <a:latin typeface="Aptos" pitchFamily="34" charset="0"/>
                <a:ea typeface="Aptos" pitchFamily="34" charset="-122"/>
                <a:cs typeface="Aptos" pitchFamily="34" charset="-120"/>
              </a:rPr>
              <a:t>4</a:t>
            </a:r>
            <a:endParaRPr lang="en-US" sz="1050" dirty="0"/>
          </a:p>
        </p:txBody>
      </p:sp>
      <p:sp>
        <p:nvSpPr>
          <p:cNvPr id="24" name="Text 22"/>
          <p:cNvSpPr/>
          <p:nvPr/>
        </p:nvSpPr>
        <p:spPr>
          <a:xfrm>
            <a:off x="8339328" y="4590288"/>
            <a:ext cx="2359152" cy="292608"/>
          </a:xfrm>
          <a:prstGeom prst="rect">
            <a:avLst/>
          </a:prstGeom>
          <a:noFill/>
          <a:ln/>
        </p:spPr>
        <p:txBody>
          <a:bodyPr wrap="square" lIns="0" tIns="0" rIns="0" bIns="0" rtlCol="0" anchor="ctr">
            <a:normAutofit/>
          </a:bodyPr>
          <a:lstStyle/>
          <a:p>
            <a:pPr indent="0" marL="0">
              <a:buNone/>
            </a:pPr>
            <a:r>
              <a:rPr lang="en-US" sz="1220" b="1" dirty="0">
                <a:solidFill>
                  <a:srgbClr val="FFFFFF"/>
                </a:solidFill>
                <a:latin typeface="Aptos" pitchFamily="34" charset="0"/>
                <a:ea typeface="Aptos" pitchFamily="34" charset="-122"/>
                <a:cs typeface="Aptos" pitchFamily="34" charset="-120"/>
              </a:rPr>
              <a:t>Clear about uncertainty</a:t>
            </a:r>
            <a:endParaRPr lang="en-US" sz="1220" dirty="0"/>
          </a:p>
        </p:txBody>
      </p:sp>
      <p:sp>
        <p:nvSpPr>
          <p:cNvPr id="25" name="Shape 23"/>
          <p:cNvSpPr/>
          <p:nvPr/>
        </p:nvSpPr>
        <p:spPr>
          <a:xfrm>
            <a:off x="987552" y="5815584"/>
            <a:ext cx="0" cy="429768"/>
          </a:xfrm>
          <a:prstGeom prst="line">
            <a:avLst/>
          </a:prstGeom>
          <a:noFill/>
          <a:ln w="27940">
            <a:solidFill>
              <a:srgbClr val="96E0C4"/>
            </a:solidFill>
            <a:prstDash val="solid"/>
          </a:ln>
        </p:spPr>
      </p:sp>
      <p:sp>
        <p:nvSpPr>
          <p:cNvPr id="26" name="Text 24"/>
          <p:cNvSpPr/>
          <p:nvPr/>
        </p:nvSpPr>
        <p:spPr>
          <a:xfrm>
            <a:off x="1188720" y="5806440"/>
            <a:ext cx="9765792" cy="411480"/>
          </a:xfrm>
          <a:prstGeom prst="rect">
            <a:avLst/>
          </a:prstGeom>
          <a:noFill/>
          <a:ln/>
        </p:spPr>
        <p:txBody>
          <a:bodyPr wrap="square" lIns="0" tIns="0" rIns="0" bIns="0" rtlCol="0" anchor="ctr">
            <a:normAutofit/>
          </a:bodyPr>
          <a:lstStyle/>
          <a:p>
            <a:pPr indent="0" marL="0">
              <a:buNone/>
            </a:pPr>
            <a:r>
              <a:rPr lang="en-US" sz="1280" b="1" dirty="0">
                <a:solidFill>
                  <a:srgbClr val="FFFFFF"/>
                </a:solidFill>
                <a:latin typeface="Aptos" pitchFamily="34" charset="0"/>
                <a:ea typeface="Aptos" pitchFamily="34" charset="-122"/>
                <a:cs typeface="Aptos" pitchFamily="34" charset="-120"/>
              </a:rPr>
              <a:t>Guardrail: </a:t>
            </a:r>
            <a:pPr indent="0" marL="0">
              <a:buNone/>
            </a:pPr>
            <a:r>
              <a:rPr lang="en-US" sz="1280" dirty="0">
                <a:solidFill>
                  <a:srgbClr val="D8E2E9"/>
                </a:solidFill>
                <a:latin typeface="Aptos" pitchFamily="34" charset="0"/>
                <a:ea typeface="Aptos" pitchFamily="34" charset="-122"/>
                <a:cs typeface="Aptos" pitchFamily="34" charset="-120"/>
              </a:rPr>
              <a:t>the chat can only answer from the knowledge base. No source = no policy claim.</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90A4"/>
                </a:solidFill>
                <a:latin typeface="Aptos"/>
                <a:ea typeface="Aptos"/>
                <a:cs typeface="Apto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96E0C4"/>
                </a:solidFill>
                <a:latin typeface="Aptos" pitchFamily="34" charset="0"/>
                <a:ea typeface="Aptos" pitchFamily="34" charset="-122"/>
                <a:cs typeface="Aptos" pitchFamily="34" charset="-120"/>
              </a:rPr>
              <a:t>USE • PLANNED NEXT</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30" b="1" dirty="0">
                <a:solidFill>
                  <a:srgbClr val="FFFFFF"/>
                </a:solidFill>
                <a:latin typeface="Aptos Display" pitchFamily="34" charset="0"/>
                <a:ea typeface="Aptos Display" pitchFamily="34" charset="-122"/>
                <a:cs typeface="Aptos Display" pitchFamily="34" charset="-120"/>
              </a:rPr>
              <a:t>Policy context for the anomaly summaries</a:t>
            </a:r>
            <a:endParaRPr lang="en-US" sz="2830" dirty="0"/>
          </a:p>
        </p:txBody>
      </p:sp>
      <p:sp>
        <p:nvSpPr>
          <p:cNvPr id="4" name="Shape 2"/>
          <p:cNvSpPr/>
          <p:nvPr/>
        </p:nvSpPr>
        <p:spPr>
          <a:xfrm>
            <a:off x="987552" y="2121408"/>
            <a:ext cx="2139696" cy="1609344"/>
          </a:xfrm>
          <a:prstGeom prst="roundRect">
            <a:avLst>
              <a:gd name="adj" fmla="val 2841"/>
            </a:avLst>
          </a:prstGeom>
          <a:solidFill>
            <a:srgbClr val="315B7F"/>
          </a:solidFill>
          <a:ln w="10160">
            <a:solidFill>
              <a:srgbClr val="4E7597"/>
            </a:solidFill>
            <a:prstDash val="solid"/>
          </a:ln>
        </p:spPr>
      </p:sp>
      <p:sp>
        <p:nvSpPr>
          <p:cNvPr id="5" name="Text 3"/>
          <p:cNvSpPr/>
          <p:nvPr/>
        </p:nvSpPr>
        <p:spPr>
          <a:xfrm>
            <a:off x="1170432" y="2322576"/>
            <a:ext cx="274320" cy="228600"/>
          </a:xfrm>
          <a:prstGeom prst="rect">
            <a:avLst/>
          </a:prstGeom>
          <a:noFill/>
          <a:ln/>
        </p:spPr>
        <p:txBody>
          <a:bodyPr wrap="square" lIns="0" tIns="0" rIns="0" bIns="0" rtlCol="0" anchor="t">
            <a:normAutofit/>
          </a:bodyPr>
          <a:lstStyle/>
          <a:p>
            <a:pPr indent="0" marL="0">
              <a:buNone/>
            </a:pPr>
            <a:r>
              <a:rPr lang="en-US" sz="1300" b="1" dirty="0">
                <a:solidFill>
                  <a:srgbClr val="96E0C4"/>
                </a:solidFill>
                <a:latin typeface="Aptos" pitchFamily="34" charset="0"/>
                <a:ea typeface="Aptos" pitchFamily="34" charset="-122"/>
                <a:cs typeface="Aptos" pitchFamily="34" charset="-120"/>
              </a:rPr>
              <a:t>1</a:t>
            </a:r>
            <a:endParaRPr lang="en-US" sz="1300" dirty="0"/>
          </a:p>
        </p:txBody>
      </p:sp>
      <p:sp>
        <p:nvSpPr>
          <p:cNvPr id="6" name="Text 4"/>
          <p:cNvSpPr/>
          <p:nvPr/>
        </p:nvSpPr>
        <p:spPr>
          <a:xfrm>
            <a:off x="1170432" y="2670048"/>
            <a:ext cx="1755648" cy="310896"/>
          </a:xfrm>
          <a:prstGeom prst="rect">
            <a:avLst/>
          </a:prstGeom>
          <a:noFill/>
          <a:ln/>
        </p:spPr>
        <p:txBody>
          <a:bodyPr wrap="square" lIns="0" tIns="0" rIns="0" bIns="0" rtlCol="0" anchor="ctr">
            <a:normAutofit/>
          </a:bodyPr>
          <a:lstStyle/>
          <a:p>
            <a:pPr indent="0" marL="0">
              <a:buNone/>
            </a:pPr>
            <a:r>
              <a:rPr lang="en-US" sz="1560" b="1" dirty="0">
                <a:solidFill>
                  <a:srgbClr val="FFFFFF"/>
                </a:solidFill>
                <a:latin typeface="Aptos Display" pitchFamily="34" charset="0"/>
                <a:ea typeface="Aptos Display" pitchFamily="34" charset="-122"/>
                <a:cs typeface="Aptos Display" pitchFamily="34" charset="-120"/>
              </a:rPr>
              <a:t>Anomaly model</a:t>
            </a:r>
            <a:endParaRPr lang="en-US" sz="1560" dirty="0"/>
          </a:p>
        </p:txBody>
      </p:sp>
      <p:sp>
        <p:nvSpPr>
          <p:cNvPr id="7" name="Text 5"/>
          <p:cNvSpPr/>
          <p:nvPr/>
        </p:nvSpPr>
        <p:spPr>
          <a:xfrm>
            <a:off x="1170432" y="3090672"/>
            <a:ext cx="1737360" cy="438912"/>
          </a:xfrm>
          <a:prstGeom prst="rect">
            <a:avLst/>
          </a:prstGeom>
          <a:noFill/>
          <a:ln/>
        </p:spPr>
        <p:txBody>
          <a:bodyPr wrap="square" lIns="0" tIns="0" rIns="0" bIns="0" rtlCol="0" anchor="t">
            <a:normAutofit/>
          </a:bodyPr>
          <a:lstStyle/>
          <a:p>
            <a:pPr indent="0" marL="0">
              <a:buNone/>
            </a:pPr>
            <a:r>
              <a:rPr lang="en-US" sz="1090" dirty="0">
                <a:solidFill>
                  <a:srgbClr val="DBE6EE"/>
                </a:solidFill>
                <a:latin typeface="Aptos" pitchFamily="34" charset="0"/>
                <a:ea typeface="Aptos" pitchFamily="34" charset="-122"/>
                <a:cs typeface="Aptos" pitchFamily="34" charset="-120"/>
              </a:rPr>
              <a:t>Shows what looks unusual.</a:t>
            </a:r>
            <a:endParaRPr lang="en-US" sz="1090" dirty="0"/>
          </a:p>
        </p:txBody>
      </p:sp>
      <p:sp>
        <p:nvSpPr>
          <p:cNvPr id="8" name="Shape 6"/>
          <p:cNvSpPr/>
          <p:nvPr/>
        </p:nvSpPr>
        <p:spPr>
          <a:xfrm>
            <a:off x="3401568" y="2121408"/>
            <a:ext cx="2139696" cy="1609344"/>
          </a:xfrm>
          <a:prstGeom prst="roundRect">
            <a:avLst>
              <a:gd name="adj" fmla="val 2841"/>
            </a:avLst>
          </a:prstGeom>
          <a:solidFill>
            <a:srgbClr val="315B7F"/>
          </a:solidFill>
          <a:ln w="10160">
            <a:solidFill>
              <a:srgbClr val="4E7597"/>
            </a:solidFill>
            <a:prstDash val="solid"/>
          </a:ln>
        </p:spPr>
      </p:sp>
      <p:sp>
        <p:nvSpPr>
          <p:cNvPr id="9" name="Text 7"/>
          <p:cNvSpPr/>
          <p:nvPr/>
        </p:nvSpPr>
        <p:spPr>
          <a:xfrm>
            <a:off x="3584448" y="2322576"/>
            <a:ext cx="274320" cy="228600"/>
          </a:xfrm>
          <a:prstGeom prst="rect">
            <a:avLst/>
          </a:prstGeom>
          <a:noFill/>
          <a:ln/>
        </p:spPr>
        <p:txBody>
          <a:bodyPr wrap="square" lIns="0" tIns="0" rIns="0" bIns="0" rtlCol="0" anchor="t">
            <a:normAutofit/>
          </a:bodyPr>
          <a:lstStyle/>
          <a:p>
            <a:pPr indent="0" marL="0">
              <a:buNone/>
            </a:pPr>
            <a:r>
              <a:rPr lang="en-US" sz="1300" b="1" dirty="0">
                <a:solidFill>
                  <a:srgbClr val="96E0C4"/>
                </a:solidFill>
                <a:latin typeface="Aptos" pitchFamily="34" charset="0"/>
                <a:ea typeface="Aptos" pitchFamily="34" charset="-122"/>
                <a:cs typeface="Aptos" pitchFamily="34" charset="-120"/>
              </a:rPr>
              <a:t>2</a:t>
            </a:r>
            <a:endParaRPr lang="en-US" sz="1300" dirty="0"/>
          </a:p>
        </p:txBody>
      </p:sp>
      <p:sp>
        <p:nvSpPr>
          <p:cNvPr id="10" name="Text 8"/>
          <p:cNvSpPr/>
          <p:nvPr/>
        </p:nvSpPr>
        <p:spPr>
          <a:xfrm>
            <a:off x="3584448" y="2670048"/>
            <a:ext cx="1755648" cy="310896"/>
          </a:xfrm>
          <a:prstGeom prst="rect">
            <a:avLst/>
          </a:prstGeom>
          <a:noFill/>
          <a:ln/>
        </p:spPr>
        <p:txBody>
          <a:bodyPr wrap="square" lIns="0" tIns="0" rIns="0" bIns="0" rtlCol="0" anchor="ctr">
            <a:normAutofit/>
          </a:bodyPr>
          <a:lstStyle/>
          <a:p>
            <a:pPr indent="0" marL="0">
              <a:buNone/>
            </a:pPr>
            <a:r>
              <a:rPr lang="en-US" sz="1560" b="1" dirty="0">
                <a:solidFill>
                  <a:srgbClr val="FFFFFF"/>
                </a:solidFill>
                <a:latin typeface="Aptos Display" pitchFamily="34" charset="0"/>
                <a:ea typeface="Aptos Display" pitchFamily="34" charset="-122"/>
                <a:cs typeface="Aptos Display" pitchFamily="34" charset="-120"/>
              </a:rPr>
              <a:t>Knowledge base</a:t>
            </a:r>
            <a:endParaRPr lang="en-US" sz="1560" dirty="0"/>
          </a:p>
        </p:txBody>
      </p:sp>
      <p:sp>
        <p:nvSpPr>
          <p:cNvPr id="11" name="Text 9"/>
          <p:cNvSpPr/>
          <p:nvPr/>
        </p:nvSpPr>
        <p:spPr>
          <a:xfrm>
            <a:off x="3584448" y="3090672"/>
            <a:ext cx="1737360" cy="438912"/>
          </a:xfrm>
          <a:prstGeom prst="rect">
            <a:avLst/>
          </a:prstGeom>
          <a:noFill/>
          <a:ln/>
        </p:spPr>
        <p:txBody>
          <a:bodyPr wrap="square" lIns="0" tIns="0" rIns="0" bIns="0" rtlCol="0" anchor="t">
            <a:normAutofit/>
          </a:bodyPr>
          <a:lstStyle/>
          <a:p>
            <a:pPr indent="0" marL="0">
              <a:buNone/>
            </a:pPr>
            <a:r>
              <a:rPr lang="en-US" sz="1090" dirty="0">
                <a:solidFill>
                  <a:srgbClr val="DBE6EE"/>
                </a:solidFill>
                <a:latin typeface="Aptos" pitchFamily="34" charset="0"/>
                <a:ea typeface="Aptos" pitchFamily="34" charset="-122"/>
                <a:cs typeface="Aptos" pitchFamily="34" charset="-120"/>
              </a:rPr>
              <a:t>Finds relevant policy for the provider, codes and date.</a:t>
            </a:r>
            <a:endParaRPr lang="en-US" sz="1090" dirty="0"/>
          </a:p>
        </p:txBody>
      </p:sp>
      <p:sp>
        <p:nvSpPr>
          <p:cNvPr id="12" name="Shape 10"/>
          <p:cNvSpPr/>
          <p:nvPr/>
        </p:nvSpPr>
        <p:spPr>
          <a:xfrm>
            <a:off x="5815584" y="2121408"/>
            <a:ext cx="2139696" cy="1609344"/>
          </a:xfrm>
          <a:prstGeom prst="roundRect">
            <a:avLst>
              <a:gd name="adj" fmla="val 2841"/>
            </a:avLst>
          </a:prstGeom>
          <a:solidFill>
            <a:srgbClr val="315B7F"/>
          </a:solidFill>
          <a:ln w="10160">
            <a:solidFill>
              <a:srgbClr val="4E7597"/>
            </a:solidFill>
            <a:prstDash val="solid"/>
          </a:ln>
        </p:spPr>
      </p:sp>
      <p:sp>
        <p:nvSpPr>
          <p:cNvPr id="13" name="Text 11"/>
          <p:cNvSpPr/>
          <p:nvPr/>
        </p:nvSpPr>
        <p:spPr>
          <a:xfrm>
            <a:off x="5998464" y="2322576"/>
            <a:ext cx="274320" cy="228600"/>
          </a:xfrm>
          <a:prstGeom prst="rect">
            <a:avLst/>
          </a:prstGeom>
          <a:noFill/>
          <a:ln/>
        </p:spPr>
        <p:txBody>
          <a:bodyPr wrap="square" lIns="0" tIns="0" rIns="0" bIns="0" rtlCol="0" anchor="t">
            <a:normAutofit/>
          </a:bodyPr>
          <a:lstStyle/>
          <a:p>
            <a:pPr indent="0" marL="0">
              <a:buNone/>
            </a:pPr>
            <a:r>
              <a:rPr lang="en-US" sz="1300" b="1" dirty="0">
                <a:solidFill>
                  <a:srgbClr val="96E0C4"/>
                </a:solidFill>
                <a:latin typeface="Aptos" pitchFamily="34" charset="0"/>
                <a:ea typeface="Aptos" pitchFamily="34" charset="-122"/>
                <a:cs typeface="Aptos" pitchFamily="34" charset="-120"/>
              </a:rPr>
              <a:t>3</a:t>
            </a:r>
            <a:endParaRPr lang="en-US" sz="1300" dirty="0"/>
          </a:p>
        </p:txBody>
      </p:sp>
      <p:sp>
        <p:nvSpPr>
          <p:cNvPr id="14" name="Text 12"/>
          <p:cNvSpPr/>
          <p:nvPr/>
        </p:nvSpPr>
        <p:spPr>
          <a:xfrm>
            <a:off x="5998464" y="2670048"/>
            <a:ext cx="1755648" cy="310896"/>
          </a:xfrm>
          <a:prstGeom prst="rect">
            <a:avLst/>
          </a:prstGeom>
          <a:noFill/>
          <a:ln/>
        </p:spPr>
        <p:txBody>
          <a:bodyPr wrap="square" lIns="0" tIns="0" rIns="0" bIns="0" rtlCol="0" anchor="ctr">
            <a:normAutofit/>
          </a:bodyPr>
          <a:lstStyle/>
          <a:p>
            <a:pPr indent="0" marL="0">
              <a:buNone/>
            </a:pPr>
            <a:r>
              <a:rPr lang="en-US" sz="1560" b="1" dirty="0">
                <a:solidFill>
                  <a:srgbClr val="FFFFFF"/>
                </a:solidFill>
                <a:latin typeface="Aptos Display" pitchFamily="34" charset="0"/>
                <a:ea typeface="Aptos Display" pitchFamily="34" charset="-122"/>
                <a:cs typeface="Aptos Display" pitchFamily="34" charset="-120"/>
              </a:rPr>
              <a:t>Summary</a:t>
            </a:r>
            <a:endParaRPr lang="en-US" sz="1560" dirty="0"/>
          </a:p>
        </p:txBody>
      </p:sp>
      <p:sp>
        <p:nvSpPr>
          <p:cNvPr id="15" name="Text 13"/>
          <p:cNvSpPr/>
          <p:nvPr/>
        </p:nvSpPr>
        <p:spPr>
          <a:xfrm>
            <a:off x="5998464" y="3090672"/>
            <a:ext cx="1737360" cy="438912"/>
          </a:xfrm>
          <a:prstGeom prst="rect">
            <a:avLst/>
          </a:prstGeom>
          <a:noFill/>
          <a:ln/>
        </p:spPr>
        <p:txBody>
          <a:bodyPr wrap="square" lIns="0" tIns="0" rIns="0" bIns="0" rtlCol="0" anchor="t">
            <a:normAutofit/>
          </a:bodyPr>
          <a:lstStyle/>
          <a:p>
            <a:pPr indent="0" marL="0">
              <a:buNone/>
            </a:pPr>
            <a:r>
              <a:rPr lang="en-US" sz="1090" dirty="0">
                <a:solidFill>
                  <a:srgbClr val="DBE6EE"/>
                </a:solidFill>
                <a:latin typeface="Aptos" pitchFamily="34" charset="0"/>
                <a:ea typeface="Aptos" pitchFamily="34" charset="-122"/>
                <a:cs typeface="Aptos" pitchFamily="34" charset="-120"/>
              </a:rPr>
              <a:t>Adds policy context only when supported.</a:t>
            </a:r>
            <a:endParaRPr lang="en-US" sz="1090" dirty="0"/>
          </a:p>
        </p:txBody>
      </p:sp>
      <p:sp>
        <p:nvSpPr>
          <p:cNvPr id="16" name="Shape 14"/>
          <p:cNvSpPr/>
          <p:nvPr/>
        </p:nvSpPr>
        <p:spPr>
          <a:xfrm>
            <a:off x="8229600" y="2121408"/>
            <a:ext cx="2139696" cy="1609344"/>
          </a:xfrm>
          <a:prstGeom prst="roundRect">
            <a:avLst>
              <a:gd name="adj" fmla="val 2841"/>
            </a:avLst>
          </a:prstGeom>
          <a:solidFill>
            <a:srgbClr val="315B7F"/>
          </a:solidFill>
          <a:ln w="10160">
            <a:solidFill>
              <a:srgbClr val="4E7597"/>
            </a:solidFill>
            <a:prstDash val="solid"/>
          </a:ln>
        </p:spPr>
      </p:sp>
      <p:sp>
        <p:nvSpPr>
          <p:cNvPr id="17" name="Text 15"/>
          <p:cNvSpPr/>
          <p:nvPr/>
        </p:nvSpPr>
        <p:spPr>
          <a:xfrm>
            <a:off x="8412480" y="2322576"/>
            <a:ext cx="274320" cy="228600"/>
          </a:xfrm>
          <a:prstGeom prst="rect">
            <a:avLst/>
          </a:prstGeom>
          <a:noFill/>
          <a:ln/>
        </p:spPr>
        <p:txBody>
          <a:bodyPr wrap="square" lIns="0" tIns="0" rIns="0" bIns="0" rtlCol="0" anchor="t">
            <a:normAutofit/>
          </a:bodyPr>
          <a:lstStyle/>
          <a:p>
            <a:pPr indent="0" marL="0">
              <a:buNone/>
            </a:pPr>
            <a:r>
              <a:rPr lang="en-US" sz="1300" b="1" dirty="0">
                <a:solidFill>
                  <a:srgbClr val="96E0C4"/>
                </a:solidFill>
                <a:latin typeface="Aptos" pitchFamily="34" charset="0"/>
                <a:ea typeface="Aptos" pitchFamily="34" charset="-122"/>
                <a:cs typeface="Aptos" pitchFamily="34" charset="-120"/>
              </a:rPr>
              <a:t>4</a:t>
            </a:r>
            <a:endParaRPr lang="en-US" sz="1300" dirty="0"/>
          </a:p>
        </p:txBody>
      </p:sp>
      <p:sp>
        <p:nvSpPr>
          <p:cNvPr id="18" name="Text 16"/>
          <p:cNvSpPr/>
          <p:nvPr/>
        </p:nvSpPr>
        <p:spPr>
          <a:xfrm>
            <a:off x="8412480" y="2670048"/>
            <a:ext cx="1755648" cy="310896"/>
          </a:xfrm>
          <a:prstGeom prst="rect">
            <a:avLst/>
          </a:prstGeom>
          <a:noFill/>
          <a:ln/>
        </p:spPr>
        <p:txBody>
          <a:bodyPr wrap="square" lIns="0" tIns="0" rIns="0" bIns="0" rtlCol="0" anchor="ctr">
            <a:normAutofit/>
          </a:bodyPr>
          <a:lstStyle/>
          <a:p>
            <a:pPr indent="0" marL="0">
              <a:buNone/>
            </a:pPr>
            <a:r>
              <a:rPr lang="en-US" sz="1560" b="1" dirty="0">
                <a:solidFill>
                  <a:srgbClr val="FFFFFF"/>
                </a:solidFill>
                <a:latin typeface="Aptos Display" pitchFamily="34" charset="0"/>
                <a:ea typeface="Aptos Display" pitchFamily="34" charset="-122"/>
                <a:cs typeface="Aptos Display" pitchFamily="34" charset="-120"/>
              </a:rPr>
              <a:t>Investigator</a:t>
            </a:r>
            <a:endParaRPr lang="en-US" sz="1560" dirty="0"/>
          </a:p>
        </p:txBody>
      </p:sp>
      <p:sp>
        <p:nvSpPr>
          <p:cNvPr id="19" name="Text 17"/>
          <p:cNvSpPr/>
          <p:nvPr/>
        </p:nvSpPr>
        <p:spPr>
          <a:xfrm>
            <a:off x="8412480" y="3090672"/>
            <a:ext cx="1737360" cy="438912"/>
          </a:xfrm>
          <a:prstGeom prst="rect">
            <a:avLst/>
          </a:prstGeom>
          <a:noFill/>
          <a:ln/>
        </p:spPr>
        <p:txBody>
          <a:bodyPr wrap="square" lIns="0" tIns="0" rIns="0" bIns="0" rtlCol="0" anchor="t">
            <a:normAutofit/>
          </a:bodyPr>
          <a:lstStyle/>
          <a:p>
            <a:pPr indent="0" marL="0">
              <a:buNone/>
            </a:pPr>
            <a:r>
              <a:rPr lang="en-US" sz="1090" dirty="0">
                <a:solidFill>
                  <a:srgbClr val="DBE6EE"/>
                </a:solidFill>
                <a:latin typeface="Aptos" pitchFamily="34" charset="0"/>
                <a:ea typeface="Aptos" pitchFamily="34" charset="-122"/>
                <a:cs typeface="Aptos" pitchFamily="34" charset="-120"/>
              </a:rPr>
              <a:t>Sees the unusual pattern and the policy reason together.</a:t>
            </a:r>
            <a:endParaRPr lang="en-US" sz="1090" dirty="0"/>
          </a:p>
        </p:txBody>
      </p:sp>
      <p:sp>
        <p:nvSpPr>
          <p:cNvPr id="20" name="Text 18"/>
          <p:cNvSpPr/>
          <p:nvPr/>
        </p:nvSpPr>
        <p:spPr>
          <a:xfrm>
            <a:off x="987552" y="4261104"/>
            <a:ext cx="548640" cy="201168"/>
          </a:xfrm>
          <a:prstGeom prst="rect">
            <a:avLst/>
          </a:prstGeom>
          <a:noFill/>
          <a:ln/>
        </p:spPr>
        <p:txBody>
          <a:bodyPr wrap="square" lIns="0" tIns="0" rIns="0" bIns="0" rtlCol="0" anchor="ctr">
            <a:normAutofit/>
          </a:bodyPr>
          <a:lstStyle/>
          <a:p>
            <a:pPr indent="0" marL="0">
              <a:buNone/>
            </a:pPr>
            <a:r>
              <a:rPr lang="en-US" sz="1020" b="1" spc="70" kern="0" dirty="0">
                <a:solidFill>
                  <a:srgbClr val="96E0C4"/>
                </a:solidFill>
                <a:latin typeface="Aptos" pitchFamily="34" charset="0"/>
                <a:ea typeface="Aptos" pitchFamily="34" charset="-122"/>
                <a:cs typeface="Aptos" pitchFamily="34" charset="-120"/>
              </a:rPr>
              <a:t>WHY</a:t>
            </a:r>
            <a:endParaRPr lang="en-US" sz="1020" dirty="0"/>
          </a:p>
        </p:txBody>
      </p:sp>
      <p:sp>
        <p:nvSpPr>
          <p:cNvPr id="21" name="Text 19"/>
          <p:cNvSpPr/>
          <p:nvPr/>
        </p:nvSpPr>
        <p:spPr>
          <a:xfrm>
            <a:off x="987552" y="4572000"/>
            <a:ext cx="4937760" cy="822960"/>
          </a:xfrm>
          <a:prstGeom prst="rect">
            <a:avLst/>
          </a:prstGeom>
          <a:noFill/>
          <a:ln/>
        </p:spPr>
        <p:txBody>
          <a:bodyPr wrap="square" lIns="0" tIns="0" rIns="0" bIns="0" rtlCol="0" anchor="t">
            <a:normAutofit/>
          </a:bodyPr>
          <a:lstStyle/>
          <a:p>
            <a:pPr indent="0" marL="0">
              <a:buNone/>
            </a:pPr>
            <a:r>
              <a:rPr lang="en-US" sz="1170" dirty="0">
                <a:solidFill>
                  <a:srgbClr val="E7EEF3"/>
                </a:solidFill>
                <a:latin typeface="Aptos" pitchFamily="34" charset="0"/>
                <a:ea typeface="Aptos" pitchFamily="34" charset="-122"/>
                <a:cs typeface="Aptos" pitchFamily="34" charset="-120"/>
              </a:rPr>
              <a:t>Today a summary can say a provider bills more of a code than peers. With policy intelligence, it can add the relevant limit, rule or restriction—when supported.</a:t>
            </a:r>
            <a:endParaRPr lang="en-US" sz="1170" dirty="0"/>
          </a:p>
        </p:txBody>
      </p:sp>
      <p:sp>
        <p:nvSpPr>
          <p:cNvPr id="22" name="Text 20"/>
          <p:cNvSpPr/>
          <p:nvPr/>
        </p:nvSpPr>
        <p:spPr>
          <a:xfrm>
            <a:off x="6291072" y="4261104"/>
            <a:ext cx="1188720" cy="201168"/>
          </a:xfrm>
          <a:prstGeom prst="rect">
            <a:avLst/>
          </a:prstGeom>
          <a:noFill/>
          <a:ln/>
        </p:spPr>
        <p:txBody>
          <a:bodyPr wrap="square" lIns="0" tIns="0" rIns="0" bIns="0" rtlCol="0" anchor="ctr">
            <a:normAutofit/>
          </a:bodyPr>
          <a:lstStyle/>
          <a:p>
            <a:pPr indent="0" marL="0">
              <a:buNone/>
            </a:pPr>
            <a:r>
              <a:rPr lang="en-US" sz="1020" b="1" spc="70" kern="0" dirty="0">
                <a:solidFill>
                  <a:srgbClr val="96E0C4"/>
                </a:solidFill>
                <a:latin typeface="Aptos" pitchFamily="34" charset="0"/>
                <a:ea typeface="Aptos" pitchFamily="34" charset="-122"/>
                <a:cs typeface="Aptos" pitchFamily="34" charset="-120"/>
              </a:rPr>
              <a:t>GUARDRAILS</a:t>
            </a:r>
            <a:endParaRPr lang="en-US" sz="1020" dirty="0"/>
          </a:p>
        </p:txBody>
      </p:sp>
      <p:sp>
        <p:nvSpPr>
          <p:cNvPr id="23" name="Text 21"/>
          <p:cNvSpPr/>
          <p:nvPr/>
        </p:nvSpPr>
        <p:spPr>
          <a:xfrm>
            <a:off x="6291072" y="4572000"/>
            <a:ext cx="4498848" cy="822960"/>
          </a:xfrm>
          <a:prstGeom prst="rect">
            <a:avLst/>
          </a:prstGeom>
          <a:noFill/>
          <a:ln/>
        </p:spPr>
        <p:txBody>
          <a:bodyPr wrap="square" lIns="0" tIns="0" rIns="0" bIns="0" rtlCol="0" anchor="t">
            <a:normAutofit/>
          </a:bodyPr>
          <a:lstStyle/>
          <a:p>
            <a:pPr indent="0" marL="0">
              <a:buNone/>
            </a:pPr>
            <a:r>
              <a:rPr lang="en-US" sz="1170" dirty="0">
                <a:solidFill>
                  <a:srgbClr val="E7EEF3"/>
                </a:solidFill>
                <a:latin typeface="Aptos" pitchFamily="34" charset="0"/>
                <a:ea typeface="Aptos" pitchFamily="34" charset="-122"/>
                <a:cs typeface="Aptos" pitchFamily="34" charset="-120"/>
              </a:rPr>
              <a:t>No unapproved rule. No policy claim without a source. The knowledge base remains the authority for what the summary is allowed to say.</a:t>
            </a:r>
            <a:endParaRPr lang="en-US" sz="1170" dirty="0"/>
          </a:p>
        </p:txBody>
      </p:sp>
      <p:sp>
        <p:nvSpPr>
          <p:cNvPr id="24" name="Text 22"/>
          <p:cNvSpPr/>
          <p:nvPr/>
        </p:nvSpPr>
        <p:spPr>
          <a:xfrm>
            <a:off x="987552" y="5916168"/>
            <a:ext cx="6035040" cy="274320"/>
          </a:xfrm>
          <a:prstGeom prst="rect">
            <a:avLst/>
          </a:prstGeom>
          <a:noFill/>
          <a:ln/>
        </p:spPr>
        <p:txBody>
          <a:bodyPr wrap="square" lIns="0" tIns="0" rIns="0" bIns="0" rtlCol="0" anchor="t">
            <a:normAutofit/>
          </a:bodyPr>
          <a:lstStyle/>
          <a:p>
            <a:pPr indent="0" marL="0">
              <a:buNone/>
            </a:pPr>
            <a:r>
              <a:rPr lang="en-US" sz="1070" b="1" dirty="0">
                <a:solidFill>
                  <a:srgbClr val="E7B18F"/>
                </a:solidFill>
                <a:latin typeface="Aptos" pitchFamily="34" charset="0"/>
                <a:ea typeface="Aptos" pitchFamily="34" charset="-122"/>
                <a:cs typeface="Aptos" pitchFamily="34" charset="-120"/>
              </a:rPr>
              <a:t>Planned integration after the rule library is validated.</a:t>
            </a:r>
            <a:endParaRPr lang="en-US" sz="107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990A4"/>
                </a:solidFill>
                <a:latin typeface="Aptos"/>
                <a:ea typeface="Aptos"/>
                <a:cs typeface="Apto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87552" y="658368"/>
            <a:ext cx="5212080" cy="219456"/>
          </a:xfrm>
          <a:prstGeom prst="rect">
            <a:avLst/>
          </a:prstGeom>
          <a:noFill/>
          <a:ln/>
        </p:spPr>
        <p:txBody>
          <a:bodyPr wrap="square" lIns="0" tIns="0" rIns="0" bIns="0" rtlCol="0" anchor="ctr"/>
          <a:lstStyle/>
          <a:p>
            <a:pPr indent="0" marL="0">
              <a:buNone/>
            </a:pPr>
            <a:r>
              <a:rPr lang="en-US" sz="1050" b="1" spc="140" kern="0" dirty="0">
                <a:solidFill>
                  <a:srgbClr val="5E6B70"/>
                </a:solidFill>
                <a:latin typeface="Aptos" pitchFamily="34" charset="0"/>
                <a:ea typeface="Aptos" pitchFamily="34" charset="-122"/>
                <a:cs typeface="Aptos" pitchFamily="34" charset="-120"/>
              </a:rPr>
              <a:t>NEXT</a:t>
            </a:r>
            <a:endParaRPr lang="en-US" sz="1050" dirty="0"/>
          </a:p>
        </p:txBody>
      </p:sp>
      <p:sp>
        <p:nvSpPr>
          <p:cNvPr id="3" name="Text 1"/>
          <p:cNvSpPr/>
          <p:nvPr/>
        </p:nvSpPr>
        <p:spPr>
          <a:xfrm>
            <a:off x="987552" y="987552"/>
            <a:ext cx="10332720" cy="566928"/>
          </a:xfrm>
          <a:prstGeom prst="rect">
            <a:avLst/>
          </a:prstGeom>
          <a:noFill/>
          <a:ln/>
        </p:spPr>
        <p:txBody>
          <a:bodyPr wrap="square" lIns="0" tIns="0" rIns="0" bIns="0" rtlCol="0" anchor="ctr">
            <a:normAutofit/>
          </a:bodyPr>
          <a:lstStyle/>
          <a:p>
            <a:pPr indent="0" marL="0">
              <a:buNone/>
            </a:pPr>
            <a:r>
              <a:rPr lang="en-US" sz="2850" b="1" dirty="0">
                <a:solidFill>
                  <a:srgbClr val="20262E"/>
                </a:solidFill>
                <a:latin typeface="Aptos Display" pitchFamily="34" charset="0"/>
                <a:ea typeface="Aptos Display" pitchFamily="34" charset="-122"/>
                <a:cs typeface="Aptos Display" pitchFamily="34" charset="-120"/>
              </a:rPr>
              <a:t>Where we stand, and what comes next</a:t>
            </a:r>
            <a:endParaRPr lang="en-US" sz="2850" dirty="0"/>
          </a:p>
        </p:txBody>
      </p:sp>
      <p:sp>
        <p:nvSpPr>
          <p:cNvPr id="4" name="Shape 2"/>
          <p:cNvSpPr/>
          <p:nvPr/>
        </p:nvSpPr>
        <p:spPr>
          <a:xfrm>
            <a:off x="987552" y="1764792"/>
            <a:ext cx="2688336" cy="493776"/>
          </a:xfrm>
          <a:prstGeom prst="roundRect">
            <a:avLst>
              <a:gd name="adj" fmla="val 9259"/>
            </a:avLst>
          </a:prstGeom>
          <a:solidFill>
            <a:srgbClr val="DDEDE7"/>
          </a:solidFill>
          <a:ln w="10160">
            <a:solidFill>
              <a:srgbClr val="DDEDE7"/>
            </a:solidFill>
            <a:prstDash val="solid"/>
          </a:ln>
        </p:spPr>
      </p:sp>
      <p:sp>
        <p:nvSpPr>
          <p:cNvPr id="5" name="Text 3"/>
          <p:cNvSpPr/>
          <p:nvPr/>
        </p:nvSpPr>
        <p:spPr>
          <a:xfrm>
            <a:off x="1152144" y="1892808"/>
            <a:ext cx="2359152" cy="219456"/>
          </a:xfrm>
          <a:prstGeom prst="rect">
            <a:avLst/>
          </a:prstGeom>
          <a:noFill/>
          <a:ln/>
        </p:spPr>
        <p:txBody>
          <a:bodyPr wrap="square" lIns="0" tIns="0" rIns="0" bIns="0" rtlCol="0" anchor="ctr">
            <a:normAutofit/>
          </a:bodyPr>
          <a:lstStyle/>
          <a:p>
            <a:pPr indent="0" marL="0">
              <a:buNone/>
            </a:pPr>
            <a:r>
              <a:rPr lang="en-US" sz="1140" b="1" dirty="0">
                <a:solidFill>
                  <a:srgbClr val="2E806C"/>
                </a:solidFill>
                <a:latin typeface="Aptos" pitchFamily="34" charset="0"/>
                <a:ea typeface="Aptos" pitchFamily="34" charset="-122"/>
                <a:cs typeface="Aptos" pitchFamily="34" charset="-120"/>
              </a:rPr>
              <a:t>Foundation built</a:t>
            </a:r>
            <a:endParaRPr lang="en-US" sz="1140" dirty="0"/>
          </a:p>
        </p:txBody>
      </p:sp>
      <p:sp>
        <p:nvSpPr>
          <p:cNvPr id="6" name="Shape 4"/>
          <p:cNvSpPr/>
          <p:nvPr/>
        </p:nvSpPr>
        <p:spPr>
          <a:xfrm>
            <a:off x="3968496" y="1764792"/>
            <a:ext cx="3163824" cy="493776"/>
          </a:xfrm>
          <a:prstGeom prst="roundRect">
            <a:avLst>
              <a:gd name="adj" fmla="val 9259"/>
            </a:avLst>
          </a:prstGeom>
          <a:solidFill>
            <a:srgbClr val="F6EADF"/>
          </a:solidFill>
          <a:ln w="10160">
            <a:solidFill>
              <a:srgbClr val="F6EADF"/>
            </a:solidFill>
            <a:prstDash val="solid"/>
          </a:ln>
        </p:spPr>
      </p:sp>
      <p:sp>
        <p:nvSpPr>
          <p:cNvPr id="7" name="Text 5"/>
          <p:cNvSpPr/>
          <p:nvPr/>
        </p:nvSpPr>
        <p:spPr>
          <a:xfrm>
            <a:off x="4133088" y="1892808"/>
            <a:ext cx="2834640" cy="219456"/>
          </a:xfrm>
          <a:prstGeom prst="rect">
            <a:avLst/>
          </a:prstGeom>
          <a:noFill/>
          <a:ln/>
        </p:spPr>
        <p:txBody>
          <a:bodyPr wrap="square" lIns="0" tIns="0" rIns="0" bIns="0" rtlCol="0" anchor="ctr">
            <a:normAutofit/>
          </a:bodyPr>
          <a:lstStyle/>
          <a:p>
            <a:pPr indent="0" marL="0">
              <a:buNone/>
            </a:pPr>
            <a:r>
              <a:rPr lang="en-US" sz="1140" b="1" dirty="0">
                <a:solidFill>
                  <a:srgbClr val="BC6333"/>
                </a:solidFill>
                <a:latin typeface="Aptos" pitchFamily="34" charset="0"/>
                <a:ea typeface="Aptos" pitchFamily="34" charset="-122"/>
                <a:cs typeface="Aptos" pitchFamily="34" charset="-120"/>
              </a:rPr>
              <a:t>Completeness being measured</a:t>
            </a:r>
            <a:endParaRPr lang="en-US" sz="1140" dirty="0"/>
          </a:p>
        </p:txBody>
      </p:sp>
      <p:sp>
        <p:nvSpPr>
          <p:cNvPr id="8" name="Shape 6"/>
          <p:cNvSpPr/>
          <p:nvPr/>
        </p:nvSpPr>
        <p:spPr>
          <a:xfrm>
            <a:off x="7571232" y="1764792"/>
            <a:ext cx="2688336" cy="493776"/>
          </a:xfrm>
          <a:prstGeom prst="roundRect">
            <a:avLst>
              <a:gd name="adj" fmla="val 9259"/>
            </a:avLst>
          </a:prstGeom>
          <a:solidFill>
            <a:srgbClr val="ECEBE6"/>
          </a:solidFill>
          <a:ln w="10160">
            <a:solidFill>
              <a:srgbClr val="ECEBE6"/>
            </a:solidFill>
            <a:prstDash val="solid"/>
          </a:ln>
        </p:spPr>
      </p:sp>
      <p:sp>
        <p:nvSpPr>
          <p:cNvPr id="9" name="Text 7"/>
          <p:cNvSpPr/>
          <p:nvPr/>
        </p:nvSpPr>
        <p:spPr>
          <a:xfrm>
            <a:off x="7735824" y="1892808"/>
            <a:ext cx="2359152" cy="219456"/>
          </a:xfrm>
          <a:prstGeom prst="rect">
            <a:avLst/>
          </a:prstGeom>
          <a:noFill/>
          <a:ln/>
        </p:spPr>
        <p:txBody>
          <a:bodyPr wrap="square" lIns="0" tIns="0" rIns="0" bIns="0" rtlCol="0" anchor="ctr">
            <a:normAutofit/>
          </a:bodyPr>
          <a:lstStyle/>
          <a:p>
            <a:pPr indent="0" marL="0">
              <a:buNone/>
            </a:pPr>
            <a:r>
              <a:rPr lang="en-US" sz="1140" b="1" dirty="0">
                <a:solidFill>
                  <a:srgbClr val="697079"/>
                </a:solidFill>
                <a:latin typeface="Aptos" pitchFamily="34" charset="0"/>
                <a:ea typeface="Aptos" pitchFamily="34" charset="-122"/>
                <a:cs typeface="Aptos" pitchFamily="34" charset="-120"/>
              </a:rPr>
              <a:t>More sources coming</a:t>
            </a:r>
            <a:endParaRPr lang="en-US" sz="1140" dirty="0"/>
          </a:p>
        </p:txBody>
      </p:sp>
      <p:sp>
        <p:nvSpPr>
          <p:cNvPr id="10" name="Shape 8"/>
          <p:cNvSpPr/>
          <p:nvPr/>
        </p:nvSpPr>
        <p:spPr>
          <a:xfrm>
            <a:off x="987552" y="2523744"/>
            <a:ext cx="2816352" cy="2697480"/>
          </a:xfrm>
          <a:prstGeom prst="roundRect">
            <a:avLst>
              <a:gd name="adj" fmla="val 1695"/>
            </a:avLst>
          </a:prstGeom>
          <a:solidFill>
            <a:srgbClr val="F1F0EB"/>
          </a:solidFill>
          <a:ln w="10160">
            <a:solidFill>
              <a:srgbClr val="ECEAE4"/>
            </a:solidFill>
            <a:prstDash val="solid"/>
          </a:ln>
        </p:spPr>
      </p:sp>
      <p:sp>
        <p:nvSpPr>
          <p:cNvPr id="11" name="Text 9"/>
          <p:cNvSpPr/>
          <p:nvPr/>
        </p:nvSpPr>
        <p:spPr>
          <a:xfrm>
            <a:off x="1188720" y="2779776"/>
            <a:ext cx="822960" cy="201168"/>
          </a:xfrm>
          <a:prstGeom prst="rect">
            <a:avLst/>
          </a:prstGeom>
          <a:noFill/>
          <a:ln/>
        </p:spPr>
        <p:txBody>
          <a:bodyPr wrap="square" lIns="0" tIns="0" rIns="0" bIns="0" rtlCol="0" anchor="ctr">
            <a:normAutofit/>
          </a:bodyPr>
          <a:lstStyle/>
          <a:p>
            <a:pPr indent="0" marL="0">
              <a:buNone/>
            </a:pPr>
            <a:r>
              <a:rPr lang="en-US" sz="1020" b="1" spc="70" kern="0" dirty="0">
                <a:solidFill>
                  <a:srgbClr val="2E806C"/>
                </a:solidFill>
                <a:latin typeface="Aptos" pitchFamily="34" charset="0"/>
                <a:ea typeface="Aptos" pitchFamily="34" charset="-122"/>
                <a:cs typeface="Aptos" pitchFamily="34" charset="-120"/>
              </a:rPr>
              <a:t>NOW</a:t>
            </a:r>
            <a:endParaRPr lang="en-US" sz="1020" dirty="0"/>
          </a:p>
        </p:txBody>
      </p:sp>
      <p:sp>
        <p:nvSpPr>
          <p:cNvPr id="12" name="Text 10"/>
          <p:cNvSpPr/>
          <p:nvPr/>
        </p:nvSpPr>
        <p:spPr>
          <a:xfrm>
            <a:off x="1188720" y="3136392"/>
            <a:ext cx="2331720" cy="329184"/>
          </a:xfrm>
          <a:prstGeom prst="rect">
            <a:avLst/>
          </a:prstGeom>
          <a:noFill/>
          <a:ln/>
        </p:spPr>
        <p:txBody>
          <a:bodyPr wrap="square" lIns="0" tIns="0" rIns="0" bIns="0" rtlCol="0" anchor="ctr">
            <a:normAutofit/>
          </a:bodyPr>
          <a:lstStyle/>
          <a:p>
            <a:pPr indent="0" marL="0">
              <a:buNone/>
            </a:pPr>
            <a:r>
              <a:rPr lang="en-US" sz="1670" b="1" dirty="0">
                <a:solidFill>
                  <a:srgbClr val="20262E"/>
                </a:solidFill>
                <a:latin typeface="Aptos Display" pitchFamily="34" charset="0"/>
                <a:ea typeface="Aptos Display" pitchFamily="34" charset="-122"/>
                <a:cs typeface="Aptos Display" pitchFamily="34" charset="-120"/>
              </a:rPr>
              <a:t>Prove the extraction</a:t>
            </a:r>
            <a:endParaRPr lang="en-US" sz="1670" dirty="0"/>
          </a:p>
        </p:txBody>
      </p:sp>
      <p:sp>
        <p:nvSpPr>
          <p:cNvPr id="13" name="Text 11"/>
          <p:cNvSpPr/>
          <p:nvPr/>
        </p:nvSpPr>
        <p:spPr>
          <a:xfrm>
            <a:off x="1188720" y="3621024"/>
            <a:ext cx="2359152" cy="1335024"/>
          </a:xfrm>
          <a:prstGeom prst="rect">
            <a:avLst/>
          </a:prstGeom>
          <a:noFill/>
          <a:ln/>
        </p:spPr>
        <p:txBody>
          <a:bodyPr wrap="square" lIns="254" tIns="254" rIns="254" bIns="254" rtlCol="0" anchor="ctr">
            <a:normAutofit/>
          </a:bodyPr>
          <a:lstStyle/>
          <a:p>
            <a:pPr marL="127000" indent="-127000">
              <a:buSzPct val="100000"/>
              <a:buChar char="•"/>
            </a:pPr>
            <a:r>
              <a:rPr lang="en-US" sz="1120" dirty="0">
                <a:solidFill>
                  <a:srgbClr val="555D64"/>
                </a:solidFill>
                <a:latin typeface="Aptos" pitchFamily="34" charset="0"/>
                <a:ea typeface="Aptos" pitchFamily="34" charset="-122"/>
                <a:cs typeface="Aptos" pitchFamily="34" charset="-120"/>
              </a:rPr>
              <a:t>Rerun the improved extractor across all chapters.</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Build an SME gold standard: what should be found vs what was missed.</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Validate complex pages, tables and the completeness measurement.</a:t>
            </a:r>
            <a:endParaRPr lang="en-US" sz="1120" dirty="0"/>
          </a:p>
        </p:txBody>
      </p:sp>
      <p:sp>
        <p:nvSpPr>
          <p:cNvPr id="14" name="Shape 12"/>
          <p:cNvSpPr/>
          <p:nvPr/>
        </p:nvSpPr>
        <p:spPr>
          <a:xfrm>
            <a:off x="4160520" y="2523744"/>
            <a:ext cx="2816352" cy="2697480"/>
          </a:xfrm>
          <a:prstGeom prst="roundRect">
            <a:avLst>
              <a:gd name="adj" fmla="val 1695"/>
            </a:avLst>
          </a:prstGeom>
          <a:solidFill>
            <a:srgbClr val="F1F0EB"/>
          </a:solidFill>
          <a:ln w="10160">
            <a:solidFill>
              <a:srgbClr val="ECEAE4"/>
            </a:solidFill>
            <a:prstDash val="solid"/>
          </a:ln>
        </p:spPr>
      </p:sp>
      <p:sp>
        <p:nvSpPr>
          <p:cNvPr id="15" name="Text 13"/>
          <p:cNvSpPr/>
          <p:nvPr/>
        </p:nvSpPr>
        <p:spPr>
          <a:xfrm>
            <a:off x="4361688" y="2779776"/>
            <a:ext cx="822960" cy="201168"/>
          </a:xfrm>
          <a:prstGeom prst="rect">
            <a:avLst/>
          </a:prstGeom>
          <a:noFill/>
          <a:ln/>
        </p:spPr>
        <p:txBody>
          <a:bodyPr wrap="square" lIns="0" tIns="0" rIns="0" bIns="0" rtlCol="0" anchor="ctr">
            <a:normAutofit/>
          </a:bodyPr>
          <a:lstStyle/>
          <a:p>
            <a:pPr indent="0" marL="0">
              <a:buNone/>
            </a:pPr>
            <a:r>
              <a:rPr lang="en-US" sz="1020" b="1" spc="70" kern="0" dirty="0">
                <a:solidFill>
                  <a:srgbClr val="BC6333"/>
                </a:solidFill>
                <a:latin typeface="Aptos" pitchFamily="34" charset="0"/>
                <a:ea typeface="Aptos" pitchFamily="34" charset="-122"/>
                <a:cs typeface="Aptos" pitchFamily="34" charset="-120"/>
              </a:rPr>
              <a:t>NEXT</a:t>
            </a:r>
            <a:endParaRPr lang="en-US" sz="1020" dirty="0"/>
          </a:p>
        </p:txBody>
      </p:sp>
      <p:sp>
        <p:nvSpPr>
          <p:cNvPr id="16" name="Text 14"/>
          <p:cNvSpPr/>
          <p:nvPr/>
        </p:nvSpPr>
        <p:spPr>
          <a:xfrm>
            <a:off x="4361688" y="3136392"/>
            <a:ext cx="2331720" cy="329184"/>
          </a:xfrm>
          <a:prstGeom prst="rect">
            <a:avLst/>
          </a:prstGeom>
          <a:noFill/>
          <a:ln/>
        </p:spPr>
        <p:txBody>
          <a:bodyPr wrap="square" lIns="0" tIns="0" rIns="0" bIns="0" rtlCol="0" anchor="ctr">
            <a:normAutofit/>
          </a:bodyPr>
          <a:lstStyle/>
          <a:p>
            <a:pPr indent="0" marL="0">
              <a:buNone/>
            </a:pPr>
            <a:r>
              <a:rPr lang="en-US" sz="1670" b="1" dirty="0">
                <a:solidFill>
                  <a:srgbClr val="20262E"/>
                </a:solidFill>
                <a:latin typeface="Aptos Display" pitchFamily="34" charset="0"/>
                <a:ea typeface="Aptos Display" pitchFamily="34" charset="-122"/>
                <a:cs typeface="Aptos Display" pitchFamily="34" charset="-120"/>
              </a:rPr>
              <a:t>Expand + pilot</a:t>
            </a:r>
            <a:endParaRPr lang="en-US" sz="1670" dirty="0"/>
          </a:p>
        </p:txBody>
      </p:sp>
      <p:sp>
        <p:nvSpPr>
          <p:cNvPr id="17" name="Text 15"/>
          <p:cNvSpPr/>
          <p:nvPr/>
        </p:nvSpPr>
        <p:spPr>
          <a:xfrm>
            <a:off x="4361688" y="3621024"/>
            <a:ext cx="2359152" cy="1335024"/>
          </a:xfrm>
          <a:prstGeom prst="rect">
            <a:avLst/>
          </a:prstGeom>
          <a:noFill/>
          <a:ln/>
        </p:spPr>
        <p:txBody>
          <a:bodyPr wrap="square" lIns="254" tIns="254" rIns="254" bIns="254" rtlCol="0" anchor="ctr">
            <a:normAutofit/>
          </a:bodyPr>
          <a:lstStyle/>
          <a:p>
            <a:pPr marL="127000" indent="-127000">
              <a:buSzPct val="100000"/>
              <a:buChar char="•"/>
            </a:pPr>
            <a:r>
              <a:rPr lang="en-US" sz="1120" dirty="0">
                <a:solidFill>
                  <a:srgbClr val="555D64"/>
                </a:solidFill>
                <a:latin typeface="Aptos" pitchFamily="34" charset="0"/>
                <a:ea typeface="Aptos" pitchFamily="34" charset="-122"/>
                <a:cs typeface="Aptos" pitchFamily="34" charset="-120"/>
              </a:rPr>
              <a:t>Add Same Day Disallow, Daily Limits, B2 Matrix and key exhibits.</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Validate NCCI routing and historical use for Arizona.</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Pilot approved rules on paid claims and test Policy Q&amp;A with the team.</a:t>
            </a:r>
            <a:endParaRPr lang="en-US" sz="1120" dirty="0"/>
          </a:p>
        </p:txBody>
      </p:sp>
      <p:sp>
        <p:nvSpPr>
          <p:cNvPr id="18" name="Shape 16"/>
          <p:cNvSpPr/>
          <p:nvPr/>
        </p:nvSpPr>
        <p:spPr>
          <a:xfrm>
            <a:off x="7333488" y="2523744"/>
            <a:ext cx="2816352" cy="2697480"/>
          </a:xfrm>
          <a:prstGeom prst="roundRect">
            <a:avLst>
              <a:gd name="adj" fmla="val 1695"/>
            </a:avLst>
          </a:prstGeom>
          <a:solidFill>
            <a:srgbClr val="F1F0EB"/>
          </a:solidFill>
          <a:ln w="10160">
            <a:solidFill>
              <a:srgbClr val="ECEAE4"/>
            </a:solidFill>
            <a:prstDash val="solid"/>
          </a:ln>
        </p:spPr>
      </p:sp>
      <p:sp>
        <p:nvSpPr>
          <p:cNvPr id="19" name="Text 17"/>
          <p:cNvSpPr/>
          <p:nvPr/>
        </p:nvSpPr>
        <p:spPr>
          <a:xfrm>
            <a:off x="7534656" y="2779776"/>
            <a:ext cx="822960" cy="201168"/>
          </a:xfrm>
          <a:prstGeom prst="rect">
            <a:avLst/>
          </a:prstGeom>
          <a:noFill/>
          <a:ln/>
        </p:spPr>
        <p:txBody>
          <a:bodyPr wrap="square" lIns="0" tIns="0" rIns="0" bIns="0" rtlCol="0" anchor="ctr">
            <a:normAutofit/>
          </a:bodyPr>
          <a:lstStyle/>
          <a:p>
            <a:pPr indent="0" marL="0">
              <a:buNone/>
            </a:pPr>
            <a:r>
              <a:rPr lang="en-US" sz="1020" b="1" spc="70" kern="0" dirty="0">
                <a:solidFill>
                  <a:srgbClr val="687179"/>
                </a:solidFill>
                <a:latin typeface="Aptos" pitchFamily="34" charset="0"/>
                <a:ea typeface="Aptos" pitchFamily="34" charset="-122"/>
                <a:cs typeface="Aptos" pitchFamily="34" charset="-120"/>
              </a:rPr>
              <a:t>LATER</a:t>
            </a:r>
            <a:endParaRPr lang="en-US" sz="1020" dirty="0"/>
          </a:p>
        </p:txBody>
      </p:sp>
      <p:sp>
        <p:nvSpPr>
          <p:cNvPr id="20" name="Text 18"/>
          <p:cNvSpPr/>
          <p:nvPr/>
        </p:nvSpPr>
        <p:spPr>
          <a:xfrm>
            <a:off x="7534656" y="3136392"/>
            <a:ext cx="2331720" cy="329184"/>
          </a:xfrm>
          <a:prstGeom prst="rect">
            <a:avLst/>
          </a:prstGeom>
          <a:noFill/>
          <a:ln/>
        </p:spPr>
        <p:txBody>
          <a:bodyPr wrap="square" lIns="0" tIns="0" rIns="0" bIns="0" rtlCol="0" anchor="ctr">
            <a:normAutofit/>
          </a:bodyPr>
          <a:lstStyle/>
          <a:p>
            <a:pPr indent="0" marL="0">
              <a:buNone/>
            </a:pPr>
            <a:r>
              <a:rPr lang="en-US" sz="1670" b="1" dirty="0">
                <a:solidFill>
                  <a:srgbClr val="20262E"/>
                </a:solidFill>
                <a:latin typeface="Aptos Display" pitchFamily="34" charset="0"/>
                <a:ea typeface="Aptos Display" pitchFamily="34" charset="-122"/>
                <a:cs typeface="Aptos Display" pitchFamily="34" charset="-120"/>
              </a:rPr>
              <a:t>Connect the ecosystem</a:t>
            </a:r>
            <a:endParaRPr lang="en-US" sz="1670" dirty="0"/>
          </a:p>
        </p:txBody>
      </p:sp>
      <p:sp>
        <p:nvSpPr>
          <p:cNvPr id="21" name="Text 19"/>
          <p:cNvSpPr/>
          <p:nvPr/>
        </p:nvSpPr>
        <p:spPr>
          <a:xfrm>
            <a:off x="7534656" y="3621024"/>
            <a:ext cx="2359152" cy="1335024"/>
          </a:xfrm>
          <a:prstGeom prst="rect">
            <a:avLst/>
          </a:prstGeom>
          <a:noFill/>
          <a:ln/>
        </p:spPr>
        <p:txBody>
          <a:bodyPr wrap="square" lIns="254" tIns="254" rIns="254" bIns="254" rtlCol="0" anchor="ctr">
            <a:normAutofit/>
          </a:bodyPr>
          <a:lstStyle/>
          <a:p>
            <a:pPr marL="127000" indent="-127000">
              <a:buSzPct val="100000"/>
              <a:buChar char="•"/>
            </a:pPr>
            <a:r>
              <a:rPr lang="en-US" sz="1120" dirty="0">
                <a:solidFill>
                  <a:srgbClr val="555D64"/>
                </a:solidFill>
                <a:latin typeface="Aptos" pitchFamily="34" charset="0"/>
                <a:ea typeface="Aptos" pitchFamily="34" charset="-122"/>
                <a:cs typeface="Aptos" pitchFamily="34" charset="-120"/>
              </a:rPr>
              <a:t>Add policy context to anomaly summaries.</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Track policy changes and rules that need re-review.</a:t>
            </a:r>
            <a:endParaRPr lang="en-US" sz="1120" dirty="0"/>
          </a:p>
          <a:p>
            <a:pPr marL="127000" indent="-127000">
              <a:buSzPct val="100000"/>
              <a:buChar char="•"/>
            </a:pPr>
            <a:r>
              <a:rPr lang="en-US" sz="1120" dirty="0">
                <a:solidFill>
                  <a:srgbClr val="555D64"/>
                </a:solidFill>
                <a:latin typeface="Aptos" pitchFamily="34" charset="0"/>
                <a:ea typeface="Aptos" pitchFamily="34" charset="-122"/>
                <a:cs typeface="Aptos" pitchFamily="34" charset="-120"/>
              </a:rPr>
              <a:t>Surface coverage gaps and possible CMS/AHCCCS conflicts.</a:t>
            </a:r>
            <a:endParaRPr lang="en-US" sz="1120" dirty="0"/>
          </a:p>
        </p:txBody>
      </p:sp>
      <p:sp>
        <p:nvSpPr>
          <p:cNvPr id="22" name="Shape 20"/>
          <p:cNvSpPr/>
          <p:nvPr/>
        </p:nvSpPr>
        <p:spPr>
          <a:xfrm>
            <a:off x="987552" y="5870448"/>
            <a:ext cx="0" cy="429768"/>
          </a:xfrm>
          <a:prstGeom prst="line">
            <a:avLst/>
          </a:prstGeom>
          <a:noFill/>
          <a:ln w="27940">
            <a:solidFill>
              <a:srgbClr val="2E806C"/>
            </a:solidFill>
            <a:prstDash val="solid"/>
          </a:ln>
        </p:spPr>
      </p:sp>
      <p:sp>
        <p:nvSpPr>
          <p:cNvPr id="23" name="Text 21"/>
          <p:cNvSpPr/>
          <p:nvPr/>
        </p:nvSpPr>
        <p:spPr>
          <a:xfrm>
            <a:off x="1188720" y="5861304"/>
            <a:ext cx="9948672" cy="411480"/>
          </a:xfrm>
          <a:prstGeom prst="rect">
            <a:avLst/>
          </a:prstGeom>
          <a:noFill/>
          <a:ln/>
        </p:spPr>
        <p:txBody>
          <a:bodyPr wrap="square" lIns="0" tIns="0" rIns="0" bIns="0" rtlCol="0" anchor="ctr">
            <a:normAutofit/>
          </a:bodyPr>
          <a:lstStyle/>
          <a:p>
            <a:pPr indent="0" marL="0">
              <a:buNone/>
            </a:pPr>
            <a:r>
              <a:rPr lang="en-US" sz="1280" b="1" dirty="0">
                <a:solidFill>
                  <a:srgbClr val="20262E"/>
                </a:solidFill>
                <a:latin typeface="Aptos" pitchFamily="34" charset="0"/>
                <a:ea typeface="Aptos" pitchFamily="34" charset="-122"/>
                <a:cs typeface="Aptos" pitchFamily="34" charset="-120"/>
              </a:rPr>
              <a:t>The principle: </a:t>
            </a:r>
            <a:pPr indent="0" marL="0">
              <a:buNone/>
            </a:pPr>
            <a:r>
              <a:rPr lang="en-US" sz="1280" dirty="0">
                <a:solidFill>
                  <a:srgbClr val="454C54"/>
                </a:solidFill>
                <a:latin typeface="Aptos" pitchFamily="34" charset="0"/>
                <a:ea typeface="Aptos" pitchFamily="34" charset="-122"/>
                <a:cs typeface="Aptos" pitchFamily="34" charset="-120"/>
              </a:rPr>
              <a:t>measure before we scale. The goal is better, defensible decisions—not more flags.</a:t>
            </a:r>
            <a:endParaRPr lang="en-US" sz="1280" dirty="0"/>
          </a:p>
        </p:txBody>
      </p:sp>
      <p:sp>
        <p:nvSpPr>
          <p:cNvPr id="25" name="Slide Number Placeholder 0"/>
          <p:cNvSpPr>
            <a:spLocks noGrp="1"/>
          </p:cNvSpPr>
          <p:nvPr>
            <p:ph type="sldNum" sz="quarter" idx="4294967295"/>
          </p:nvPr>
        </p:nvSpPr>
        <p:spPr>
          <a:xfrm>
            <a:off x="11686032" y="6473952"/>
            <a:ext cx="2743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A9A79F"/>
                </a:solidFill>
                <a:latin typeface="Aptos"/>
                <a:ea typeface="Aptos"/>
                <a:cs typeface="Aptos"/>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AHCCCS Medicaid Policy Intelligence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 Intelligence Engine — Knowledge Base MVP</dc:title>
  <dc:subject>AHCCCS Policy Intelligence Knowledge Base</dc:subject>
  <dc:creator>OpenAI</dc:creator>
  <cp:lastModifiedBy>OpenAI</cp:lastModifiedBy>
  <cp:revision>1</cp:revision>
  <dcterms:created xsi:type="dcterms:W3CDTF">2026-10-05T16:21:37Z</dcterms:created>
  <dcterms:modified xsi:type="dcterms:W3CDTF">2026-10-05T16:21:37Z</dcterms:modified>
</cp:coreProperties>
</file>