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of what we are building, and what changed since the last update. Three things are new: the federal edits load and run on their own, the whole system was made safer and tested end to end, and there are now working use cases the team can open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is the knowledge base, not the claim checker. Left: where policy comes from. Middle: one place where every rule lives, quoted from its source, versioned, and for state rules signed by a named person. Right: who uses it. Four uses run today: checking paid claims, investigator lookup and finding explanations, coverage gaps, and the policy-improvement lists for AHCCCS (unclear wording and federal-state conflicts). Next is giving the anomaly summaries policy context; later, policy search and Q&amp;A. One honest scoping note if asked: federal edits are loaded only for codes AHCCCS actually pays, because an edit on a code never billed can never fire; state rules are read from the whole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current, read correctly, nothing skipped. Card 2 in plain terms: an edit from 2020 that CMS deleted in 2024 won't flag a 2025 claim; a unit limit applies to each claim line, not the day's total; if a legitimate modifier shows the two services were separate, we don't flag it; and the flag goes on the claim line CMS would actually deny. Detail if a technical person asks: a code pair and its reverse are different edits and stay separate, and when practitioner and outpatient editions overlap we split by date and use the most permissive limit. Caveats if asked: whether an edit still applies ON its deletion date is not stated on the CMS pages we checked, so it is one setting we are confirming; findings follow the CMS public edit set, and Arizona's own deactivations are not applied; federal edits are loaded only for codes AHCCCS actually pays. Schedule the notebook monthly: CMS lists only two quarters, and a missed quarter leaves a permanent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examples of reading policy exactly. One: Dr. A bills one code and Dr. B bills its forbidden partner for the same member that day. NCCI would not see it, because it only looks at one provider; AHCCCS's own rule says "for the same member", so we flag it. Two: a claim over a limit that carries a prior authorization number is still flagged, but labelled "check the PA", because the PA may have approved the extra units. We never silently drop it. For federal NCCI edits a PA doesn't matter; CMS says it is not an excuse. Three: rules for certain members, like under 21, need the member's age, which our claims table doesn't have yet. Applying them to everyone would be wrong, so they wait on a review list. Four: AHCCCS yearly limits run October to September (FFS manual Chapter 10 defines the contract year), and AMPM 310-X says therapy limits apply "regardless of enrollment changes throughout the benefit year", so a member who enrolls or switches plans mid-year does not get a fresh count. One real caveat: visits used under a health plan earlier in the year are not in our fee-for-service claims, so we can under-count and miss some over-limit claims. That makes us miss, never over-flag.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path for every state rule. The model reads a section and proposes a rule, quoting the manual. An automatic check refuses anything the PDF doesn't support: a missing or too-short quote, a code that isn't there, a quote that drops an "unless". A named reviewer then signs it against that exact version of the manual, and only then is it used. The second row is new: when AHCCCS revises a chapter, its rules go back to review with the old decision kept, and are left out until someone signs against the new text. The old PDF is archived. Behind the scenes, a pattern matcher runs alongside the model as a cross-check, and every section of the manual gets a logged outcome, so we can measure what was missed. Be precise on status: the pipeline is ready for all 31 files, but the model has not produced a rule yet; every state rule so far came from the pattern matcher or was written by hand. Next is one chapter, Chapter 19, scored by a reviewer before we add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promises about every flag. One: we keep every version of the rules, so a flag from months ago can still be explained with the rule as it was then, not as it is today. Two: each flag shows the dollars, and the same claim line is never counted twice, even when a federal and a state rule both catch it. Before, one violation could show up three times. Three: "covered" means a check really runs on that code. Before, any rule on a code counted, even ones that never run, which made our coverage look better than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notebook in the demos folder, read-only, and each opens with what it answers and what it can't. Two are aimed at AHCCCS rather than enforcement: the unclear policy list and the federal-versus-state view are a policy-improvement product, handing the state its own unclear or conflicting language. Contradictions are candidates for a person to review, never conclusions. Demo tip: start with the finding explainer on the highest-dollar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our two products. The anomaly pipeline finds what is statistically unusual; the knowledge base knows what policy says. Joined, the summary LLM stops guessing about policy. It receives the rules and quotes for the provider's top codes, plus any findings already on that provider, and it may cite only those. We check every cited rule id against the knowledge base afterwards, so a made-up rule cannot reach an investigator. It runs on the same model and GPU pattern as today's summarization notebook. What we need first: agreed keys to join the two pipelines, and the first scored extraction run, so the policy we pass in has been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strip: the work is well tested, every notebook has run end to end on sample claims, and one thing is still missing: accuracy. We can't say how often the AI's rules are right, or how often a flag is a real problem, until reviewers score a sample. That is why Now starts with one chapter and a scored sample. Adding 25 chapters on an unmeasured error rate would just multiply the errors. The two open questions: whether a CMS edit still applies on the day it is deleted, and whether the 21 rules we wrote by hand during the PoC must be re-signed like everything else. Next, the anomaly summaries get policy context once the policy we pass in has been measured. Rules that check age, place of service and similar conditions need the member data joined in, plus a signed map from service categories to codes (the B2 Matrix and fee schedule). Later sources come in only once we confirm AHCCCS applies them; loading rules the state doesn't use would create false flags. Technical detail if asked: the package has a config file, one guide, notebooks numbered in run order, and it fails loudly on missing data instead of producing a result that looks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50" kern="0" dirty="0">
                <a:solidFill>
                  <a:srgbClr val="5FB8A6"/>
                </a:solidFill>
                <a:latin typeface="JetBrains Mono" pitchFamily="34" charset="0"/>
                <a:ea typeface="JetBrains Mono" pitchFamily="34" charset="-122"/>
                <a:cs typeface="JetBrains Mono" pitchFamily="34" charset="-120"/>
              </a:rPr>
              <a:t>POLICY INTELLIGENCE ENGINE · SEDO</a:t>
            </a:r>
            <a:endParaRPr lang="en-US" sz="1400" dirty="0"/>
          </a:p>
        </p:txBody>
      </p:sp>
      <p:sp>
        <p:nvSpPr>
          <p:cNvPr id="3" name="Text 1"/>
          <p:cNvSpPr/>
          <p:nvPr/>
        </p:nvSpPr>
        <p:spPr>
          <a:xfrm>
            <a:off x="812800" y="2665115"/>
            <a:ext cx="10883392" cy="996950"/>
          </a:xfrm>
          <a:prstGeom prst="rect">
            <a:avLst/>
          </a:prstGeom>
          <a:noFill/>
          <a:ln/>
        </p:spPr>
        <p:txBody>
          <a:bodyPr wrap="square" lIns="0" tIns="0" rIns="0" bIns="0" rtlCol="0" anchor="t">
            <a:normAutofit/>
          </a:bodyPr>
          <a:lstStyle/>
          <a:p>
            <a:pPr algn="l" indent="0" marL="0">
              <a:lnSpc>
                <a:spcPts val="7650"/>
              </a:lnSpc>
              <a:buNone/>
            </a:pPr>
            <a:r>
              <a:rPr lang="en-US" sz="7500" b="1" dirty="0">
                <a:solidFill>
                  <a:srgbClr val="F5F6F4"/>
                </a:solidFill>
                <a:latin typeface="IBM Plex Sans" pitchFamily="34" charset="0"/>
                <a:ea typeface="IBM Plex Sans" pitchFamily="34" charset="-122"/>
                <a:cs typeface="IBM Plex Sans" pitchFamily="34" charset="-120"/>
              </a:rPr>
              <a:t>Knowledge Base</a:t>
            </a:r>
            <a:endParaRPr lang="en-US" sz="7500" dirty="0"/>
          </a:p>
        </p:txBody>
      </p:sp>
      <p:sp>
        <p:nvSpPr>
          <p:cNvPr id="4" name="Text 2"/>
          <p:cNvSpPr/>
          <p:nvPr/>
        </p:nvSpPr>
        <p:spPr>
          <a:xfrm>
            <a:off x="812800" y="3814465"/>
            <a:ext cx="10883392" cy="421580"/>
          </a:xfrm>
          <a:prstGeom prst="rect">
            <a:avLst/>
          </a:prstGeom>
          <a:noFill/>
          <a:ln/>
        </p:spPr>
        <p:txBody>
          <a:bodyPr wrap="square" lIns="0" tIns="0" rIns="0" bIns="0" rtlCol="0" anchor="t">
            <a:normAutofit/>
          </a:bodyPr>
          <a:lstStyle/>
          <a:p>
            <a:pPr algn="l" indent="0" marL="0">
              <a:lnSpc>
                <a:spcPts val="3120"/>
              </a:lnSpc>
              <a:buNone/>
            </a:pPr>
            <a:r>
              <a:rPr lang="en-US" sz="2400" dirty="0">
                <a:solidFill>
                  <a:srgbClr val="AEBACB"/>
                </a:solidFill>
                <a:latin typeface="IBM Plex Sans" pitchFamily="34" charset="0"/>
                <a:ea typeface="IBM Plex Sans" pitchFamily="34" charset="-122"/>
                <a:cs typeface="IBM Plex Sans" pitchFamily="34" charset="-120"/>
              </a:rPr>
              <a:t>MVP</a:t>
            </a:r>
            <a:endParaRPr lang="en-US" sz="2400" dirty="0"/>
          </a:p>
        </p:txBody>
      </p:sp>
      <p:sp>
        <p:nvSpPr>
          <p:cNvPr id="5" name="Text 3"/>
          <p:cNvSpPr/>
          <p:nvPr/>
        </p:nvSpPr>
        <p:spPr>
          <a:xfrm>
            <a:off x="812800" y="581412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8595AB"/>
                </a:solidFill>
                <a:latin typeface="JetBrains Mono" pitchFamily="34" charset="0"/>
                <a:ea typeface="JetBrains Mono" pitchFamily="34" charset="-122"/>
                <a:cs typeface="JetBrains Mono" pitchFamily="34" charset="-120"/>
              </a:rPr>
              <a:t>Update · 29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WHAT WE ARE BUILDING</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One policy knowledge base, many uses</a:t>
            </a:r>
            <a:endParaRPr lang="en-US" sz="3300" dirty="0"/>
          </a:p>
        </p:txBody>
      </p:sp>
      <p:sp>
        <p:nvSpPr>
          <p:cNvPr id="4" name="Shape 2"/>
          <p:cNvSpPr/>
          <p:nvPr/>
        </p:nvSpPr>
        <p:spPr>
          <a:xfrm>
            <a:off x="815975" y="2108994"/>
            <a:ext cx="2660650" cy="2706092"/>
          </a:xfrm>
          <a:prstGeom prst="roundRect">
            <a:avLst>
              <a:gd name="adj" fmla="val 3699"/>
            </a:avLst>
          </a:prstGeom>
          <a:solidFill>
            <a:srgbClr val="FFFFFF"/>
          </a:solidFill>
          <a:ln w="6350">
            <a:solidFill>
              <a:srgbClr val="E3E6E4"/>
            </a:solidFill>
            <a:prstDash val="solid"/>
          </a:ln>
        </p:spPr>
      </p:sp>
      <p:sp>
        <p:nvSpPr>
          <p:cNvPr id="5" name="Text 3"/>
          <p:cNvSpPr/>
          <p:nvPr/>
        </p:nvSpPr>
        <p:spPr>
          <a:xfrm>
            <a:off x="1022350" y="2315369"/>
            <a:ext cx="2315337"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1F7A6B"/>
                </a:solidFill>
                <a:latin typeface="JetBrains Mono" pitchFamily="34" charset="0"/>
                <a:ea typeface="JetBrains Mono" pitchFamily="34" charset="-122"/>
                <a:cs typeface="JetBrains Mono" pitchFamily="34" charset="-120"/>
              </a:rPr>
              <a:t>SOURCES</a:t>
            </a:r>
            <a:endParaRPr lang="en-US" sz="1200" dirty="0"/>
          </a:p>
        </p:txBody>
      </p:sp>
      <p:sp>
        <p:nvSpPr>
          <p:cNvPr id="6" name="Text 4"/>
          <p:cNvSpPr/>
          <p:nvPr/>
        </p:nvSpPr>
        <p:spPr>
          <a:xfrm>
            <a:off x="1022350" y="2617589"/>
            <a:ext cx="2315337"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4273D"/>
                </a:solidFill>
                <a:latin typeface="IBM Plex Sans" pitchFamily="34" charset="0"/>
                <a:ea typeface="IBM Plex Sans" pitchFamily="34" charset="-122"/>
                <a:cs typeface="IBM Plex Sans" pitchFamily="34" charset="-120"/>
              </a:rPr>
              <a:t>CMS federal edits</a:t>
            </a:r>
            <a:r>
              <a:rPr lang="en-US" sz="1300" dirty="0">
                <a:solidFill>
                  <a:srgbClr val="14273D"/>
                </a:solidFill>
                <a:latin typeface="IBM Plex Sans" pitchFamily="34" charset="0"/>
                <a:ea typeface="IBM Plex Sans" pitchFamily="34" charset="-122"/>
                <a:cs typeface="IBM Plex Sans" pitchFamily="34" charset="-120"/>
              </a:rPr>
              <a:t>, loaded every quarter</a:t>
            </a:r>
            <a:endParaRPr lang="en-US" sz="1300" dirty="0"/>
          </a:p>
        </p:txBody>
      </p:sp>
      <p:sp>
        <p:nvSpPr>
          <p:cNvPr id="7" name="Text 5"/>
          <p:cNvSpPr/>
          <p:nvPr/>
        </p:nvSpPr>
        <p:spPr>
          <a:xfrm>
            <a:off x="1022350" y="3152180"/>
            <a:ext cx="2315337"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4273D"/>
                </a:solidFill>
                <a:latin typeface="IBM Plex Sans" pitchFamily="34" charset="0"/>
                <a:ea typeface="IBM Plex Sans" pitchFamily="34" charset="-122"/>
                <a:cs typeface="IBM Plex Sans" pitchFamily="34" charset="-120"/>
              </a:rPr>
              <a:t>AHCCCS billing manual</a:t>
            </a:r>
            <a:r>
              <a:rPr lang="en-US" sz="1300" dirty="0">
                <a:solidFill>
                  <a:srgbClr val="14273D"/>
                </a:solidFill>
                <a:latin typeface="IBM Plex Sans" pitchFamily="34" charset="0"/>
                <a:ea typeface="IBM Plex Sans" pitchFamily="34" charset="-122"/>
                <a:cs typeface="IBM Plex Sans" pitchFamily="34" charset="-120"/>
              </a:rPr>
              <a:t>, all 31 files</a:t>
            </a:r>
            <a:endParaRPr lang="en-US" sz="1300" dirty="0"/>
          </a:p>
        </p:txBody>
      </p:sp>
      <p:sp>
        <p:nvSpPr>
          <p:cNvPr id="8" name="Text 6"/>
          <p:cNvSpPr/>
          <p:nvPr/>
        </p:nvSpPr>
        <p:spPr>
          <a:xfrm>
            <a:off x="1022350" y="3686770"/>
            <a:ext cx="23153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6A7486"/>
                </a:solidFill>
                <a:latin typeface="IBM Plex Sans" pitchFamily="34" charset="0"/>
                <a:ea typeface="IBM Plex Sans" pitchFamily="34" charset="-122"/>
                <a:cs typeface="IBM Plex Sans" pitchFamily="34" charset="-120"/>
              </a:rPr>
              <a:t>Later: AMPM, fee schedule, Arizona rules</a:t>
            </a:r>
            <a:endParaRPr lang="en-US" sz="1300" dirty="0"/>
          </a:p>
        </p:txBody>
      </p:sp>
      <p:sp>
        <p:nvSpPr>
          <p:cNvPr id="9" name="Text 7"/>
          <p:cNvSpPr/>
          <p:nvPr/>
        </p:nvSpPr>
        <p:spPr>
          <a:xfrm>
            <a:off x="3581400" y="3266480"/>
            <a:ext cx="3302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F7A6B"/>
                </a:solidFill>
                <a:latin typeface="IBM Plex Sans" pitchFamily="34" charset="0"/>
                <a:ea typeface="IBM Plex Sans" pitchFamily="34" charset="-122"/>
                <a:cs typeface="IBM Plex Sans" pitchFamily="34" charset="-120"/>
              </a:rPr>
              <a:t>→</a:t>
            </a:r>
            <a:endParaRPr lang="en-US" sz="2200" dirty="0"/>
          </a:p>
        </p:txBody>
      </p:sp>
      <p:sp>
        <p:nvSpPr>
          <p:cNvPr id="10" name="Shape 8"/>
          <p:cNvSpPr/>
          <p:nvPr/>
        </p:nvSpPr>
        <p:spPr>
          <a:xfrm>
            <a:off x="3962400" y="2105819"/>
            <a:ext cx="3302000" cy="2712442"/>
          </a:xfrm>
          <a:prstGeom prst="roundRect">
            <a:avLst>
              <a:gd name="adj" fmla="val 3746"/>
            </a:avLst>
          </a:prstGeom>
          <a:solidFill>
            <a:srgbClr val="1F7A6B"/>
          </a:solidFill>
          <a:ln/>
        </p:spPr>
      </p:sp>
      <p:sp>
        <p:nvSpPr>
          <p:cNvPr id="11" name="Text 9"/>
          <p:cNvSpPr/>
          <p:nvPr/>
        </p:nvSpPr>
        <p:spPr>
          <a:xfrm>
            <a:off x="4165600" y="2309019"/>
            <a:ext cx="2982468"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D4EDE7"/>
                </a:solidFill>
                <a:latin typeface="JetBrains Mono" pitchFamily="34" charset="0"/>
                <a:ea typeface="JetBrains Mono" pitchFamily="34" charset="-122"/>
                <a:cs typeface="JetBrains Mono" pitchFamily="34" charset="-120"/>
              </a:rPr>
              <a:t>KNOWLEDGE BASE</a:t>
            </a:r>
            <a:endParaRPr lang="en-US" sz="1200" dirty="0"/>
          </a:p>
        </p:txBody>
      </p:sp>
      <p:sp>
        <p:nvSpPr>
          <p:cNvPr id="12" name="Text 10"/>
          <p:cNvSpPr/>
          <p:nvPr/>
        </p:nvSpPr>
        <p:spPr>
          <a:xfrm>
            <a:off x="4165600" y="2611239"/>
            <a:ext cx="2982468" cy="52070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FFFFF"/>
                </a:solidFill>
                <a:latin typeface="IBM Plex Sans" pitchFamily="34" charset="0"/>
                <a:ea typeface="IBM Plex Sans" pitchFamily="34" charset="-122"/>
                <a:cs typeface="IBM Plex Sans" pitchFamily="34" charset="-120"/>
              </a:rPr>
              <a:t>Every rule in one place, in a form people and systems can use</a:t>
            </a:r>
            <a:endParaRPr lang="en-US" sz="1500" dirty="0"/>
          </a:p>
        </p:txBody>
      </p:sp>
      <p:sp>
        <p:nvSpPr>
          <p:cNvPr id="13" name="Text 11"/>
          <p:cNvSpPr/>
          <p:nvPr/>
        </p:nvSpPr>
        <p:spPr>
          <a:xfrm>
            <a:off x="4165600" y="3195439"/>
            <a:ext cx="2982468" cy="668338"/>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E6F3F0"/>
                </a:solidFill>
                <a:latin typeface="IBM Plex Sans" pitchFamily="34" charset="0"/>
                <a:ea typeface="IBM Plex Sans" pitchFamily="34" charset="-122"/>
                <a:cs typeface="IBM Plex Sans" pitchFamily="34" charset="-120"/>
              </a:rPr>
              <a:t>Each rule quotes its source, with page and version. State rules are signed by a named person. Old versions are kept.</a:t>
            </a:r>
            <a:endParaRPr lang="en-US" sz="1250" dirty="0"/>
          </a:p>
        </p:txBody>
      </p:sp>
      <p:sp>
        <p:nvSpPr>
          <p:cNvPr id="14" name="Text 12"/>
          <p:cNvSpPr/>
          <p:nvPr/>
        </p:nvSpPr>
        <p:spPr>
          <a:xfrm>
            <a:off x="7366000" y="3266480"/>
            <a:ext cx="3302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F7A6B"/>
                </a:solidFill>
                <a:latin typeface="IBM Plex Sans" pitchFamily="34" charset="0"/>
                <a:ea typeface="IBM Plex Sans" pitchFamily="34" charset="-122"/>
                <a:cs typeface="IBM Plex Sans" pitchFamily="34" charset="-120"/>
              </a:rPr>
              <a:t>→</a:t>
            </a:r>
            <a:endParaRPr lang="en-US" sz="2200" dirty="0"/>
          </a:p>
        </p:txBody>
      </p:sp>
      <p:sp>
        <p:nvSpPr>
          <p:cNvPr id="15" name="Text 13"/>
          <p:cNvSpPr/>
          <p:nvPr/>
        </p:nvSpPr>
        <p:spPr>
          <a:xfrm>
            <a:off x="7747000" y="2105819"/>
            <a:ext cx="3741166"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1F7A6B"/>
                </a:solidFill>
                <a:latin typeface="JetBrains Mono" pitchFamily="34" charset="0"/>
                <a:ea typeface="JetBrains Mono" pitchFamily="34" charset="-122"/>
                <a:cs typeface="JetBrains Mono" pitchFamily="34" charset="-120"/>
              </a:rPr>
              <a:t>USES</a:t>
            </a:r>
            <a:endParaRPr lang="en-US" sz="1200" dirty="0"/>
          </a:p>
        </p:txBody>
      </p:sp>
      <p:sp>
        <p:nvSpPr>
          <p:cNvPr id="16" name="Shape 14"/>
          <p:cNvSpPr/>
          <p:nvPr/>
        </p:nvSpPr>
        <p:spPr>
          <a:xfrm>
            <a:off x="7750175" y="2385814"/>
            <a:ext cx="3625850" cy="346670"/>
          </a:xfrm>
          <a:prstGeom prst="roundRect">
            <a:avLst>
              <a:gd name="adj" fmla="val 17401"/>
            </a:avLst>
          </a:prstGeom>
          <a:solidFill>
            <a:srgbClr val="FFFFFF"/>
          </a:solidFill>
          <a:ln w="6350">
            <a:solidFill>
              <a:srgbClr val="E3E6E4"/>
            </a:solidFill>
            <a:prstDash val="solid"/>
          </a:ln>
        </p:spPr>
      </p:sp>
      <p:sp>
        <p:nvSpPr>
          <p:cNvPr id="17" name="Text 15"/>
          <p:cNvSpPr/>
          <p:nvPr/>
        </p:nvSpPr>
        <p:spPr>
          <a:xfrm>
            <a:off x="7867650" y="2452489"/>
            <a:ext cx="12857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73D"/>
                </a:solidFill>
                <a:latin typeface="IBM Plex Sans" pitchFamily="34" charset="0"/>
                <a:ea typeface="IBM Plex Sans" pitchFamily="34" charset="-122"/>
                <a:cs typeface="IBM Plex Sans" pitchFamily="34" charset="-120"/>
              </a:rPr>
              <a:t>Check paid claims</a:t>
            </a:r>
            <a:endParaRPr lang="en-US" sz="1200" dirty="0"/>
          </a:p>
        </p:txBody>
      </p:sp>
      <p:sp>
        <p:nvSpPr>
          <p:cNvPr id="18" name="Text 16"/>
          <p:cNvSpPr/>
          <p:nvPr/>
        </p:nvSpPr>
        <p:spPr>
          <a:xfrm>
            <a:off x="11008122" y="2452489"/>
            <a:ext cx="301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7A6B"/>
                </a:solidFill>
                <a:latin typeface="IBM Plex Sans" pitchFamily="34" charset="0"/>
                <a:ea typeface="IBM Plex Sans" pitchFamily="34" charset="-122"/>
                <a:cs typeface="IBM Plex Sans" pitchFamily="34" charset="-120"/>
              </a:rPr>
              <a:t>live</a:t>
            </a:r>
            <a:endParaRPr lang="en-US" sz="1200" dirty="0"/>
          </a:p>
        </p:txBody>
      </p:sp>
      <p:sp>
        <p:nvSpPr>
          <p:cNvPr id="19" name="Shape 17"/>
          <p:cNvSpPr/>
          <p:nvPr/>
        </p:nvSpPr>
        <p:spPr>
          <a:xfrm>
            <a:off x="7750175" y="2802334"/>
            <a:ext cx="3625850" cy="346670"/>
          </a:xfrm>
          <a:prstGeom prst="roundRect">
            <a:avLst>
              <a:gd name="adj" fmla="val 17401"/>
            </a:avLst>
          </a:prstGeom>
          <a:solidFill>
            <a:srgbClr val="FFFFFF"/>
          </a:solidFill>
          <a:ln w="6350">
            <a:solidFill>
              <a:srgbClr val="E3E6E4"/>
            </a:solidFill>
            <a:prstDash val="solid"/>
          </a:ln>
        </p:spPr>
      </p:sp>
      <p:sp>
        <p:nvSpPr>
          <p:cNvPr id="20" name="Text 18"/>
          <p:cNvSpPr/>
          <p:nvPr/>
        </p:nvSpPr>
        <p:spPr>
          <a:xfrm>
            <a:off x="7867650" y="2869009"/>
            <a:ext cx="13767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73D"/>
                </a:solidFill>
                <a:latin typeface="IBM Plex Sans" pitchFamily="34" charset="0"/>
                <a:ea typeface="IBM Plex Sans" pitchFamily="34" charset="-122"/>
                <a:cs typeface="IBM Plex Sans" pitchFamily="34" charset="-120"/>
              </a:rPr>
              <a:t>Investigator lookup</a:t>
            </a:r>
            <a:endParaRPr lang="en-US" sz="1200" dirty="0"/>
          </a:p>
        </p:txBody>
      </p:sp>
      <p:sp>
        <p:nvSpPr>
          <p:cNvPr id="21" name="Text 19"/>
          <p:cNvSpPr/>
          <p:nvPr/>
        </p:nvSpPr>
        <p:spPr>
          <a:xfrm>
            <a:off x="11008122" y="2869009"/>
            <a:ext cx="301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7A6B"/>
                </a:solidFill>
                <a:latin typeface="IBM Plex Sans" pitchFamily="34" charset="0"/>
                <a:ea typeface="IBM Plex Sans" pitchFamily="34" charset="-122"/>
                <a:cs typeface="IBM Plex Sans" pitchFamily="34" charset="-120"/>
              </a:rPr>
              <a:t>live</a:t>
            </a:r>
            <a:endParaRPr lang="en-US" sz="1200" dirty="0"/>
          </a:p>
        </p:txBody>
      </p:sp>
      <p:sp>
        <p:nvSpPr>
          <p:cNvPr id="22" name="Shape 20"/>
          <p:cNvSpPr/>
          <p:nvPr/>
        </p:nvSpPr>
        <p:spPr>
          <a:xfrm>
            <a:off x="7750175" y="3218855"/>
            <a:ext cx="3625850" cy="346670"/>
          </a:xfrm>
          <a:prstGeom prst="roundRect">
            <a:avLst>
              <a:gd name="adj" fmla="val 17401"/>
            </a:avLst>
          </a:prstGeom>
          <a:solidFill>
            <a:srgbClr val="FFFFFF"/>
          </a:solidFill>
          <a:ln w="6350">
            <a:solidFill>
              <a:srgbClr val="E3E6E4"/>
            </a:solidFill>
            <a:prstDash val="solid"/>
          </a:ln>
        </p:spPr>
      </p:sp>
      <p:sp>
        <p:nvSpPr>
          <p:cNvPr id="23" name="Text 21"/>
          <p:cNvSpPr/>
          <p:nvPr/>
        </p:nvSpPr>
        <p:spPr>
          <a:xfrm>
            <a:off x="7867650" y="3285530"/>
            <a:ext cx="10469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73D"/>
                </a:solidFill>
                <a:latin typeface="IBM Plex Sans" pitchFamily="34" charset="0"/>
                <a:ea typeface="IBM Plex Sans" pitchFamily="34" charset="-122"/>
                <a:cs typeface="IBM Plex Sans" pitchFamily="34" charset="-120"/>
              </a:rPr>
              <a:t>Coverage gaps</a:t>
            </a:r>
            <a:endParaRPr lang="en-US" sz="1200" dirty="0"/>
          </a:p>
        </p:txBody>
      </p:sp>
      <p:sp>
        <p:nvSpPr>
          <p:cNvPr id="24" name="Text 22"/>
          <p:cNvSpPr/>
          <p:nvPr/>
        </p:nvSpPr>
        <p:spPr>
          <a:xfrm>
            <a:off x="11008122" y="3285530"/>
            <a:ext cx="301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7A6B"/>
                </a:solidFill>
                <a:latin typeface="IBM Plex Sans" pitchFamily="34" charset="0"/>
                <a:ea typeface="IBM Plex Sans" pitchFamily="34" charset="-122"/>
                <a:cs typeface="IBM Plex Sans" pitchFamily="34" charset="-120"/>
              </a:rPr>
              <a:t>live</a:t>
            </a:r>
            <a:endParaRPr lang="en-US" sz="1200" dirty="0"/>
          </a:p>
        </p:txBody>
      </p:sp>
      <p:sp>
        <p:nvSpPr>
          <p:cNvPr id="25" name="Shape 23"/>
          <p:cNvSpPr/>
          <p:nvPr/>
        </p:nvSpPr>
        <p:spPr>
          <a:xfrm>
            <a:off x="7750175" y="3635375"/>
            <a:ext cx="3625850" cy="346670"/>
          </a:xfrm>
          <a:prstGeom prst="roundRect">
            <a:avLst>
              <a:gd name="adj" fmla="val 17401"/>
            </a:avLst>
          </a:prstGeom>
          <a:solidFill>
            <a:srgbClr val="FFFFFF"/>
          </a:solidFill>
          <a:ln w="6350">
            <a:solidFill>
              <a:srgbClr val="E3E6E4"/>
            </a:solidFill>
            <a:prstDash val="solid"/>
          </a:ln>
        </p:spPr>
      </p:sp>
      <p:sp>
        <p:nvSpPr>
          <p:cNvPr id="26" name="Text 24"/>
          <p:cNvSpPr/>
          <p:nvPr/>
        </p:nvSpPr>
        <p:spPr>
          <a:xfrm>
            <a:off x="7867650" y="3702050"/>
            <a:ext cx="164941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73D"/>
                </a:solidFill>
                <a:latin typeface="IBM Plex Sans" pitchFamily="34" charset="0"/>
                <a:ea typeface="IBM Plex Sans" pitchFamily="34" charset="-122"/>
                <a:cs typeface="IBM Plex Sans" pitchFamily="34" charset="-120"/>
              </a:rPr>
              <a:t>Policy fixes for AHCCCS</a:t>
            </a:r>
            <a:endParaRPr lang="en-US" sz="1200" dirty="0"/>
          </a:p>
        </p:txBody>
      </p:sp>
      <p:sp>
        <p:nvSpPr>
          <p:cNvPr id="27" name="Text 25"/>
          <p:cNvSpPr/>
          <p:nvPr/>
        </p:nvSpPr>
        <p:spPr>
          <a:xfrm>
            <a:off x="11008122" y="3702050"/>
            <a:ext cx="301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7A6B"/>
                </a:solidFill>
                <a:latin typeface="IBM Plex Sans" pitchFamily="34" charset="0"/>
                <a:ea typeface="IBM Plex Sans" pitchFamily="34" charset="-122"/>
                <a:cs typeface="IBM Plex Sans" pitchFamily="34" charset="-120"/>
              </a:rPr>
              <a:t>live</a:t>
            </a:r>
            <a:endParaRPr lang="en-US" sz="1200" dirty="0"/>
          </a:p>
        </p:txBody>
      </p:sp>
      <p:sp>
        <p:nvSpPr>
          <p:cNvPr id="28" name="Shape 26"/>
          <p:cNvSpPr/>
          <p:nvPr/>
        </p:nvSpPr>
        <p:spPr>
          <a:xfrm>
            <a:off x="7750175" y="4051895"/>
            <a:ext cx="3625850" cy="346670"/>
          </a:xfrm>
          <a:prstGeom prst="roundRect">
            <a:avLst>
              <a:gd name="adj" fmla="val 17401"/>
            </a:avLst>
          </a:prstGeom>
          <a:solidFill>
            <a:srgbClr val="FFFFFF"/>
          </a:solidFill>
          <a:ln w="6350">
            <a:solidFill>
              <a:srgbClr val="E3E6E4"/>
            </a:solidFill>
            <a:prstDash val="solid"/>
          </a:ln>
        </p:spPr>
      </p:sp>
      <p:sp>
        <p:nvSpPr>
          <p:cNvPr id="29" name="Text 27"/>
          <p:cNvSpPr/>
          <p:nvPr/>
        </p:nvSpPr>
        <p:spPr>
          <a:xfrm>
            <a:off x="7867650" y="4118570"/>
            <a:ext cx="14470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73D"/>
                </a:solidFill>
                <a:latin typeface="IBM Plex Sans" pitchFamily="34" charset="0"/>
                <a:ea typeface="IBM Plex Sans" pitchFamily="34" charset="-122"/>
                <a:cs typeface="IBM Plex Sans" pitchFamily="34" charset="-120"/>
              </a:rPr>
              <a:t>Anomaly summaries</a:t>
            </a:r>
            <a:endParaRPr lang="en-US" sz="1200" dirty="0"/>
          </a:p>
        </p:txBody>
      </p:sp>
      <p:sp>
        <p:nvSpPr>
          <p:cNvPr id="30" name="Text 28"/>
          <p:cNvSpPr/>
          <p:nvPr/>
        </p:nvSpPr>
        <p:spPr>
          <a:xfrm>
            <a:off x="10946209" y="4118570"/>
            <a:ext cx="36314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52E"/>
                </a:solidFill>
                <a:latin typeface="IBM Plex Sans" pitchFamily="34" charset="0"/>
                <a:ea typeface="IBM Plex Sans" pitchFamily="34" charset="-122"/>
                <a:cs typeface="IBM Plex Sans" pitchFamily="34" charset="-120"/>
              </a:rPr>
              <a:t>next</a:t>
            </a:r>
            <a:endParaRPr lang="en-US" sz="1200" dirty="0"/>
          </a:p>
        </p:txBody>
      </p:sp>
      <p:sp>
        <p:nvSpPr>
          <p:cNvPr id="31" name="Shape 29"/>
          <p:cNvSpPr/>
          <p:nvPr/>
        </p:nvSpPr>
        <p:spPr>
          <a:xfrm>
            <a:off x="7750175" y="4468416"/>
            <a:ext cx="3625850" cy="346670"/>
          </a:xfrm>
          <a:prstGeom prst="roundRect">
            <a:avLst>
              <a:gd name="adj" fmla="val 17401"/>
            </a:avLst>
          </a:prstGeom>
          <a:solidFill>
            <a:srgbClr val="FFFFFF"/>
          </a:solidFill>
          <a:ln w="6350">
            <a:solidFill>
              <a:srgbClr val="E3E6E4"/>
            </a:solidFill>
            <a:prstDash val="solid"/>
          </a:ln>
        </p:spPr>
      </p:sp>
      <p:sp>
        <p:nvSpPr>
          <p:cNvPr id="32" name="Text 30"/>
          <p:cNvSpPr/>
          <p:nvPr/>
        </p:nvSpPr>
        <p:spPr>
          <a:xfrm>
            <a:off x="7867650" y="4535091"/>
            <a:ext cx="805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73D"/>
                </a:solidFill>
                <a:latin typeface="IBM Plex Sans" pitchFamily="34" charset="0"/>
                <a:ea typeface="IBM Plex Sans" pitchFamily="34" charset="-122"/>
                <a:cs typeface="IBM Plex Sans" pitchFamily="34" charset="-120"/>
              </a:rPr>
              <a:t>Policy Q&amp;A</a:t>
            </a:r>
            <a:endParaRPr lang="en-US" sz="1200" dirty="0"/>
          </a:p>
        </p:txBody>
      </p:sp>
      <p:sp>
        <p:nvSpPr>
          <p:cNvPr id="33" name="Text 31"/>
          <p:cNvSpPr/>
          <p:nvPr/>
        </p:nvSpPr>
        <p:spPr>
          <a:xfrm>
            <a:off x="10927854" y="4535091"/>
            <a:ext cx="38149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A7486"/>
                </a:solidFill>
                <a:latin typeface="IBM Plex Sans" pitchFamily="34" charset="0"/>
                <a:ea typeface="IBM Plex Sans" pitchFamily="34" charset="-122"/>
                <a:cs typeface="IBM Plex Sans" pitchFamily="34" charset="-120"/>
              </a:rPr>
              <a:t>later</a:t>
            </a:r>
            <a:endParaRPr lang="en-US" sz="1200" dirty="0"/>
          </a:p>
        </p:txBody>
      </p:sp>
      <p:sp>
        <p:nvSpPr>
          <p:cNvPr id="34" name="Shape 32"/>
          <p:cNvSpPr/>
          <p:nvPr/>
        </p:nvSpPr>
        <p:spPr>
          <a:xfrm>
            <a:off x="831850" y="5313759"/>
            <a:ext cx="0" cy="591741"/>
          </a:xfrm>
          <a:prstGeom prst="line">
            <a:avLst/>
          </a:prstGeom>
          <a:noFill/>
          <a:ln w="38100">
            <a:solidFill>
              <a:srgbClr val="1F7A6B"/>
            </a:solidFill>
            <a:prstDash val="solid"/>
          </a:ln>
        </p:spPr>
      </p:sp>
      <p:sp>
        <p:nvSpPr>
          <p:cNvPr id="35" name="Text 33"/>
          <p:cNvSpPr/>
          <p:nvPr/>
        </p:nvSpPr>
        <p:spPr>
          <a:xfrm>
            <a:off x="1054100" y="5351859"/>
            <a:ext cx="10634853" cy="540941"/>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4273D"/>
                </a:solidFill>
                <a:latin typeface="IBM Plex Sans" pitchFamily="34" charset="0"/>
                <a:ea typeface="IBM Plex Sans" pitchFamily="34" charset="-122"/>
                <a:cs typeface="IBM Plex Sans" pitchFamily="34" charset="-120"/>
              </a:rPr>
              <a:t>Why it matters:</a:t>
            </a:r>
            <a:r>
              <a:rPr lang="en-US" sz="1450" dirty="0">
                <a:solidFill>
                  <a:srgbClr val="14273D"/>
                </a:solidFill>
                <a:latin typeface="IBM Plex Sans" pitchFamily="34" charset="0"/>
                <a:ea typeface="IBM Plex Sans" pitchFamily="34" charset="-122"/>
                <a:cs typeface="IBM Plex Sans" pitchFamily="34" charset="-120"/>
              </a:rPr>
              <a:t> we turn policy into data once, and every team reuses it. Checking paid claims is the first use, not the only one.</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FEDERAL EDITS (NCCI)</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Federal edits you can trust</a:t>
            </a:r>
            <a:endParaRPr lang="en-US" sz="3300" dirty="0"/>
          </a:p>
        </p:txBody>
      </p:sp>
      <p:sp>
        <p:nvSpPr>
          <p:cNvPr id="4" name="Text 2"/>
          <p:cNvSpPr/>
          <p:nvPr/>
        </p:nvSpPr>
        <p:spPr>
          <a:xfrm>
            <a:off x="812800" y="1724620"/>
            <a:ext cx="1088339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5627A"/>
                </a:solidFill>
                <a:latin typeface="IBM Plex Sans" pitchFamily="34" charset="0"/>
                <a:ea typeface="IBM Plex Sans" pitchFamily="34" charset="-122"/>
                <a:cs typeface="IBM Plex Sans" pitchFamily="34" charset="-120"/>
              </a:rPr>
              <a:t>NCCI is CMS's list of billing errors: code pairs that should not be billed together, and the most units of a code allowed on one claim line.</a:t>
            </a:r>
            <a:endParaRPr lang="en-US" sz="1400" dirty="0"/>
          </a:p>
        </p:txBody>
      </p:sp>
      <p:sp>
        <p:nvSpPr>
          <p:cNvPr id="5" name="Shape 3"/>
          <p:cNvSpPr/>
          <p:nvPr/>
        </p:nvSpPr>
        <p:spPr>
          <a:xfrm>
            <a:off x="815975" y="2626420"/>
            <a:ext cx="3397250" cy="2283222"/>
          </a:xfrm>
          <a:prstGeom prst="roundRect">
            <a:avLst>
              <a:gd name="adj" fmla="val 4311"/>
            </a:avLst>
          </a:prstGeom>
          <a:solidFill>
            <a:srgbClr val="FFFFFF"/>
          </a:solidFill>
          <a:ln w="6350">
            <a:solidFill>
              <a:srgbClr val="E3E6E4"/>
            </a:solidFill>
            <a:prstDash val="solid"/>
          </a:ln>
        </p:spPr>
      </p:sp>
      <p:sp>
        <p:nvSpPr>
          <p:cNvPr id="6" name="Text 4"/>
          <p:cNvSpPr/>
          <p:nvPr/>
        </p:nvSpPr>
        <p:spPr>
          <a:xfrm>
            <a:off x="1047750" y="2858195"/>
            <a:ext cx="3021711"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7A6B"/>
                </a:solidFill>
                <a:latin typeface="JetBrains Mono" pitchFamily="34" charset="0"/>
                <a:ea typeface="JetBrains Mono" pitchFamily="34" charset="-122"/>
                <a:cs typeface="JetBrains Mono" pitchFamily="34" charset="-120"/>
              </a:rPr>
              <a:t>1</a:t>
            </a:r>
            <a:endParaRPr lang="en-US" sz="1600" dirty="0"/>
          </a:p>
        </p:txBody>
      </p:sp>
      <p:sp>
        <p:nvSpPr>
          <p:cNvPr id="7" name="Text 5"/>
          <p:cNvSpPr/>
          <p:nvPr/>
        </p:nvSpPr>
        <p:spPr>
          <a:xfrm>
            <a:off x="1047750" y="3218855"/>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Always current</a:t>
            </a:r>
            <a:endParaRPr lang="en-US" sz="1600" dirty="0"/>
          </a:p>
        </p:txBody>
      </p:sp>
      <p:sp>
        <p:nvSpPr>
          <p:cNvPr id="8" name="Text 6"/>
          <p:cNvSpPr/>
          <p:nvPr/>
        </p:nvSpPr>
        <p:spPr>
          <a:xfrm>
            <a:off x="1047750" y="3538835"/>
            <a:ext cx="3021711" cy="936625"/>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Each quarter, one notebook downloads CMS's files, checks every row and loads them. No manual steps. A bad file stops the load instead of slipping in.</a:t>
            </a:r>
            <a:endParaRPr lang="en-US" sz="1300" dirty="0"/>
          </a:p>
        </p:txBody>
      </p:sp>
      <p:sp>
        <p:nvSpPr>
          <p:cNvPr id="9" name="Shape 7"/>
          <p:cNvSpPr/>
          <p:nvPr/>
        </p:nvSpPr>
        <p:spPr>
          <a:xfrm>
            <a:off x="4397375" y="2626420"/>
            <a:ext cx="3397250" cy="2283222"/>
          </a:xfrm>
          <a:prstGeom prst="roundRect">
            <a:avLst>
              <a:gd name="adj" fmla="val 4311"/>
            </a:avLst>
          </a:prstGeom>
          <a:solidFill>
            <a:srgbClr val="FFFFFF"/>
          </a:solidFill>
          <a:ln w="6350">
            <a:solidFill>
              <a:srgbClr val="E3E6E4"/>
            </a:solidFill>
            <a:prstDash val="solid"/>
          </a:ln>
        </p:spPr>
      </p:sp>
      <p:sp>
        <p:nvSpPr>
          <p:cNvPr id="10" name="Text 8"/>
          <p:cNvSpPr/>
          <p:nvPr/>
        </p:nvSpPr>
        <p:spPr>
          <a:xfrm>
            <a:off x="4629150" y="2858195"/>
            <a:ext cx="3021711"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7A6B"/>
                </a:solidFill>
                <a:latin typeface="JetBrains Mono" pitchFamily="34" charset="0"/>
                <a:ea typeface="JetBrains Mono" pitchFamily="34" charset="-122"/>
                <a:cs typeface="JetBrains Mono" pitchFamily="34" charset="-120"/>
              </a:rPr>
              <a:t>2</a:t>
            </a:r>
            <a:endParaRPr lang="en-US" sz="1600" dirty="0"/>
          </a:p>
        </p:txBody>
      </p:sp>
      <p:sp>
        <p:nvSpPr>
          <p:cNvPr id="11" name="Text 9"/>
          <p:cNvSpPr/>
          <p:nvPr/>
        </p:nvSpPr>
        <p:spPr>
          <a:xfrm>
            <a:off x="4629150" y="3218855"/>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Read the way CMS reads them</a:t>
            </a:r>
            <a:endParaRPr lang="en-US" sz="1600" dirty="0"/>
          </a:p>
        </p:txBody>
      </p:sp>
      <p:sp>
        <p:nvSpPr>
          <p:cNvPr id="12" name="Text 10"/>
          <p:cNvSpPr/>
          <p:nvPr/>
        </p:nvSpPr>
        <p:spPr>
          <a:xfrm>
            <a:off x="4629150" y="3538835"/>
            <a:ext cx="3021711" cy="1164431"/>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An edit counts only while it was in force. Unit limits apply per claim line. If a modifier shows two services were separate, no flag. The flag lands on the line CMS would deny.</a:t>
            </a:r>
            <a:endParaRPr lang="en-US" sz="1300" dirty="0"/>
          </a:p>
        </p:txBody>
      </p:sp>
      <p:sp>
        <p:nvSpPr>
          <p:cNvPr id="13" name="Shape 11"/>
          <p:cNvSpPr/>
          <p:nvPr/>
        </p:nvSpPr>
        <p:spPr>
          <a:xfrm>
            <a:off x="7978775" y="2626420"/>
            <a:ext cx="3397250" cy="2283222"/>
          </a:xfrm>
          <a:prstGeom prst="roundRect">
            <a:avLst>
              <a:gd name="adj" fmla="val 4311"/>
            </a:avLst>
          </a:prstGeom>
          <a:solidFill>
            <a:srgbClr val="FFFFFF"/>
          </a:solidFill>
          <a:ln w="6350">
            <a:solidFill>
              <a:srgbClr val="E3E6E4"/>
            </a:solidFill>
            <a:prstDash val="solid"/>
          </a:ln>
        </p:spPr>
      </p:sp>
      <p:sp>
        <p:nvSpPr>
          <p:cNvPr id="14" name="Text 12"/>
          <p:cNvSpPr/>
          <p:nvPr/>
        </p:nvSpPr>
        <p:spPr>
          <a:xfrm>
            <a:off x="8210550" y="2858195"/>
            <a:ext cx="3021711"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7A6B"/>
                </a:solidFill>
                <a:latin typeface="JetBrains Mono" pitchFamily="34" charset="0"/>
                <a:ea typeface="JetBrains Mono" pitchFamily="34" charset="-122"/>
                <a:cs typeface="JetBrains Mono" pitchFamily="34" charset="-120"/>
              </a:rPr>
              <a:t>3</a:t>
            </a:r>
            <a:endParaRPr lang="en-US" sz="1600" dirty="0"/>
          </a:p>
        </p:txBody>
      </p:sp>
      <p:sp>
        <p:nvSpPr>
          <p:cNvPr id="15" name="Text 13"/>
          <p:cNvSpPr/>
          <p:nvPr/>
        </p:nvSpPr>
        <p:spPr>
          <a:xfrm>
            <a:off x="8210550" y="3218855"/>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Nothing skipped</a:t>
            </a:r>
            <a:endParaRPr lang="en-US" sz="1600" dirty="0"/>
          </a:p>
        </p:txBody>
      </p:sp>
      <p:sp>
        <p:nvSpPr>
          <p:cNvPr id="16" name="Text 14"/>
          <p:cNvSpPr/>
          <p:nvPr/>
        </p:nvSpPr>
        <p:spPr>
          <a:xfrm>
            <a:off x="8210550" y="3538835"/>
            <a:ext cx="3021711" cy="936625"/>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Every edit is checked against every paid claim. Before, a run stopped after 300 edits, so most federal edits never ran.</a:t>
            </a:r>
            <a:endParaRPr lang="en-US" sz="1300" dirty="0"/>
          </a:p>
        </p:txBody>
      </p:sp>
      <p:sp>
        <p:nvSpPr>
          <p:cNvPr id="17" name="Shape 15"/>
          <p:cNvSpPr/>
          <p:nvPr/>
        </p:nvSpPr>
        <p:spPr>
          <a:xfrm>
            <a:off x="831850" y="5313759"/>
            <a:ext cx="0" cy="591741"/>
          </a:xfrm>
          <a:prstGeom prst="line">
            <a:avLst/>
          </a:prstGeom>
          <a:noFill/>
          <a:ln w="38100">
            <a:solidFill>
              <a:srgbClr val="1F7A6B"/>
            </a:solidFill>
            <a:prstDash val="solid"/>
          </a:ln>
        </p:spPr>
      </p:sp>
      <p:sp>
        <p:nvSpPr>
          <p:cNvPr id="18" name="Text 16"/>
          <p:cNvSpPr/>
          <p:nvPr/>
        </p:nvSpPr>
        <p:spPr>
          <a:xfrm>
            <a:off x="1054100" y="5351859"/>
            <a:ext cx="10634853" cy="540941"/>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4273D"/>
                </a:solidFill>
                <a:latin typeface="IBM Plex Sans" pitchFamily="34" charset="0"/>
                <a:ea typeface="IBM Plex Sans" pitchFamily="34" charset="-122"/>
                <a:cs typeface="IBM Plex Sans" pitchFamily="34" charset="-120"/>
              </a:rPr>
              <a:t>What this means:</a:t>
            </a:r>
            <a:r>
              <a:rPr lang="en-US" sz="1450" dirty="0">
                <a:solidFill>
                  <a:srgbClr val="14273D"/>
                </a:solidFill>
                <a:latin typeface="IBM Plex Sans" pitchFamily="34" charset="0"/>
                <a:ea typeface="IBM Plex Sans" pitchFamily="34" charset="-122"/>
                <a:cs typeface="IBM Plex Sans" pitchFamily="34" charset="-120"/>
              </a:rPr>
              <a:t> a federal-edit flag uses this quarter's rules, read the way CMS reads them. And nobody downloads or reformats CMS files by hand anymore.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STATE POLICY</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Details that decide if a flag is right</a:t>
            </a:r>
            <a:endParaRPr lang="en-US" sz="3300" dirty="0"/>
          </a:p>
        </p:txBody>
      </p:sp>
      <p:sp>
        <p:nvSpPr>
          <p:cNvPr id="4" name="Shape 2"/>
          <p:cNvSpPr/>
          <p:nvPr/>
        </p:nvSpPr>
        <p:spPr>
          <a:xfrm>
            <a:off x="815975" y="2072184"/>
            <a:ext cx="5187950" cy="1426666"/>
          </a:xfrm>
          <a:prstGeom prst="roundRect">
            <a:avLst>
              <a:gd name="adj" fmla="val 6899"/>
            </a:avLst>
          </a:prstGeom>
          <a:solidFill>
            <a:srgbClr val="FFFFFF"/>
          </a:solidFill>
          <a:ln w="6350">
            <a:solidFill>
              <a:srgbClr val="E3E6E4"/>
            </a:solidFill>
            <a:prstDash val="solid"/>
          </a:ln>
        </p:spPr>
      </p:sp>
      <p:sp>
        <p:nvSpPr>
          <p:cNvPr id="5" name="Text 3"/>
          <p:cNvSpPr/>
          <p:nvPr/>
        </p:nvSpPr>
        <p:spPr>
          <a:xfrm>
            <a:off x="1035050" y="2291259"/>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Same member, different providers</a:t>
            </a:r>
            <a:endParaRPr lang="en-US" sz="1600" dirty="0"/>
          </a:p>
        </p:txBody>
      </p:sp>
      <p:sp>
        <p:nvSpPr>
          <p:cNvPr id="6" name="Text 4"/>
          <p:cNvSpPr/>
          <p:nvPr/>
        </p:nvSpPr>
        <p:spPr>
          <a:xfrm>
            <a:off x="1035050" y="2611239"/>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55627A"/>
                </a:solidFill>
                <a:latin typeface="IBM Plex Sans" pitchFamily="34" charset="0"/>
                <a:ea typeface="IBM Plex Sans" pitchFamily="34" charset="-122"/>
                <a:cs typeface="IBM Plex Sans" pitchFamily="34" charset="-120"/>
              </a:rPr>
              <a:t>NCCI only checks a code pair billed by one provider. AHCCCS bans some pairs for the same member on the same day, by anyone, so we catch those too.</a:t>
            </a:r>
            <a:endParaRPr lang="en-US" sz="1300" dirty="0"/>
          </a:p>
        </p:txBody>
      </p:sp>
      <p:sp>
        <p:nvSpPr>
          <p:cNvPr id="7" name="Shape 5"/>
          <p:cNvSpPr/>
          <p:nvPr/>
        </p:nvSpPr>
        <p:spPr>
          <a:xfrm>
            <a:off x="6188075" y="2072184"/>
            <a:ext cx="5187950" cy="1426666"/>
          </a:xfrm>
          <a:prstGeom prst="roundRect">
            <a:avLst>
              <a:gd name="adj" fmla="val 6899"/>
            </a:avLst>
          </a:prstGeom>
          <a:solidFill>
            <a:srgbClr val="FFFFFF"/>
          </a:solidFill>
          <a:ln w="6350">
            <a:solidFill>
              <a:srgbClr val="E3E6E4"/>
            </a:solidFill>
            <a:prstDash val="solid"/>
          </a:ln>
        </p:spPr>
      </p:sp>
      <p:sp>
        <p:nvSpPr>
          <p:cNvPr id="8" name="Text 6"/>
          <p:cNvSpPr/>
          <p:nvPr/>
        </p:nvSpPr>
        <p:spPr>
          <a:xfrm>
            <a:off x="6407150" y="2291259"/>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A PA never hides a flag</a:t>
            </a:r>
            <a:endParaRPr lang="en-US" sz="1600" dirty="0"/>
          </a:p>
        </p:txBody>
      </p:sp>
      <p:sp>
        <p:nvSpPr>
          <p:cNvPr id="9" name="Text 7"/>
          <p:cNvSpPr/>
          <p:nvPr/>
        </p:nvSpPr>
        <p:spPr>
          <a:xfrm>
            <a:off x="6407150" y="2611239"/>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55627A"/>
                </a:solidFill>
                <a:latin typeface="IBM Plex Sans" pitchFamily="34" charset="0"/>
                <a:ea typeface="IBM Plex Sans" pitchFamily="34" charset="-122"/>
                <a:cs typeface="IBM Plex Sans" pitchFamily="34" charset="-120"/>
              </a:rPr>
              <a:t>Over a limit with a PA number: still flagged, marked "check the PA". Without one: a normal flag. NCCI edits ignore PAs, as CMS instructs.</a:t>
            </a:r>
            <a:endParaRPr lang="en-US" sz="1300" dirty="0"/>
          </a:p>
        </p:txBody>
      </p:sp>
      <p:sp>
        <p:nvSpPr>
          <p:cNvPr id="10" name="Shape 8"/>
          <p:cNvSpPr/>
          <p:nvPr/>
        </p:nvSpPr>
        <p:spPr>
          <a:xfrm>
            <a:off x="815975" y="3683000"/>
            <a:ext cx="5187950" cy="1426666"/>
          </a:xfrm>
          <a:prstGeom prst="roundRect">
            <a:avLst>
              <a:gd name="adj" fmla="val 6899"/>
            </a:avLst>
          </a:prstGeom>
          <a:solidFill>
            <a:srgbClr val="FFFFFF"/>
          </a:solidFill>
          <a:ln w="6350">
            <a:solidFill>
              <a:srgbClr val="E3E6E4"/>
            </a:solidFill>
            <a:prstDash val="solid"/>
          </a:ln>
        </p:spPr>
      </p:sp>
      <p:sp>
        <p:nvSpPr>
          <p:cNvPr id="11" name="Text 9"/>
          <p:cNvSpPr/>
          <p:nvPr/>
        </p:nvSpPr>
        <p:spPr>
          <a:xfrm>
            <a:off x="1035050" y="3902075"/>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Age rules wait for member data</a:t>
            </a:r>
            <a:endParaRPr lang="en-US" sz="1600" dirty="0"/>
          </a:p>
        </p:txBody>
      </p:sp>
      <p:sp>
        <p:nvSpPr>
          <p:cNvPr id="12" name="Text 10"/>
          <p:cNvSpPr/>
          <p:nvPr/>
        </p:nvSpPr>
        <p:spPr>
          <a:xfrm>
            <a:off x="1035050" y="4222055"/>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55627A"/>
                </a:solidFill>
                <a:latin typeface="IBM Plex Sans" pitchFamily="34" charset="0"/>
                <a:ea typeface="IBM Plex Sans" pitchFamily="34" charset="-122"/>
                <a:cs typeface="IBM Plex Sans" pitchFamily="34" charset="-120"/>
              </a:rPr>
              <a:t>Our claims don't carry age yet, so a rule like "under 21 only" can't be checked. It stays on a review list instead of applying to everyone.</a:t>
            </a:r>
            <a:endParaRPr lang="en-US" sz="1300" dirty="0"/>
          </a:p>
        </p:txBody>
      </p:sp>
      <p:sp>
        <p:nvSpPr>
          <p:cNvPr id="13" name="Shape 11"/>
          <p:cNvSpPr/>
          <p:nvPr/>
        </p:nvSpPr>
        <p:spPr>
          <a:xfrm>
            <a:off x="6188075" y="3683000"/>
            <a:ext cx="5187950" cy="1426666"/>
          </a:xfrm>
          <a:prstGeom prst="roundRect">
            <a:avLst>
              <a:gd name="adj" fmla="val 6899"/>
            </a:avLst>
          </a:prstGeom>
          <a:solidFill>
            <a:srgbClr val="FFFFFF"/>
          </a:solidFill>
          <a:ln w="6350">
            <a:solidFill>
              <a:srgbClr val="E3E6E4"/>
            </a:solidFill>
            <a:prstDash val="solid"/>
          </a:ln>
        </p:spPr>
      </p:sp>
      <p:sp>
        <p:nvSpPr>
          <p:cNvPr id="14" name="Text 12"/>
          <p:cNvSpPr/>
          <p:nvPr/>
        </p:nvSpPr>
        <p:spPr>
          <a:xfrm>
            <a:off x="6407150" y="3902075"/>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Yearly limits reset October 1</a:t>
            </a:r>
            <a:endParaRPr lang="en-US" sz="1600" dirty="0"/>
          </a:p>
        </p:txBody>
      </p:sp>
      <p:sp>
        <p:nvSpPr>
          <p:cNvPr id="15" name="Text 13"/>
          <p:cNvSpPr/>
          <p:nvPr/>
        </p:nvSpPr>
        <p:spPr>
          <a:xfrm>
            <a:off x="6407150" y="4222055"/>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55627A"/>
                </a:solidFill>
                <a:latin typeface="IBM Plex Sans" pitchFamily="34" charset="0"/>
                <a:ea typeface="IBM Plex Sans" pitchFamily="34" charset="-122"/>
                <a:cs typeface="IBM Plex Sans" pitchFamily="34" charset="-120"/>
              </a:rPr>
              <a:t>AHCCCS counts yearly limits from Oct 1 to Sep 30, and a mid-year enrollment change doesn't restart the count. A calendar year would flag the wrong claims.</a:t>
            </a:r>
            <a:endParaRPr lang="en-US" sz="1300" dirty="0"/>
          </a:p>
        </p:txBody>
      </p:sp>
      <p:sp>
        <p:nvSpPr>
          <p:cNvPr id="16" name="Shape 14"/>
          <p:cNvSpPr/>
          <p:nvPr/>
        </p:nvSpPr>
        <p:spPr>
          <a:xfrm>
            <a:off x="831850" y="5571530"/>
            <a:ext cx="0" cy="333970"/>
          </a:xfrm>
          <a:prstGeom prst="line">
            <a:avLst/>
          </a:prstGeom>
          <a:noFill/>
          <a:ln w="38100">
            <a:solidFill>
              <a:srgbClr val="1F7A6B"/>
            </a:solidFill>
            <a:prstDash val="solid"/>
          </a:ln>
        </p:spPr>
      </p:sp>
      <p:sp>
        <p:nvSpPr>
          <p:cNvPr id="17" name="Text 15"/>
          <p:cNvSpPr/>
          <p:nvPr/>
        </p:nvSpPr>
        <p:spPr>
          <a:xfrm>
            <a:off x="1054100" y="5609630"/>
            <a:ext cx="10634853"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4273D"/>
                </a:solidFill>
                <a:latin typeface="IBM Plex Sans" pitchFamily="34" charset="0"/>
                <a:ea typeface="IBM Plex Sans" pitchFamily="34" charset="-122"/>
                <a:cs typeface="IBM Plex Sans" pitchFamily="34" charset="-120"/>
              </a:rPr>
              <a:t>Why it matters:</a:t>
            </a:r>
            <a:r>
              <a:rPr lang="en-US" sz="1450" dirty="0">
                <a:solidFill>
                  <a:srgbClr val="14273D"/>
                </a:solidFill>
                <a:latin typeface="IBM Plex Sans" pitchFamily="34" charset="0"/>
                <a:ea typeface="IBM Plex Sans" pitchFamily="34" charset="-122"/>
                <a:cs typeface="IBM Plex Sans" pitchFamily="34" charset="-120"/>
              </a:rPr>
              <a:t> get any of these wrong and we flag honest claims or miss real ones. Each one is covered by a test.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DEFENSIBLE · STATE RULES</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How a state rule earns its place</a:t>
            </a:r>
            <a:endParaRPr lang="en-US" sz="3300" dirty="0"/>
          </a:p>
        </p:txBody>
      </p:sp>
      <p:sp>
        <p:nvSpPr>
          <p:cNvPr id="4" name="Shape 2"/>
          <p:cNvSpPr/>
          <p:nvPr/>
        </p:nvSpPr>
        <p:spPr>
          <a:xfrm>
            <a:off x="815975" y="1727398"/>
            <a:ext cx="1383209" cy="509191"/>
          </a:xfrm>
          <a:prstGeom prst="roundRect">
            <a:avLst>
              <a:gd name="adj" fmla="val 14341"/>
            </a:avLst>
          </a:prstGeom>
          <a:solidFill>
            <a:srgbClr val="FFFFFF"/>
          </a:solidFill>
          <a:ln w="6350">
            <a:solidFill>
              <a:srgbClr val="E3E6E4"/>
            </a:solidFill>
            <a:prstDash val="solid"/>
          </a:ln>
        </p:spPr>
      </p:sp>
      <p:sp>
        <p:nvSpPr>
          <p:cNvPr id="5" name="Text 3"/>
          <p:cNvSpPr/>
          <p:nvPr/>
        </p:nvSpPr>
        <p:spPr>
          <a:xfrm>
            <a:off x="1009650" y="1857573"/>
            <a:ext cx="104665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73D"/>
                </a:solidFill>
                <a:latin typeface="IBM Plex Sans" pitchFamily="34" charset="0"/>
                <a:ea typeface="IBM Plex Sans" pitchFamily="34" charset="-122"/>
                <a:cs typeface="IBM Plex Sans" pitchFamily="34" charset="-120"/>
              </a:rPr>
              <a:t>AI proposes</a:t>
            </a:r>
            <a:endParaRPr lang="en-US" sz="1400" dirty="0"/>
          </a:p>
        </p:txBody>
      </p:sp>
      <p:sp>
        <p:nvSpPr>
          <p:cNvPr id="6" name="Text 4"/>
          <p:cNvSpPr/>
          <p:nvPr/>
        </p:nvSpPr>
        <p:spPr>
          <a:xfrm>
            <a:off x="2316659" y="1839714"/>
            <a:ext cx="2540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7A6B"/>
                </a:solidFill>
                <a:latin typeface="IBM Plex Sans" pitchFamily="34" charset="0"/>
                <a:ea typeface="IBM Plex Sans" pitchFamily="34" charset="-122"/>
                <a:cs typeface="IBM Plex Sans" pitchFamily="34" charset="-120"/>
              </a:rPr>
              <a:t>→</a:t>
            </a:r>
            <a:endParaRPr lang="en-US" sz="1600" dirty="0"/>
          </a:p>
        </p:txBody>
      </p:sp>
      <p:sp>
        <p:nvSpPr>
          <p:cNvPr id="7" name="Shape 5"/>
          <p:cNvSpPr/>
          <p:nvPr/>
        </p:nvSpPr>
        <p:spPr>
          <a:xfrm>
            <a:off x="2637334" y="1727398"/>
            <a:ext cx="2435820" cy="509191"/>
          </a:xfrm>
          <a:prstGeom prst="roundRect">
            <a:avLst>
              <a:gd name="adj" fmla="val 14341"/>
            </a:avLst>
          </a:prstGeom>
          <a:solidFill>
            <a:srgbClr val="FFFFFF"/>
          </a:solidFill>
          <a:ln w="6350">
            <a:solidFill>
              <a:srgbClr val="E3E6E4"/>
            </a:solidFill>
            <a:prstDash val="solid"/>
          </a:ln>
        </p:spPr>
      </p:sp>
      <p:sp>
        <p:nvSpPr>
          <p:cNvPr id="8" name="Text 6"/>
          <p:cNvSpPr/>
          <p:nvPr/>
        </p:nvSpPr>
        <p:spPr>
          <a:xfrm>
            <a:off x="2831009" y="1857573"/>
            <a:ext cx="210992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73D"/>
                </a:solidFill>
                <a:latin typeface="IBM Plex Sans" pitchFamily="34" charset="0"/>
                <a:ea typeface="IBM Plex Sans" pitchFamily="34" charset="-122"/>
                <a:cs typeface="IBM Plex Sans" pitchFamily="34" charset="-120"/>
              </a:rPr>
              <a:t>Checked against the PDF</a:t>
            </a:r>
            <a:endParaRPr lang="en-US" sz="1400" dirty="0"/>
          </a:p>
        </p:txBody>
      </p:sp>
      <p:sp>
        <p:nvSpPr>
          <p:cNvPr id="9" name="Text 7"/>
          <p:cNvSpPr/>
          <p:nvPr/>
        </p:nvSpPr>
        <p:spPr>
          <a:xfrm>
            <a:off x="5190629" y="1839714"/>
            <a:ext cx="2540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7A6B"/>
                </a:solidFill>
                <a:latin typeface="IBM Plex Sans" pitchFamily="34" charset="0"/>
                <a:ea typeface="IBM Plex Sans" pitchFamily="34" charset="-122"/>
                <a:cs typeface="IBM Plex Sans" pitchFamily="34" charset="-120"/>
              </a:rPr>
              <a:t>→</a:t>
            </a:r>
            <a:endParaRPr lang="en-US" sz="1600" dirty="0"/>
          </a:p>
        </p:txBody>
      </p:sp>
      <p:sp>
        <p:nvSpPr>
          <p:cNvPr id="10" name="Shape 8"/>
          <p:cNvSpPr/>
          <p:nvPr/>
        </p:nvSpPr>
        <p:spPr>
          <a:xfrm>
            <a:off x="5511304" y="1727398"/>
            <a:ext cx="2059285" cy="509191"/>
          </a:xfrm>
          <a:prstGeom prst="roundRect">
            <a:avLst>
              <a:gd name="adj" fmla="val 14341"/>
            </a:avLst>
          </a:prstGeom>
          <a:solidFill>
            <a:srgbClr val="FFFFFF"/>
          </a:solidFill>
          <a:ln w="6350">
            <a:solidFill>
              <a:srgbClr val="E3E6E4"/>
            </a:solidFill>
            <a:prstDash val="solid"/>
          </a:ln>
        </p:spPr>
      </p:sp>
      <p:sp>
        <p:nvSpPr>
          <p:cNvPr id="11" name="Text 9"/>
          <p:cNvSpPr/>
          <p:nvPr/>
        </p:nvSpPr>
        <p:spPr>
          <a:xfrm>
            <a:off x="5704979" y="1857573"/>
            <a:ext cx="172273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73D"/>
                </a:solidFill>
                <a:latin typeface="IBM Plex Sans" pitchFamily="34" charset="0"/>
                <a:ea typeface="IBM Plex Sans" pitchFamily="34" charset="-122"/>
                <a:cs typeface="IBM Plex Sans" pitchFamily="34" charset="-120"/>
              </a:rPr>
              <a:t>Named person signs</a:t>
            </a:r>
            <a:endParaRPr lang="en-US" sz="1400" dirty="0"/>
          </a:p>
        </p:txBody>
      </p:sp>
      <p:sp>
        <p:nvSpPr>
          <p:cNvPr id="12" name="Text 10"/>
          <p:cNvSpPr/>
          <p:nvPr/>
        </p:nvSpPr>
        <p:spPr>
          <a:xfrm>
            <a:off x="7688064" y="1839714"/>
            <a:ext cx="2540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7A6B"/>
                </a:solidFill>
                <a:latin typeface="IBM Plex Sans" pitchFamily="34" charset="0"/>
                <a:ea typeface="IBM Plex Sans" pitchFamily="34" charset="-122"/>
                <a:cs typeface="IBM Plex Sans" pitchFamily="34" charset="-120"/>
              </a:rPr>
              <a:t>→</a:t>
            </a:r>
            <a:endParaRPr lang="en-US" sz="1600" dirty="0"/>
          </a:p>
        </p:txBody>
      </p:sp>
      <p:sp>
        <p:nvSpPr>
          <p:cNvPr id="13" name="Shape 11"/>
          <p:cNvSpPr/>
          <p:nvPr/>
        </p:nvSpPr>
        <p:spPr>
          <a:xfrm>
            <a:off x="8005564" y="1730573"/>
            <a:ext cx="895251" cy="502841"/>
          </a:xfrm>
          <a:prstGeom prst="roundRect">
            <a:avLst>
              <a:gd name="adj" fmla="val 15154"/>
            </a:avLst>
          </a:prstGeom>
          <a:solidFill>
            <a:srgbClr val="1F7A6B"/>
          </a:solidFill>
          <a:ln/>
        </p:spPr>
      </p:sp>
      <p:sp>
        <p:nvSpPr>
          <p:cNvPr id="14" name="Text 12"/>
          <p:cNvSpPr/>
          <p:nvPr/>
        </p:nvSpPr>
        <p:spPr>
          <a:xfrm>
            <a:off x="8196064" y="1857573"/>
            <a:ext cx="56505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IBM Plex Sans" pitchFamily="34" charset="0"/>
                <a:ea typeface="IBM Plex Sans" pitchFamily="34" charset="-122"/>
                <a:cs typeface="IBM Plex Sans" pitchFamily="34" charset="-120"/>
              </a:rPr>
              <a:t>In use</a:t>
            </a:r>
            <a:endParaRPr lang="en-US" sz="1400" dirty="0"/>
          </a:p>
        </p:txBody>
      </p:sp>
      <p:sp>
        <p:nvSpPr>
          <p:cNvPr id="15" name="Shape 13"/>
          <p:cNvSpPr/>
          <p:nvPr/>
        </p:nvSpPr>
        <p:spPr>
          <a:xfrm>
            <a:off x="815975" y="2357239"/>
            <a:ext cx="1691084" cy="509191"/>
          </a:xfrm>
          <a:prstGeom prst="roundRect">
            <a:avLst>
              <a:gd name="adj" fmla="val 14341"/>
            </a:avLst>
          </a:prstGeom>
          <a:solidFill>
            <a:srgbClr val="FFFFFF"/>
          </a:solidFill>
          <a:ln w="6350">
            <a:solidFill>
              <a:srgbClr val="E3E6E4"/>
            </a:solidFill>
            <a:prstDash val="solid"/>
          </a:ln>
        </p:spPr>
      </p:sp>
      <p:sp>
        <p:nvSpPr>
          <p:cNvPr id="16" name="Text 14"/>
          <p:cNvSpPr/>
          <p:nvPr/>
        </p:nvSpPr>
        <p:spPr>
          <a:xfrm>
            <a:off x="1009650" y="2487414"/>
            <a:ext cx="135453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73D"/>
                </a:solidFill>
                <a:latin typeface="IBM Plex Sans" pitchFamily="34" charset="0"/>
                <a:ea typeface="IBM Plex Sans" pitchFamily="34" charset="-122"/>
                <a:cs typeface="IBM Plex Sans" pitchFamily="34" charset="-120"/>
              </a:rPr>
              <a:t>Chapter revised</a:t>
            </a:r>
            <a:endParaRPr lang="en-US" sz="1400" dirty="0"/>
          </a:p>
        </p:txBody>
      </p:sp>
      <p:sp>
        <p:nvSpPr>
          <p:cNvPr id="17" name="Text 15"/>
          <p:cNvSpPr/>
          <p:nvPr/>
        </p:nvSpPr>
        <p:spPr>
          <a:xfrm>
            <a:off x="2624534" y="2469555"/>
            <a:ext cx="2540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52E"/>
                </a:solidFill>
                <a:latin typeface="IBM Plex Sans" pitchFamily="34" charset="0"/>
                <a:ea typeface="IBM Plex Sans" pitchFamily="34" charset="-122"/>
                <a:cs typeface="IBM Plex Sans" pitchFamily="34" charset="-120"/>
              </a:rPr>
              <a:t>→</a:t>
            </a:r>
            <a:endParaRPr lang="en-US" sz="1600" dirty="0"/>
          </a:p>
        </p:txBody>
      </p:sp>
      <p:sp>
        <p:nvSpPr>
          <p:cNvPr id="18" name="Shape 16"/>
          <p:cNvSpPr/>
          <p:nvPr/>
        </p:nvSpPr>
        <p:spPr>
          <a:xfrm>
            <a:off x="2945209" y="2357239"/>
            <a:ext cx="1598116" cy="509191"/>
          </a:xfrm>
          <a:prstGeom prst="roundRect">
            <a:avLst>
              <a:gd name="adj" fmla="val 14341"/>
            </a:avLst>
          </a:prstGeom>
          <a:solidFill>
            <a:srgbClr val="FFFFFF"/>
          </a:solidFill>
          <a:ln w="6350">
            <a:solidFill>
              <a:srgbClr val="E3E6E4"/>
            </a:solidFill>
            <a:prstDash val="solid"/>
          </a:ln>
        </p:spPr>
      </p:sp>
      <p:sp>
        <p:nvSpPr>
          <p:cNvPr id="19" name="Text 17"/>
          <p:cNvSpPr/>
          <p:nvPr/>
        </p:nvSpPr>
        <p:spPr>
          <a:xfrm>
            <a:off x="3138884" y="2487414"/>
            <a:ext cx="1261566"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73D"/>
                </a:solidFill>
                <a:latin typeface="IBM Plex Sans" pitchFamily="34" charset="0"/>
                <a:ea typeface="IBM Plex Sans" pitchFamily="34" charset="-122"/>
                <a:cs typeface="IBM Plex Sans" pitchFamily="34" charset="-120"/>
              </a:rPr>
              <a:t>Back to review</a:t>
            </a:r>
            <a:endParaRPr lang="en-US" sz="1400" dirty="0"/>
          </a:p>
        </p:txBody>
      </p:sp>
      <p:sp>
        <p:nvSpPr>
          <p:cNvPr id="20" name="Text 18"/>
          <p:cNvSpPr/>
          <p:nvPr/>
        </p:nvSpPr>
        <p:spPr>
          <a:xfrm>
            <a:off x="4660801" y="2469555"/>
            <a:ext cx="2540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52E"/>
                </a:solidFill>
                <a:latin typeface="IBM Plex Sans" pitchFamily="34" charset="0"/>
                <a:ea typeface="IBM Plex Sans" pitchFamily="34" charset="-122"/>
                <a:cs typeface="IBM Plex Sans" pitchFamily="34" charset="-120"/>
              </a:rPr>
              <a:t>→</a:t>
            </a:r>
            <a:endParaRPr lang="en-US" sz="1600" dirty="0"/>
          </a:p>
        </p:txBody>
      </p:sp>
      <p:sp>
        <p:nvSpPr>
          <p:cNvPr id="21" name="Shape 19"/>
          <p:cNvSpPr/>
          <p:nvPr/>
        </p:nvSpPr>
        <p:spPr>
          <a:xfrm>
            <a:off x="4978301" y="2360414"/>
            <a:ext cx="2464098" cy="502841"/>
          </a:xfrm>
          <a:prstGeom prst="roundRect">
            <a:avLst>
              <a:gd name="adj" fmla="val 15154"/>
            </a:avLst>
          </a:prstGeom>
          <a:solidFill>
            <a:srgbClr val="B4552E"/>
          </a:solidFill>
          <a:ln/>
        </p:spPr>
      </p:sp>
      <p:sp>
        <p:nvSpPr>
          <p:cNvPr id="22" name="Text 20"/>
          <p:cNvSpPr/>
          <p:nvPr/>
        </p:nvSpPr>
        <p:spPr>
          <a:xfrm>
            <a:off x="5168801" y="2487414"/>
            <a:ext cx="214559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IBM Plex Sans" pitchFamily="34" charset="0"/>
                <a:ea typeface="IBM Plex Sans" pitchFamily="34" charset="-122"/>
                <a:cs typeface="IBM Plex Sans" pitchFamily="34" charset="-120"/>
              </a:rPr>
              <a:t>Out of use until re-signed</a:t>
            </a:r>
            <a:endParaRPr lang="en-US" sz="1400" dirty="0"/>
          </a:p>
        </p:txBody>
      </p:sp>
      <p:sp>
        <p:nvSpPr>
          <p:cNvPr id="23" name="Shape 21"/>
          <p:cNvSpPr/>
          <p:nvPr/>
        </p:nvSpPr>
        <p:spPr>
          <a:xfrm>
            <a:off x="815975" y="2986782"/>
            <a:ext cx="5175250" cy="1669355"/>
          </a:xfrm>
          <a:prstGeom prst="roundRect">
            <a:avLst>
              <a:gd name="adj" fmla="val 5896"/>
            </a:avLst>
          </a:prstGeom>
          <a:solidFill>
            <a:srgbClr val="FFFFFF"/>
          </a:solidFill>
          <a:ln w="6350">
            <a:solidFill>
              <a:srgbClr val="E3E6E4"/>
            </a:solidFill>
            <a:prstDash val="solid"/>
          </a:ln>
        </p:spPr>
      </p:sp>
      <p:sp>
        <p:nvSpPr>
          <p:cNvPr id="24" name="Text 22"/>
          <p:cNvSpPr/>
          <p:nvPr/>
        </p:nvSpPr>
        <p:spPr>
          <a:xfrm>
            <a:off x="1035050" y="3205857"/>
            <a:ext cx="487921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The automatic check</a:t>
            </a:r>
            <a:endParaRPr lang="en-US" sz="1600" dirty="0"/>
          </a:p>
        </p:txBody>
      </p:sp>
      <p:sp>
        <p:nvSpPr>
          <p:cNvPr id="25" name="Text 23"/>
          <p:cNvSpPr/>
          <p:nvPr/>
        </p:nvSpPr>
        <p:spPr>
          <a:xfrm>
            <a:off x="1035050" y="3525838"/>
            <a:ext cx="4879213" cy="936625"/>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The AI must quote the manual. The quote has to be in the chapter and long enough to prove the rule, and every code must appear. A quote that leaves out an "unless…" is flagged. We keep the manual's words, never the AI's.</a:t>
            </a:r>
            <a:endParaRPr lang="en-US" sz="1300" dirty="0"/>
          </a:p>
        </p:txBody>
      </p:sp>
      <p:sp>
        <p:nvSpPr>
          <p:cNvPr id="26" name="Shape 24"/>
          <p:cNvSpPr/>
          <p:nvPr/>
        </p:nvSpPr>
        <p:spPr>
          <a:xfrm>
            <a:off x="6200775" y="2986782"/>
            <a:ext cx="5175250" cy="1669355"/>
          </a:xfrm>
          <a:prstGeom prst="roundRect">
            <a:avLst>
              <a:gd name="adj" fmla="val 5896"/>
            </a:avLst>
          </a:prstGeom>
          <a:solidFill>
            <a:srgbClr val="FFFFFF"/>
          </a:solidFill>
          <a:ln w="6350">
            <a:solidFill>
              <a:srgbClr val="E3E6E4"/>
            </a:solidFill>
            <a:prstDash val="solid"/>
          </a:ln>
        </p:spPr>
      </p:sp>
      <p:sp>
        <p:nvSpPr>
          <p:cNvPr id="27" name="Text 25"/>
          <p:cNvSpPr/>
          <p:nvPr/>
        </p:nvSpPr>
        <p:spPr>
          <a:xfrm>
            <a:off x="6419850" y="3205857"/>
            <a:ext cx="487921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The person's sign-off</a:t>
            </a:r>
            <a:endParaRPr lang="en-US" sz="1600" dirty="0"/>
          </a:p>
        </p:txBody>
      </p:sp>
      <p:sp>
        <p:nvSpPr>
          <p:cNvPr id="28" name="Text 26"/>
          <p:cNvSpPr/>
          <p:nvPr/>
        </p:nvSpPr>
        <p:spPr>
          <a:xfrm>
            <a:off x="6419850" y="3525838"/>
            <a:ext cx="4879213" cy="708819"/>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No name, no decision. Each decision is tied to the version of the manual the reviewer read. Adding a chapter means adding signed rules, not changing code.</a:t>
            </a:r>
            <a:endParaRPr lang="en-US" sz="1300" dirty="0"/>
          </a:p>
        </p:txBody>
      </p:sp>
      <p:sp>
        <p:nvSpPr>
          <p:cNvPr id="29" name="Shape 27"/>
          <p:cNvSpPr/>
          <p:nvPr/>
        </p:nvSpPr>
        <p:spPr>
          <a:xfrm>
            <a:off x="831850" y="4773216"/>
            <a:ext cx="0" cy="591741"/>
          </a:xfrm>
          <a:prstGeom prst="line">
            <a:avLst/>
          </a:prstGeom>
          <a:noFill/>
          <a:ln w="38100">
            <a:solidFill>
              <a:srgbClr val="1F7A6B"/>
            </a:solidFill>
            <a:prstDash val="solid"/>
          </a:ln>
        </p:spPr>
      </p:sp>
      <p:sp>
        <p:nvSpPr>
          <p:cNvPr id="30" name="Text 28"/>
          <p:cNvSpPr/>
          <p:nvPr/>
        </p:nvSpPr>
        <p:spPr>
          <a:xfrm>
            <a:off x="1054100" y="4811316"/>
            <a:ext cx="10634853" cy="540941"/>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4273D"/>
                </a:solidFill>
                <a:latin typeface="IBM Plex Sans" pitchFamily="34" charset="0"/>
                <a:ea typeface="IBM Plex Sans" pitchFamily="34" charset="-122"/>
                <a:cs typeface="IBM Plex Sans" pitchFamily="34" charset="-120"/>
              </a:rPr>
              <a:t>"So an AI decided what our policy means?"</a:t>
            </a:r>
            <a:r>
              <a:rPr lang="en-US" sz="1450" dirty="0">
                <a:solidFill>
                  <a:srgbClr val="14273D"/>
                </a:solidFill>
                <a:latin typeface="IBM Plex Sans" pitchFamily="34" charset="0"/>
                <a:ea typeface="IBM Plex Sans" pitchFamily="34" charset="-122"/>
                <a:cs typeface="IBM Plex Sans" pitchFamily="34" charset="-120"/>
              </a:rPr>
              <a:t> No. It proposed it, a named expert approved it on this date against this version of the manual, and here is the record.</a:t>
            </a:r>
            <a:endParaRPr lang="en-US" sz="1450" dirty="0"/>
          </a:p>
        </p:txBody>
      </p:sp>
      <p:sp>
        <p:nvSpPr>
          <p:cNvPr id="31" name="Text 29"/>
          <p:cNvSpPr/>
          <p:nvPr/>
        </p:nvSpPr>
        <p:spPr>
          <a:xfrm>
            <a:off x="812800" y="54788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52E"/>
                </a:solidFill>
                <a:latin typeface="JetBrains Mono" pitchFamily="34" charset="0"/>
                <a:ea typeface="JetBrains Mono" pitchFamily="34" charset="-122"/>
                <a:cs typeface="JetBrains Mono" pitchFamily="34" charset="-120"/>
              </a:rPr>
              <a:t>Where we are: ready for all 31 manual files. First AI run next: Chapter 19, checked by a reviewer before we add more.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DEFENSIBLE · EVIDENCE</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Every flag comes with its proof</a:t>
            </a:r>
            <a:endParaRPr lang="en-US" sz="3300" dirty="0"/>
          </a:p>
        </p:txBody>
      </p:sp>
      <p:sp>
        <p:nvSpPr>
          <p:cNvPr id="4" name="Shape 2"/>
          <p:cNvSpPr/>
          <p:nvPr/>
        </p:nvSpPr>
        <p:spPr>
          <a:xfrm>
            <a:off x="815975" y="2614712"/>
            <a:ext cx="3397250" cy="1694755"/>
          </a:xfrm>
          <a:prstGeom prst="roundRect">
            <a:avLst>
              <a:gd name="adj" fmla="val 5808"/>
            </a:avLst>
          </a:prstGeom>
          <a:solidFill>
            <a:srgbClr val="FFFFFF"/>
          </a:solidFill>
          <a:ln w="6350">
            <a:solidFill>
              <a:srgbClr val="E3E6E4"/>
            </a:solidFill>
            <a:prstDash val="solid"/>
          </a:ln>
        </p:spPr>
      </p:sp>
      <p:sp>
        <p:nvSpPr>
          <p:cNvPr id="5" name="Text 3"/>
          <p:cNvSpPr/>
          <p:nvPr/>
        </p:nvSpPr>
        <p:spPr>
          <a:xfrm>
            <a:off x="1047750" y="2846487"/>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Old flags stay explainable</a:t>
            </a:r>
            <a:endParaRPr lang="en-US" sz="1600" dirty="0"/>
          </a:p>
        </p:txBody>
      </p:sp>
      <p:sp>
        <p:nvSpPr>
          <p:cNvPr id="6" name="Text 4"/>
          <p:cNvSpPr/>
          <p:nvPr/>
        </p:nvSpPr>
        <p:spPr>
          <a:xfrm>
            <a:off x="1047750" y="3166467"/>
            <a:ext cx="3021711" cy="936625"/>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Every version of the rules is kept. A flag from last quarter still shows the exact rule, the manual's words, the manual version and who approved it.</a:t>
            </a:r>
            <a:endParaRPr lang="en-US" sz="1300" dirty="0"/>
          </a:p>
        </p:txBody>
      </p:sp>
      <p:sp>
        <p:nvSpPr>
          <p:cNvPr id="7" name="Shape 5"/>
          <p:cNvSpPr/>
          <p:nvPr/>
        </p:nvSpPr>
        <p:spPr>
          <a:xfrm>
            <a:off x="4397375" y="2614712"/>
            <a:ext cx="3397250" cy="1694755"/>
          </a:xfrm>
          <a:prstGeom prst="roundRect">
            <a:avLst>
              <a:gd name="adj" fmla="val 5808"/>
            </a:avLst>
          </a:prstGeom>
          <a:solidFill>
            <a:srgbClr val="FFFFFF"/>
          </a:solidFill>
          <a:ln w="6350">
            <a:solidFill>
              <a:srgbClr val="E3E6E4"/>
            </a:solidFill>
            <a:prstDash val="solid"/>
          </a:ln>
        </p:spPr>
      </p:sp>
      <p:sp>
        <p:nvSpPr>
          <p:cNvPr id="8" name="Text 6"/>
          <p:cNvSpPr/>
          <p:nvPr/>
        </p:nvSpPr>
        <p:spPr>
          <a:xfrm>
            <a:off x="4629150" y="2846487"/>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Dollars counted once</a:t>
            </a:r>
            <a:endParaRPr lang="en-US" sz="1600" dirty="0"/>
          </a:p>
        </p:txBody>
      </p:sp>
      <p:sp>
        <p:nvSpPr>
          <p:cNvPr id="9" name="Text 7"/>
          <p:cNvSpPr/>
          <p:nvPr/>
        </p:nvSpPr>
        <p:spPr>
          <a:xfrm>
            <a:off x="4629150" y="3166467"/>
            <a:ext cx="3021711" cy="936625"/>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Each flag shows the amount paid. Duplicate rules are merged, and totals count each claim line once, even if two rules catch it.</a:t>
            </a:r>
            <a:endParaRPr lang="en-US" sz="1300" dirty="0"/>
          </a:p>
        </p:txBody>
      </p:sp>
      <p:sp>
        <p:nvSpPr>
          <p:cNvPr id="10" name="Shape 8"/>
          <p:cNvSpPr/>
          <p:nvPr/>
        </p:nvSpPr>
        <p:spPr>
          <a:xfrm>
            <a:off x="7978775" y="2614712"/>
            <a:ext cx="3397250" cy="1694755"/>
          </a:xfrm>
          <a:prstGeom prst="roundRect">
            <a:avLst>
              <a:gd name="adj" fmla="val 5808"/>
            </a:avLst>
          </a:prstGeom>
          <a:solidFill>
            <a:srgbClr val="FFFFFF"/>
          </a:solidFill>
          <a:ln w="6350">
            <a:solidFill>
              <a:srgbClr val="E3E6E4"/>
            </a:solidFill>
            <a:prstDash val="solid"/>
          </a:ln>
        </p:spPr>
      </p:sp>
      <p:sp>
        <p:nvSpPr>
          <p:cNvPr id="11" name="Text 9"/>
          <p:cNvSpPr/>
          <p:nvPr/>
        </p:nvSpPr>
        <p:spPr>
          <a:xfrm>
            <a:off x="8210550" y="2846487"/>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Honest coverage</a:t>
            </a:r>
            <a:endParaRPr lang="en-US" sz="1600" dirty="0"/>
          </a:p>
        </p:txBody>
      </p:sp>
      <p:sp>
        <p:nvSpPr>
          <p:cNvPr id="12" name="Text 10"/>
          <p:cNvSpPr/>
          <p:nvPr/>
        </p:nvSpPr>
        <p:spPr>
          <a:xfrm>
            <a:off x="8210550" y="3166467"/>
            <a:ext cx="3021711" cy="936625"/>
          </a:xfrm>
          <a:prstGeom prst="rect">
            <a:avLst/>
          </a:prstGeom>
          <a:noFill/>
          <a:ln/>
        </p:spPr>
        <p:txBody>
          <a:bodyPr wrap="square" lIns="0" tIns="0" rIns="0" bIns="0" rtlCol="0" anchor="t">
            <a:normAutofit/>
          </a:bodyPr>
          <a:lstStyle/>
          <a:p>
            <a:pPr algn="l" indent="0" marL="0">
              <a:lnSpc>
                <a:spcPts val="1794"/>
              </a:lnSpc>
              <a:buNone/>
            </a:pPr>
            <a:r>
              <a:rPr lang="en-US" sz="1300" dirty="0">
                <a:solidFill>
                  <a:srgbClr val="55627A"/>
                </a:solidFill>
                <a:latin typeface="IBM Plex Sans" pitchFamily="34" charset="0"/>
                <a:ea typeface="IBM Plex Sans" pitchFamily="34" charset="-122"/>
                <a:cs typeface="IBM Plex Sans" pitchFamily="34" charset="-120"/>
              </a:rPr>
              <a:t>A code counts as covered only if a check actually runs on it. Policy we can't check yet is listed separately, not counted.</a:t>
            </a:r>
            <a:endParaRPr lang="en-US" sz="1300" dirty="0"/>
          </a:p>
        </p:txBody>
      </p:sp>
      <p:sp>
        <p:nvSpPr>
          <p:cNvPr id="13" name="Shape 11"/>
          <p:cNvSpPr/>
          <p:nvPr/>
        </p:nvSpPr>
        <p:spPr>
          <a:xfrm>
            <a:off x="831850" y="5313759"/>
            <a:ext cx="0" cy="591741"/>
          </a:xfrm>
          <a:prstGeom prst="line">
            <a:avLst/>
          </a:prstGeom>
          <a:noFill/>
          <a:ln w="38100">
            <a:solidFill>
              <a:srgbClr val="1F7A6B"/>
            </a:solidFill>
            <a:prstDash val="solid"/>
          </a:ln>
        </p:spPr>
      </p:sp>
      <p:sp>
        <p:nvSpPr>
          <p:cNvPr id="14" name="Text 12"/>
          <p:cNvSpPr/>
          <p:nvPr/>
        </p:nvSpPr>
        <p:spPr>
          <a:xfrm>
            <a:off x="1054100" y="5351859"/>
            <a:ext cx="10634853" cy="540941"/>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4273D"/>
                </a:solidFill>
                <a:latin typeface="IBM Plex Sans" pitchFamily="34" charset="0"/>
                <a:ea typeface="IBM Plex Sans" pitchFamily="34" charset="-122"/>
                <a:cs typeface="IBM Plex Sans" pitchFamily="34" charset="-120"/>
              </a:rPr>
              <a:t>Why it matters:</a:t>
            </a:r>
            <a:r>
              <a:rPr lang="en-US" sz="1450" dirty="0">
                <a:solidFill>
                  <a:srgbClr val="14273D"/>
                </a:solidFill>
                <a:latin typeface="IBM Plex Sans" pitchFamily="34" charset="0"/>
                <a:ea typeface="IBM Plex Sans" pitchFamily="34" charset="-122"/>
                <a:cs typeface="IBM Plex Sans" pitchFamily="34" charset="-120"/>
              </a:rPr>
              <a:t> if anyone questions a flag, we show the manual's sentence, its version and who approved the rule. And every dollar figure we report can be traced to the claim lines behind it.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194766"/>
          </a:xfrm>
          <a:prstGeom prst="rect">
            <a:avLst/>
          </a:prstGeom>
          <a:noFill/>
          <a:ln/>
        </p:spPr>
        <p:txBody>
          <a:bodyPr wrap="square" lIns="0" tIns="0" rIns="0" bIns="0" rtlCol="0" anchor="t">
            <a:normAutofit/>
          </a:bodyPr>
          <a:lstStyle/>
          <a:p>
            <a:pPr algn="l" indent="0" marL="0">
              <a:lnSpc>
                <a:spcPts val="1373"/>
              </a:lnSpc>
              <a:buNone/>
            </a:pPr>
            <a:r>
              <a:rPr lang="en-US" sz="980" spc="100" kern="0" dirty="0">
                <a:solidFill>
                  <a:srgbClr val="1F7A6B"/>
                </a:solidFill>
                <a:latin typeface="JetBrains Mono" pitchFamily="34" charset="0"/>
                <a:ea typeface="JetBrains Mono" pitchFamily="34" charset="-122"/>
                <a:cs typeface="JetBrains Mono" pitchFamily="34" charset="-120"/>
              </a:rPr>
              <a:t>USE · RUNNING TODAY</a:t>
            </a:r>
            <a:endParaRPr lang="en-US" sz="980" dirty="0"/>
          </a:p>
        </p:txBody>
      </p:sp>
      <p:sp>
        <p:nvSpPr>
          <p:cNvPr id="3" name="Text 1"/>
          <p:cNvSpPr/>
          <p:nvPr/>
        </p:nvSpPr>
        <p:spPr>
          <a:xfrm>
            <a:off x="812800" y="1096466"/>
            <a:ext cx="10883392" cy="376833"/>
          </a:xfrm>
          <a:prstGeom prst="rect">
            <a:avLst/>
          </a:prstGeom>
          <a:noFill/>
          <a:ln/>
        </p:spPr>
        <p:txBody>
          <a:bodyPr wrap="square" lIns="0" tIns="0" rIns="0" bIns="0" rtlCol="0" anchor="t">
            <a:normAutofit/>
          </a:bodyPr>
          <a:lstStyle/>
          <a:p>
            <a:pPr algn="l" indent="0" marL="0">
              <a:lnSpc>
                <a:spcPts val="2768"/>
              </a:lnSpc>
              <a:buNone/>
            </a:pPr>
            <a:r>
              <a:rPr lang="en-US" sz="2516" b="1" dirty="0">
                <a:solidFill>
                  <a:srgbClr val="14273D"/>
                </a:solidFill>
                <a:latin typeface="IBM Plex Sans" pitchFamily="34" charset="0"/>
                <a:ea typeface="IBM Plex Sans" pitchFamily="34" charset="-122"/>
                <a:cs typeface="IBM Plex Sans" pitchFamily="34" charset="-120"/>
              </a:rPr>
              <a:t>Use cases you can open and run</a:t>
            </a:r>
            <a:endParaRPr lang="en-US" sz="2516"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460599"/>
          <a:ext cx="10553700" cy="4170561"/>
        </p:xfrm>
        <a:graphic>
          <a:graphicData uri="http://schemas.openxmlformats.org/drawingml/2006/table">
            <a:tbl>
              <a:tblPr/>
              <a:tblGrid>
                <a:gridCol w="3517900"/>
                <a:gridCol w="3517900"/>
                <a:gridCol w="3517900"/>
              </a:tblGrid>
              <a:tr h="314623">
                <a:tc>
                  <a:txBody>
                    <a:bodyPr/>
                    <a:lstStyle/>
                    <a:p>
                      <a:pPr indent="0" marL="0">
                        <a:lnSpc>
                          <a:spcPts val="1344"/>
                        </a:lnSpc>
                        <a:buNone/>
                      </a:pPr>
                      <a:r>
                        <a:rPr lang="en-US" sz="960" b="1" dirty="0">
                          <a:solidFill>
                            <a:srgbClr val="F5F6F4"/>
                          </a:solidFill>
                          <a:latin typeface="IBM Plex Sans" pitchFamily="34" charset="0"/>
                          <a:ea typeface="IBM Plex Sans" pitchFamily="34" charset="-122"/>
                          <a:cs typeface="IBM Plex Sans" pitchFamily="34" charset="-120"/>
                        </a:rPr>
                        <a:t>Use case</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122031"/>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122031"/>
                      </a:solidFill>
                      <a:prstDash val="solid"/>
                      <a:round/>
                      <a:headEnd type="none" w="med" len="med"/>
                      <a:tailEnd type="none" w="med" len="med"/>
                    </a:lnB>
                    <a:solidFill>
                      <a:srgbClr val="12233A"/>
                    </a:solidFill>
                  </a:tcPr>
                </a:tc>
                <a:tc>
                  <a:txBody>
                    <a:bodyPr/>
                    <a:lstStyle/>
                    <a:p>
                      <a:pPr indent="0" marL="0">
                        <a:lnSpc>
                          <a:spcPts val="1344"/>
                        </a:lnSpc>
                        <a:buNone/>
                      </a:pPr>
                      <a:r>
                        <a:rPr lang="en-US" sz="960" b="1" dirty="0">
                          <a:solidFill>
                            <a:srgbClr val="F5F6F4"/>
                          </a:solidFill>
                          <a:latin typeface="IBM Plex Sans" pitchFamily="34" charset="0"/>
                          <a:ea typeface="IBM Plex Sans" pitchFamily="34" charset="-122"/>
                          <a:cs typeface="IBM Plex Sans" pitchFamily="34" charset="-120"/>
                        </a:rPr>
                        <a:t>Serves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122031"/>
                      </a:solidFill>
                      <a:prstDash val="solid"/>
                      <a:round/>
                      <a:headEnd type="none" w="med" len="med"/>
                      <a:tailEnd type="none" w="med" len="med"/>
                    </a:lnL>
                    <a:lnR w="12700" cap="flat" cmpd="sng" algn="ctr">
                      <a:solidFill>
                        <a:srgbClr val="122031"/>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122031"/>
                      </a:solidFill>
                      <a:prstDash val="solid"/>
                      <a:round/>
                      <a:headEnd type="none" w="med" len="med"/>
                      <a:tailEnd type="none" w="med" len="med"/>
                    </a:lnB>
                    <a:solidFill>
                      <a:srgbClr val="12233A"/>
                    </a:solidFill>
                  </a:tcPr>
                </a:tc>
                <a:tc>
                  <a:txBody>
                    <a:bodyPr/>
                    <a:lstStyle/>
                    <a:p>
                      <a:pPr indent="0" marL="0">
                        <a:lnSpc>
                          <a:spcPts val="1344"/>
                        </a:lnSpc>
                        <a:buNone/>
                      </a:pPr>
                      <a:r>
                        <a:rPr lang="en-US" sz="960" b="1" dirty="0">
                          <a:solidFill>
                            <a:srgbClr val="F5F6F4"/>
                          </a:solidFill>
                          <a:latin typeface="IBM Plex Sans" pitchFamily="34" charset="0"/>
                          <a:ea typeface="IBM Plex Sans" pitchFamily="34" charset="-122"/>
                          <a:cs typeface="IBM Plex Sans" pitchFamily="34" charset="-120"/>
                        </a:rPr>
                        <a:t>Answers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122031"/>
                      </a:solidFill>
                      <a:prstDash val="solid"/>
                      <a:round/>
                      <a:headEnd type="none" w="med" len="med"/>
                      <a:tailEnd type="none" w="med" len="med"/>
                    </a:lnL>
                    <a:lnR w="12700" cap="flat" cmpd="sng" algn="ctr">
                      <a:solidFill>
                        <a:srgbClr val="122031"/>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122031"/>
                      </a:solidFill>
                      <a:prstDash val="solid"/>
                      <a:round/>
                      <a:headEnd type="none" w="med" len="med"/>
                      <a:tailEnd type="none" w="med" len="med"/>
                    </a:lnB>
                    <a:solidFill>
                      <a:srgbClr val="12233A"/>
                    </a:solidFill>
                  </a:tcPr>
                </a:tc>
              </a:tr>
              <a:tr h="485279">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Code lookup</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2203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Investigators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2203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Every federal and state rule on a code, with the policy words, or "no rule found"</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2203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85279">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Finding explainer</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Investigators, audit</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Why a claim was flagged: the claim, the rule, the source and the approver, in plain English</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r>
              <a:tr h="485279">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Provider review</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Investigators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Providers by flagged dollars, which rules drive them, compared with peers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14623">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Coverage gap</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Leadership, OIG</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Paid dollars no rule checks, largest first</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r>
              <a:tr h="485279">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Unclear policy list</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AHCCCS policy</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Policy text that is unclear or can't be checked, quoted, ready to share</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85378">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Federal vs state</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AHCCCS policy</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Where CMS and AHCCCS rules overlap, who is stricter, and possible conflicts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r>
              <a:tr h="485378">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Change impact</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Our team</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What changed when a chapter was revised, and which rules need re-signing</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14722">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Federal edit status</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Our team</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Quarters loaded or missing, and which edits flag most often</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0C1BF"/>
                      </a:solidFill>
                      <a:prstDash val="solid"/>
                      <a:round/>
                      <a:headEnd type="none" w="med" len="med"/>
                      <a:tailEnd type="none" w="med" len="med"/>
                    </a:lnL>
                    <a:lnR w="12700" cap="flat" cmpd="sng" algn="ctr">
                      <a:solidFill>
                        <a:srgbClr val="C0C1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1BF"/>
                      </a:solidFill>
                      <a:prstDash val="solid"/>
                      <a:round/>
                      <a:headEnd type="none" w="med" len="med"/>
                      <a:tailEnd type="none" w="med" len="med"/>
                    </a:lnB>
                    <a:solidFill>
                      <a:srgbClr val="F0F2EF"/>
                    </a:solidFill>
                  </a:tcPr>
                </a:tc>
              </a:tr>
              <a:tr h="314722">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Policy search</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4C4C3"/>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Everyone</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344"/>
                        </a:lnSpc>
                        <a:buNone/>
                      </a:pPr>
                      <a:r>
                        <a:rPr lang="en-US" sz="960" dirty="0">
                          <a:solidFill>
                            <a:srgbClr val="14273D"/>
                          </a:solidFill>
                          <a:latin typeface="IBM Plex Sans" pitchFamily="34" charset="0"/>
                          <a:ea typeface="IBM Plex Sans" pitchFamily="34" charset="-122"/>
                          <a:cs typeface="IBM Plex Sans" pitchFamily="34" charset="-120"/>
                        </a:rPr>
                        <a:t>Find a phrase across the manual, with chapter and page</a:t>
                      </a:r>
                      <a:endParaRPr lang="en-US" sz="960" dirty="0">
                        <a:latin typeface="IBM Plex Sans" charset="0"/>
                        <a:ea typeface="IBM Plex Sans" charset="0"/>
                        <a:cs typeface="IBM Plex Sans" charset="0"/>
                      </a:endParaRPr>
                    </a:p>
                  </a:txBody>
                  <a:tcPr marL="127000" marR="12700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1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bl>
          </a:graphicData>
        </a:graphic>
      </p:graphicFrame>
      <p:sp>
        <p:nvSpPr>
          <p:cNvPr id="5" name="Shape 2"/>
          <p:cNvSpPr/>
          <p:nvPr/>
        </p:nvSpPr>
        <p:spPr>
          <a:xfrm>
            <a:off x="831850" y="5631160"/>
            <a:ext cx="0" cy="274340"/>
          </a:xfrm>
          <a:prstGeom prst="line">
            <a:avLst/>
          </a:prstGeom>
          <a:noFill/>
          <a:ln w="38100">
            <a:solidFill>
              <a:srgbClr val="1F7A6B"/>
            </a:solidFill>
            <a:prstDash val="solid"/>
          </a:ln>
        </p:spPr>
      </p:sp>
      <p:sp>
        <p:nvSpPr>
          <p:cNvPr id="6" name="Text 3"/>
          <p:cNvSpPr/>
          <p:nvPr/>
        </p:nvSpPr>
        <p:spPr>
          <a:xfrm>
            <a:off x="1054100" y="5669260"/>
            <a:ext cx="10634853" cy="223540"/>
          </a:xfrm>
          <a:prstGeom prst="rect">
            <a:avLst/>
          </a:prstGeom>
          <a:noFill/>
          <a:ln/>
        </p:spPr>
        <p:txBody>
          <a:bodyPr wrap="square" lIns="0" tIns="0" rIns="0" bIns="0" rtlCol="0" anchor="t">
            <a:normAutofit/>
          </a:bodyPr>
          <a:lstStyle/>
          <a:p>
            <a:pPr algn="l" indent="0" marL="0">
              <a:lnSpc>
                <a:spcPts val="1574"/>
              </a:lnSpc>
              <a:buNone/>
            </a:pPr>
            <a:r>
              <a:rPr lang="en-US" sz="1124" b="1" dirty="0">
                <a:solidFill>
                  <a:srgbClr val="14273D"/>
                </a:solidFill>
                <a:latin typeface="IBM Plex Sans" pitchFamily="34" charset="0"/>
                <a:ea typeface="IBM Plex Sans" pitchFamily="34" charset="-122"/>
                <a:cs typeface="IBM Plex Sans" pitchFamily="34" charset="-120"/>
              </a:rPr>
              <a:t>Plus three quality checks</a:t>
            </a:r>
            <a:r>
              <a:rPr lang="en-US" sz="1124" dirty="0">
                <a:solidFill>
                  <a:srgbClr val="14273D"/>
                </a:solidFill>
                <a:latin typeface="IBM Plex Sans" pitchFamily="34" charset="0"/>
                <a:ea typeface="IBM Plex Sans" pitchFamily="34" charset="-122"/>
                <a:cs typeface="IBM Plex Sans" pitchFamily="34" charset="-120"/>
              </a:rPr>
              <a:t> that measure how accurate the rules and the flags are, once reviewers score a sample.</a:t>
            </a:r>
            <a:endParaRPr lang="en-US" sz="112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3A"/>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5FB8A6"/>
                </a:solidFill>
                <a:latin typeface="JetBrains Mono" pitchFamily="34" charset="0"/>
                <a:ea typeface="JetBrains Mono" pitchFamily="34" charset="-122"/>
                <a:cs typeface="JetBrains Mono" pitchFamily="34" charset="-120"/>
              </a:rPr>
              <a:t>USE · PLANNED NEXT</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F5F6F4"/>
                </a:solidFill>
                <a:latin typeface="IBM Plex Sans" pitchFamily="34" charset="0"/>
                <a:ea typeface="IBM Plex Sans" pitchFamily="34" charset="-122"/>
                <a:cs typeface="IBM Plex Sans" pitchFamily="34" charset="-120"/>
              </a:rPr>
              <a:t>Policy context for the anomaly summaries</a:t>
            </a:r>
            <a:endParaRPr lang="en-US" sz="3300" dirty="0"/>
          </a:p>
        </p:txBody>
      </p:sp>
      <p:sp>
        <p:nvSpPr>
          <p:cNvPr id="4" name="Shape 2"/>
          <p:cNvSpPr/>
          <p:nvPr/>
        </p:nvSpPr>
        <p:spPr>
          <a:xfrm>
            <a:off x="815975" y="2088654"/>
            <a:ext cx="2540000" cy="1636812"/>
          </a:xfrm>
          <a:prstGeom prst="roundRect">
            <a:avLst>
              <a:gd name="adj" fmla="val 6013"/>
            </a:avLst>
          </a:prstGeom>
          <a:solidFill>
            <a:srgbClr val="1B3350"/>
          </a:solidFill>
          <a:ln w="6350">
            <a:solidFill>
              <a:srgbClr val="2E4A6B"/>
            </a:solidFill>
            <a:prstDash val="solid"/>
          </a:ln>
        </p:spPr>
      </p:sp>
      <p:sp>
        <p:nvSpPr>
          <p:cNvPr id="5" name="Text 3"/>
          <p:cNvSpPr/>
          <p:nvPr/>
        </p:nvSpPr>
        <p:spPr>
          <a:xfrm>
            <a:off x="1009650" y="2282329"/>
            <a:ext cx="221723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5FB8A6"/>
                </a:solidFill>
                <a:latin typeface="JetBrains Mono" pitchFamily="34" charset="0"/>
                <a:ea typeface="JetBrains Mono" pitchFamily="34" charset="-122"/>
                <a:cs typeface="JetBrains Mono" pitchFamily="34" charset="-120"/>
              </a:rPr>
              <a:t>1</a:t>
            </a:r>
            <a:endParaRPr lang="en-US" sz="1600" dirty="0"/>
          </a:p>
        </p:txBody>
      </p:sp>
      <p:sp>
        <p:nvSpPr>
          <p:cNvPr id="6" name="Text 4"/>
          <p:cNvSpPr/>
          <p:nvPr/>
        </p:nvSpPr>
        <p:spPr>
          <a:xfrm>
            <a:off x="1009650" y="2630289"/>
            <a:ext cx="2217230" cy="246360"/>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F5F6F4"/>
                </a:solidFill>
                <a:latin typeface="IBM Plex Sans" pitchFamily="34" charset="0"/>
                <a:ea typeface="IBM Plex Sans" pitchFamily="34" charset="-122"/>
                <a:cs typeface="IBM Plex Sans" pitchFamily="34" charset="-120"/>
              </a:rPr>
              <a:t>Anomaly model</a:t>
            </a:r>
            <a:endParaRPr lang="en-US" sz="1450" dirty="0"/>
          </a:p>
        </p:txBody>
      </p:sp>
      <p:sp>
        <p:nvSpPr>
          <p:cNvPr id="7" name="Text 5"/>
          <p:cNvSpPr/>
          <p:nvPr/>
        </p:nvSpPr>
        <p:spPr>
          <a:xfrm>
            <a:off x="1009650" y="2914749"/>
            <a:ext cx="2217230"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4D0DE"/>
                </a:solidFill>
                <a:latin typeface="IBM Plex Sans" pitchFamily="34" charset="0"/>
                <a:ea typeface="IBM Plex Sans" pitchFamily="34" charset="-122"/>
                <a:cs typeface="IBM Plex Sans" pitchFamily="34" charset="-120"/>
              </a:rPr>
              <a:t>Flags a provider and shows what made it unusual.</a:t>
            </a:r>
            <a:endParaRPr lang="en-US" sz="1200" dirty="0"/>
          </a:p>
        </p:txBody>
      </p:sp>
      <p:sp>
        <p:nvSpPr>
          <p:cNvPr id="8" name="Shape 6"/>
          <p:cNvSpPr/>
          <p:nvPr/>
        </p:nvSpPr>
        <p:spPr>
          <a:xfrm>
            <a:off x="3489325" y="2088654"/>
            <a:ext cx="2540000" cy="1636812"/>
          </a:xfrm>
          <a:prstGeom prst="roundRect">
            <a:avLst>
              <a:gd name="adj" fmla="val 6013"/>
            </a:avLst>
          </a:prstGeom>
          <a:solidFill>
            <a:srgbClr val="1B3350"/>
          </a:solidFill>
          <a:ln w="6350">
            <a:solidFill>
              <a:srgbClr val="2E4A6B"/>
            </a:solidFill>
            <a:prstDash val="solid"/>
          </a:ln>
        </p:spPr>
      </p:sp>
      <p:sp>
        <p:nvSpPr>
          <p:cNvPr id="9" name="Text 7"/>
          <p:cNvSpPr/>
          <p:nvPr/>
        </p:nvSpPr>
        <p:spPr>
          <a:xfrm>
            <a:off x="3683000" y="2282329"/>
            <a:ext cx="221723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5FB8A6"/>
                </a:solidFill>
                <a:latin typeface="JetBrains Mono" pitchFamily="34" charset="0"/>
                <a:ea typeface="JetBrains Mono" pitchFamily="34" charset="-122"/>
                <a:cs typeface="JetBrains Mono" pitchFamily="34" charset="-120"/>
              </a:rPr>
              <a:t>2</a:t>
            </a:r>
            <a:endParaRPr lang="en-US" sz="1600" dirty="0"/>
          </a:p>
        </p:txBody>
      </p:sp>
      <p:sp>
        <p:nvSpPr>
          <p:cNvPr id="10" name="Text 8"/>
          <p:cNvSpPr/>
          <p:nvPr/>
        </p:nvSpPr>
        <p:spPr>
          <a:xfrm>
            <a:off x="3683000" y="2630289"/>
            <a:ext cx="2217230" cy="246360"/>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F5F6F4"/>
                </a:solidFill>
                <a:latin typeface="IBM Plex Sans" pitchFamily="34" charset="0"/>
                <a:ea typeface="IBM Plex Sans" pitchFamily="34" charset="-122"/>
                <a:cs typeface="IBM Plex Sans" pitchFamily="34" charset="-120"/>
              </a:rPr>
              <a:t>Knowledge base lookup</a:t>
            </a:r>
            <a:endParaRPr lang="en-US" sz="1450" dirty="0"/>
          </a:p>
        </p:txBody>
      </p:sp>
      <p:sp>
        <p:nvSpPr>
          <p:cNvPr id="11" name="Text 9"/>
          <p:cNvSpPr/>
          <p:nvPr/>
        </p:nvSpPr>
        <p:spPr>
          <a:xfrm>
            <a:off x="3683000" y="2914749"/>
            <a:ext cx="2217230"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4D0DE"/>
                </a:solidFill>
                <a:latin typeface="IBM Plex Sans" pitchFamily="34" charset="0"/>
                <a:ea typeface="IBM Plex Sans" pitchFamily="34" charset="-122"/>
                <a:cs typeface="IBM Plex Sans" pitchFamily="34" charset="-120"/>
              </a:rPr>
              <a:t>For those codes: the rules, the policy quotes, and this provider's findings.</a:t>
            </a:r>
            <a:endParaRPr lang="en-US" sz="1200" dirty="0"/>
          </a:p>
        </p:txBody>
      </p:sp>
      <p:sp>
        <p:nvSpPr>
          <p:cNvPr id="12" name="Shape 10"/>
          <p:cNvSpPr/>
          <p:nvPr/>
        </p:nvSpPr>
        <p:spPr>
          <a:xfrm>
            <a:off x="6162675" y="2088654"/>
            <a:ext cx="2540000" cy="1636812"/>
          </a:xfrm>
          <a:prstGeom prst="roundRect">
            <a:avLst>
              <a:gd name="adj" fmla="val 6013"/>
            </a:avLst>
          </a:prstGeom>
          <a:solidFill>
            <a:srgbClr val="1B3350"/>
          </a:solidFill>
          <a:ln w="6350">
            <a:solidFill>
              <a:srgbClr val="2E4A6B"/>
            </a:solidFill>
            <a:prstDash val="solid"/>
          </a:ln>
        </p:spPr>
      </p:sp>
      <p:sp>
        <p:nvSpPr>
          <p:cNvPr id="13" name="Text 11"/>
          <p:cNvSpPr/>
          <p:nvPr/>
        </p:nvSpPr>
        <p:spPr>
          <a:xfrm>
            <a:off x="6356350" y="2282329"/>
            <a:ext cx="221723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5FB8A6"/>
                </a:solidFill>
                <a:latin typeface="JetBrains Mono" pitchFamily="34" charset="0"/>
                <a:ea typeface="JetBrains Mono" pitchFamily="34" charset="-122"/>
                <a:cs typeface="JetBrains Mono" pitchFamily="34" charset="-120"/>
              </a:rPr>
              <a:t>3</a:t>
            </a:r>
            <a:endParaRPr lang="en-US" sz="1600" dirty="0"/>
          </a:p>
        </p:txBody>
      </p:sp>
      <p:sp>
        <p:nvSpPr>
          <p:cNvPr id="14" name="Text 12"/>
          <p:cNvSpPr/>
          <p:nvPr/>
        </p:nvSpPr>
        <p:spPr>
          <a:xfrm>
            <a:off x="6356350" y="2630289"/>
            <a:ext cx="2217230" cy="246360"/>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F5F6F4"/>
                </a:solidFill>
                <a:latin typeface="IBM Plex Sans" pitchFamily="34" charset="0"/>
                <a:ea typeface="IBM Plex Sans" pitchFamily="34" charset="-122"/>
                <a:cs typeface="IBM Plex Sans" pitchFamily="34" charset="-120"/>
              </a:rPr>
              <a:t>AI summary</a:t>
            </a:r>
            <a:endParaRPr lang="en-US" sz="1450" dirty="0"/>
          </a:p>
        </p:txBody>
      </p:sp>
      <p:sp>
        <p:nvSpPr>
          <p:cNvPr id="15" name="Text 13"/>
          <p:cNvSpPr/>
          <p:nvPr/>
        </p:nvSpPr>
        <p:spPr>
          <a:xfrm>
            <a:off x="6356350" y="2914749"/>
            <a:ext cx="2217230"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4D0DE"/>
                </a:solidFill>
                <a:latin typeface="IBM Plex Sans" pitchFamily="34" charset="0"/>
                <a:ea typeface="IBM Plex Sans" pitchFamily="34" charset="-122"/>
                <a:cs typeface="IBM Plex Sans" pitchFamily="34" charset="-120"/>
              </a:rPr>
              <a:t>Gets the unusual patterns plus that policy, and may cite only the rules it was given.</a:t>
            </a:r>
            <a:endParaRPr lang="en-US" sz="1200" dirty="0"/>
          </a:p>
        </p:txBody>
      </p:sp>
      <p:sp>
        <p:nvSpPr>
          <p:cNvPr id="16" name="Shape 14"/>
          <p:cNvSpPr/>
          <p:nvPr/>
        </p:nvSpPr>
        <p:spPr>
          <a:xfrm>
            <a:off x="8836025" y="2088654"/>
            <a:ext cx="2540000" cy="1636812"/>
          </a:xfrm>
          <a:prstGeom prst="roundRect">
            <a:avLst>
              <a:gd name="adj" fmla="val 6013"/>
            </a:avLst>
          </a:prstGeom>
          <a:solidFill>
            <a:srgbClr val="1B3350"/>
          </a:solidFill>
          <a:ln w="6350">
            <a:solidFill>
              <a:srgbClr val="2E4A6B"/>
            </a:solidFill>
            <a:prstDash val="solid"/>
          </a:ln>
        </p:spPr>
      </p:sp>
      <p:sp>
        <p:nvSpPr>
          <p:cNvPr id="17" name="Text 15"/>
          <p:cNvSpPr/>
          <p:nvPr/>
        </p:nvSpPr>
        <p:spPr>
          <a:xfrm>
            <a:off x="9029700" y="2282329"/>
            <a:ext cx="221723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5FB8A6"/>
                </a:solidFill>
                <a:latin typeface="JetBrains Mono" pitchFamily="34" charset="0"/>
                <a:ea typeface="JetBrains Mono" pitchFamily="34" charset="-122"/>
                <a:cs typeface="JetBrains Mono" pitchFamily="34" charset="-120"/>
              </a:rPr>
              <a:t>4</a:t>
            </a:r>
            <a:endParaRPr lang="en-US" sz="1600" dirty="0"/>
          </a:p>
        </p:txBody>
      </p:sp>
      <p:sp>
        <p:nvSpPr>
          <p:cNvPr id="18" name="Text 16"/>
          <p:cNvSpPr/>
          <p:nvPr/>
        </p:nvSpPr>
        <p:spPr>
          <a:xfrm>
            <a:off x="9029700" y="2630289"/>
            <a:ext cx="2217230" cy="246360"/>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F5F6F4"/>
                </a:solidFill>
                <a:latin typeface="IBM Plex Sans" pitchFamily="34" charset="0"/>
                <a:ea typeface="IBM Plex Sans" pitchFamily="34" charset="-122"/>
                <a:cs typeface="IBM Plex Sans" pitchFamily="34" charset="-120"/>
              </a:rPr>
              <a:t>Investigator</a:t>
            </a:r>
            <a:endParaRPr lang="en-US" sz="1450" dirty="0"/>
          </a:p>
        </p:txBody>
      </p:sp>
      <p:sp>
        <p:nvSpPr>
          <p:cNvPr id="19" name="Text 17"/>
          <p:cNvSpPr/>
          <p:nvPr/>
        </p:nvSpPr>
        <p:spPr>
          <a:xfrm>
            <a:off x="9029700" y="2914749"/>
            <a:ext cx="2217230"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4D0DE"/>
                </a:solidFill>
                <a:latin typeface="IBM Plex Sans" pitchFamily="34" charset="0"/>
                <a:ea typeface="IBM Plex Sans" pitchFamily="34" charset="-122"/>
                <a:cs typeface="IBM Plex Sans" pitchFamily="34" charset="-120"/>
              </a:rPr>
              <a:t>Reads what is unusual and what policy says about it, each with its source.</a:t>
            </a:r>
            <a:endParaRPr lang="en-US" sz="1200" dirty="0"/>
          </a:p>
        </p:txBody>
      </p:sp>
      <p:sp>
        <p:nvSpPr>
          <p:cNvPr id="20" name="Text 18"/>
          <p:cNvSpPr/>
          <p:nvPr/>
        </p:nvSpPr>
        <p:spPr>
          <a:xfrm>
            <a:off x="812800" y="4203799"/>
            <a:ext cx="53108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FB8A6"/>
                </a:solidFill>
                <a:latin typeface="IBM Plex Sans" pitchFamily="34" charset="0"/>
                <a:ea typeface="IBM Plex Sans" pitchFamily="34" charset="-122"/>
                <a:cs typeface="IBM Plex Sans" pitchFamily="34" charset="-120"/>
              </a:rPr>
              <a:t>Why</a:t>
            </a:r>
            <a:endParaRPr lang="en-US" sz="1600" dirty="0"/>
          </a:p>
        </p:txBody>
      </p:sp>
      <p:sp>
        <p:nvSpPr>
          <p:cNvPr id="21" name="Text 19"/>
          <p:cNvSpPr/>
          <p:nvPr/>
        </p:nvSpPr>
        <p:spPr>
          <a:xfrm>
            <a:off x="812800" y="4523780"/>
            <a:ext cx="5310886"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4D0DE"/>
                </a:solidFill>
                <a:latin typeface="IBM Plex Sans" pitchFamily="34" charset="0"/>
                <a:ea typeface="IBM Plex Sans" pitchFamily="34" charset="-122"/>
                <a:cs typeface="IBM Plex Sans" pitchFamily="34" charset="-120"/>
              </a:rPr>
              <a:t>Today a summary can say a provider bills far more of a code than peers. With the knowledge base it can add the limit, the quote and the page, and separate "unusual" from "against policy".</a:t>
            </a:r>
            <a:endParaRPr lang="en-US" sz="1300" dirty="0"/>
          </a:p>
        </p:txBody>
      </p:sp>
      <p:sp>
        <p:nvSpPr>
          <p:cNvPr id="22" name="Text 20"/>
          <p:cNvSpPr/>
          <p:nvPr/>
        </p:nvSpPr>
        <p:spPr>
          <a:xfrm>
            <a:off x="6223000" y="4203799"/>
            <a:ext cx="53108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FB8A6"/>
                </a:solidFill>
                <a:latin typeface="IBM Plex Sans" pitchFamily="34" charset="0"/>
                <a:ea typeface="IBM Plex Sans" pitchFamily="34" charset="-122"/>
                <a:cs typeface="IBM Plex Sans" pitchFamily="34" charset="-120"/>
              </a:rPr>
              <a:t>Guardrails</a:t>
            </a:r>
            <a:endParaRPr lang="en-US" sz="1600" dirty="0"/>
          </a:p>
        </p:txBody>
      </p:sp>
      <p:sp>
        <p:nvSpPr>
          <p:cNvPr id="23" name="Text 21"/>
          <p:cNvSpPr/>
          <p:nvPr/>
        </p:nvSpPr>
        <p:spPr>
          <a:xfrm>
            <a:off x="6223000" y="4523780"/>
            <a:ext cx="5310886"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4D0DE"/>
                </a:solidFill>
                <a:latin typeface="IBM Plex Sans" pitchFamily="34" charset="0"/>
                <a:ea typeface="IBM Plex Sans" pitchFamily="34" charset="-122"/>
                <a:cs typeface="IBM Plex Sans" pitchFamily="34" charset="-120"/>
              </a:rPr>
              <a:t>The knowledge base stays in charge. Every rule the summary mentions is checked against it before anyone reads it. No policy claim without a quote.</a:t>
            </a:r>
            <a:endParaRPr lang="en-US" sz="1300" dirty="0"/>
          </a:p>
        </p:txBody>
      </p:sp>
      <p:sp>
        <p:nvSpPr>
          <p:cNvPr id="24" name="Text 22"/>
          <p:cNvSpPr/>
          <p:nvPr/>
        </p:nvSpPr>
        <p:spPr>
          <a:xfrm>
            <a:off x="812800" y="56921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A283"/>
                </a:solidFill>
                <a:latin typeface="JetBrains Mono" pitchFamily="34" charset="0"/>
                <a:ea typeface="JetBrains Mono" pitchFamily="34" charset="-122"/>
                <a:cs typeface="JetBrains Mono" pitchFamily="34" charset="-120"/>
              </a:rPr>
              <a:t>Planned, not built yet. First we need a shared way to match providers and codes across the two systems.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NEXT · ROADMAP</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Where we stand, and what comes next</a:t>
            </a:r>
            <a:endParaRPr lang="en-US" sz="3300" dirty="0"/>
          </a:p>
        </p:txBody>
      </p:sp>
      <p:sp>
        <p:nvSpPr>
          <p:cNvPr id="4" name="Shape 2"/>
          <p:cNvSpPr/>
          <p:nvPr/>
        </p:nvSpPr>
        <p:spPr>
          <a:xfrm>
            <a:off x="815975" y="1826518"/>
            <a:ext cx="3431084" cy="697111"/>
          </a:xfrm>
          <a:prstGeom prst="roundRect">
            <a:avLst>
              <a:gd name="adj" fmla="val 10475"/>
            </a:avLst>
          </a:prstGeom>
          <a:solidFill>
            <a:srgbClr val="FFFFFF"/>
          </a:solidFill>
          <a:ln w="6350">
            <a:solidFill>
              <a:srgbClr val="E3E6E4"/>
            </a:solidFill>
            <a:prstDash val="solid"/>
          </a:ln>
        </p:spPr>
      </p:sp>
      <p:sp>
        <p:nvSpPr>
          <p:cNvPr id="5" name="Text 3"/>
          <p:cNvSpPr/>
          <p:nvPr/>
        </p:nvSpPr>
        <p:spPr>
          <a:xfrm>
            <a:off x="984250" y="1943993"/>
            <a:ext cx="3187370"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73D"/>
                </a:solidFill>
                <a:latin typeface="IBM Plex Sans" pitchFamily="34" charset="0"/>
                <a:ea typeface="IBM Plex Sans" pitchFamily="34" charset="-122"/>
                <a:cs typeface="IBM Plex Sans" pitchFamily="34" charset="-120"/>
              </a:rPr>
              <a:t>148 automated tests</a:t>
            </a:r>
            <a:r>
              <a:rPr lang="en-US" sz="1300" dirty="0">
                <a:solidFill>
                  <a:srgbClr val="14273D"/>
                </a:solidFill>
                <a:latin typeface="IBM Plex Sans" pitchFamily="34" charset="0"/>
                <a:ea typeface="IBM Plex Sans" pitchFamily="34" charset="-122"/>
                <a:cs typeface="IBM Plex Sans" pitchFamily="34" charset="-120"/>
              </a:rPr>
              <a:t> check the rules and the SQL</a:t>
            </a:r>
            <a:endParaRPr lang="en-US" sz="1300" dirty="0"/>
          </a:p>
        </p:txBody>
      </p:sp>
      <p:sp>
        <p:nvSpPr>
          <p:cNvPr id="6" name="Shape 4"/>
          <p:cNvSpPr/>
          <p:nvPr/>
        </p:nvSpPr>
        <p:spPr>
          <a:xfrm>
            <a:off x="4380409" y="1826518"/>
            <a:ext cx="3431183" cy="697111"/>
          </a:xfrm>
          <a:prstGeom prst="roundRect">
            <a:avLst>
              <a:gd name="adj" fmla="val 10475"/>
            </a:avLst>
          </a:prstGeom>
          <a:solidFill>
            <a:srgbClr val="FFFFFF"/>
          </a:solidFill>
          <a:ln w="6350">
            <a:solidFill>
              <a:srgbClr val="E3E6E4"/>
            </a:solidFill>
            <a:prstDash val="solid"/>
          </a:ln>
        </p:spPr>
      </p:sp>
      <p:sp>
        <p:nvSpPr>
          <p:cNvPr id="7" name="Text 5"/>
          <p:cNvSpPr/>
          <p:nvPr/>
        </p:nvSpPr>
        <p:spPr>
          <a:xfrm>
            <a:off x="4548684" y="1943993"/>
            <a:ext cx="318747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73D"/>
                </a:solidFill>
                <a:latin typeface="IBM Plex Sans" pitchFamily="34" charset="0"/>
                <a:ea typeface="IBM Plex Sans" pitchFamily="34" charset="-122"/>
                <a:cs typeface="IBM Plex Sans" pitchFamily="34" charset="-120"/>
              </a:rPr>
              <a:t>Every step tested</a:t>
            </a:r>
            <a:r>
              <a:rPr lang="en-US" sz="1300" dirty="0">
                <a:solidFill>
                  <a:srgbClr val="14273D"/>
                </a:solidFill>
                <a:latin typeface="IBM Plex Sans" pitchFamily="34" charset="0"/>
                <a:ea typeface="IBM Plex Sans" pitchFamily="34" charset="-122"/>
                <a:cs typeface="IBM Plex Sans" pitchFamily="34" charset="-120"/>
              </a:rPr>
              <a:t> end to end on sample claims</a:t>
            </a:r>
            <a:endParaRPr lang="en-US" sz="1300" dirty="0"/>
          </a:p>
        </p:txBody>
      </p:sp>
      <p:sp>
        <p:nvSpPr>
          <p:cNvPr id="8" name="Shape 6"/>
          <p:cNvSpPr/>
          <p:nvPr/>
        </p:nvSpPr>
        <p:spPr>
          <a:xfrm>
            <a:off x="7944941" y="1826518"/>
            <a:ext cx="3431084" cy="697111"/>
          </a:xfrm>
          <a:prstGeom prst="roundRect">
            <a:avLst>
              <a:gd name="adj" fmla="val 10475"/>
            </a:avLst>
          </a:prstGeom>
          <a:solidFill>
            <a:srgbClr val="FFFFFF"/>
          </a:solidFill>
          <a:ln w="6350">
            <a:solidFill>
              <a:srgbClr val="E3E6E4"/>
            </a:solidFill>
            <a:prstDash val="solid"/>
          </a:ln>
        </p:spPr>
      </p:sp>
      <p:sp>
        <p:nvSpPr>
          <p:cNvPr id="9" name="Text 7"/>
          <p:cNvSpPr/>
          <p:nvPr/>
        </p:nvSpPr>
        <p:spPr>
          <a:xfrm>
            <a:off x="8113216" y="1943993"/>
            <a:ext cx="3187370"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73D"/>
                </a:solidFill>
                <a:latin typeface="IBM Plex Sans" pitchFamily="34" charset="0"/>
                <a:ea typeface="IBM Plex Sans" pitchFamily="34" charset="-122"/>
                <a:cs typeface="IBM Plex Sans" pitchFamily="34" charset="-120"/>
              </a:rPr>
              <a:t>Accuracy not measured yet:</a:t>
            </a:r>
            <a:r>
              <a:rPr lang="en-US" sz="1300" dirty="0">
                <a:solidFill>
                  <a:srgbClr val="14273D"/>
                </a:solidFill>
                <a:latin typeface="IBM Plex Sans" pitchFamily="34" charset="0"/>
                <a:ea typeface="IBM Plex Sans" pitchFamily="34" charset="-122"/>
                <a:cs typeface="IBM Plex Sans" pitchFamily="34" charset="-120"/>
              </a:rPr>
              <a:t> needs a scored sample</a:t>
            </a:r>
            <a:endParaRPr lang="en-US" sz="1300" dirty="0"/>
          </a:p>
        </p:txBody>
      </p:sp>
      <p:sp>
        <p:nvSpPr>
          <p:cNvPr id="10" name="Shape 8"/>
          <p:cNvSpPr/>
          <p:nvPr/>
        </p:nvSpPr>
        <p:spPr>
          <a:xfrm>
            <a:off x="815975" y="2743002"/>
            <a:ext cx="3397250" cy="2612330"/>
          </a:xfrm>
          <a:prstGeom prst="roundRect">
            <a:avLst>
              <a:gd name="adj" fmla="val 3768"/>
            </a:avLst>
          </a:prstGeom>
          <a:solidFill>
            <a:srgbClr val="FFFFFF"/>
          </a:solidFill>
          <a:ln w="6350">
            <a:solidFill>
              <a:srgbClr val="E3E6E4"/>
            </a:solidFill>
            <a:prstDash val="solid"/>
          </a:ln>
        </p:spPr>
      </p:sp>
      <p:sp>
        <p:nvSpPr>
          <p:cNvPr id="11" name="Text 9"/>
          <p:cNvSpPr/>
          <p:nvPr/>
        </p:nvSpPr>
        <p:spPr>
          <a:xfrm>
            <a:off x="1035050" y="2962077"/>
            <a:ext cx="304787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B"/>
                </a:solidFill>
                <a:latin typeface="IBM Plex Sans" pitchFamily="34" charset="0"/>
                <a:ea typeface="IBM Plex Sans" pitchFamily="34" charset="-122"/>
                <a:cs typeface="IBM Plex Sans" pitchFamily="34" charset="-120"/>
              </a:rPr>
              <a:t>Now</a:t>
            </a:r>
            <a:endParaRPr lang="en-US" sz="1600" dirty="0"/>
          </a:p>
        </p:txBody>
      </p:sp>
      <p:sp>
        <p:nvSpPr>
          <p:cNvPr id="12" name="Text 10"/>
          <p:cNvSpPr/>
          <p:nvPr/>
        </p:nvSpPr>
        <p:spPr>
          <a:xfrm>
            <a:off x="1225550" y="3294757"/>
            <a:ext cx="2851658" cy="1866900"/>
          </a:xfrm>
          <a:prstGeom prst="rect">
            <a:avLst/>
          </a:prstGeom>
          <a:noFill/>
          <a:ln/>
        </p:spPr>
        <p:txBody>
          <a:bodyPr wrap="square" lIns="0" tIns="0" rIns="0" bIns="0" rtlCol="0" anchor="t">
            <a:normAutofit/>
          </a:bodyPr>
          <a:lstStyle/>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First AI run on Chapter 19; a reviewer scores a sample.</a:t>
            </a:r>
            <a:endParaRPr lang="en-US" sz="1250" dirty="0"/>
          </a:p>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Settle two open questions: when a deleted CMS edit stops applying, and whether the 21 older hand-written rules need re-signing.</a:t>
            </a:r>
            <a:endParaRPr lang="en-US" sz="1250" dirty="0"/>
          </a:p>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Run the federal-edit update monthly.</a:t>
            </a:r>
            <a:endParaRPr lang="en-US" sz="1250" dirty="0"/>
          </a:p>
        </p:txBody>
      </p:sp>
      <p:sp>
        <p:nvSpPr>
          <p:cNvPr id="13" name="Shape 11"/>
          <p:cNvSpPr/>
          <p:nvPr/>
        </p:nvSpPr>
        <p:spPr>
          <a:xfrm>
            <a:off x="4397375" y="2743002"/>
            <a:ext cx="3397250" cy="2612330"/>
          </a:xfrm>
          <a:prstGeom prst="roundRect">
            <a:avLst>
              <a:gd name="adj" fmla="val 3768"/>
            </a:avLst>
          </a:prstGeom>
          <a:solidFill>
            <a:srgbClr val="FFFFFF"/>
          </a:solidFill>
          <a:ln w="6350">
            <a:solidFill>
              <a:srgbClr val="E3E6E4"/>
            </a:solidFill>
            <a:prstDash val="solid"/>
          </a:ln>
        </p:spPr>
      </p:sp>
      <p:sp>
        <p:nvSpPr>
          <p:cNvPr id="14" name="Text 12"/>
          <p:cNvSpPr/>
          <p:nvPr/>
        </p:nvSpPr>
        <p:spPr>
          <a:xfrm>
            <a:off x="4616450" y="2962077"/>
            <a:ext cx="304787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52E"/>
                </a:solidFill>
                <a:latin typeface="IBM Plex Sans" pitchFamily="34" charset="0"/>
                <a:ea typeface="IBM Plex Sans" pitchFamily="34" charset="-122"/>
                <a:cs typeface="IBM Plex Sans" pitchFamily="34" charset="-120"/>
              </a:rPr>
              <a:t>Next</a:t>
            </a:r>
            <a:endParaRPr lang="en-US" sz="1600" dirty="0"/>
          </a:p>
        </p:txBody>
      </p:sp>
      <p:sp>
        <p:nvSpPr>
          <p:cNvPr id="15" name="Text 13"/>
          <p:cNvSpPr/>
          <p:nvPr/>
        </p:nvSpPr>
        <p:spPr>
          <a:xfrm>
            <a:off x="4806950" y="3294757"/>
            <a:ext cx="2851658" cy="1176338"/>
          </a:xfrm>
          <a:prstGeom prst="rect">
            <a:avLst/>
          </a:prstGeom>
          <a:noFill/>
          <a:ln/>
        </p:spPr>
        <p:txBody>
          <a:bodyPr wrap="square" lIns="0" tIns="0" rIns="0" bIns="0" rtlCol="0" anchor="t">
            <a:normAutofit/>
          </a:bodyPr>
          <a:lstStyle/>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Policy context in the anomaly summaries.</a:t>
            </a:r>
            <a:endParaRPr lang="en-US" sz="1250" dirty="0"/>
          </a:p>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More chapters, easiest first.</a:t>
            </a:r>
            <a:endParaRPr lang="en-US" sz="1250" dirty="0"/>
          </a:p>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Rules that check age, EPSDT, place of service and required modifiers.</a:t>
            </a:r>
            <a:endParaRPr lang="en-US" sz="1250" dirty="0"/>
          </a:p>
        </p:txBody>
      </p:sp>
      <p:sp>
        <p:nvSpPr>
          <p:cNvPr id="16" name="Shape 14"/>
          <p:cNvSpPr/>
          <p:nvPr/>
        </p:nvSpPr>
        <p:spPr>
          <a:xfrm>
            <a:off x="7978775" y="2743002"/>
            <a:ext cx="3397250" cy="2612330"/>
          </a:xfrm>
          <a:prstGeom prst="roundRect">
            <a:avLst>
              <a:gd name="adj" fmla="val 3768"/>
            </a:avLst>
          </a:prstGeom>
          <a:solidFill>
            <a:srgbClr val="FFFFFF"/>
          </a:solidFill>
          <a:ln w="6350">
            <a:solidFill>
              <a:srgbClr val="E3E6E4"/>
            </a:solidFill>
            <a:prstDash val="solid"/>
          </a:ln>
        </p:spPr>
      </p:sp>
      <p:sp>
        <p:nvSpPr>
          <p:cNvPr id="17" name="Text 15"/>
          <p:cNvSpPr/>
          <p:nvPr/>
        </p:nvSpPr>
        <p:spPr>
          <a:xfrm>
            <a:off x="8197850" y="2962077"/>
            <a:ext cx="304787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5627A"/>
                </a:solidFill>
                <a:latin typeface="IBM Plex Sans" pitchFamily="34" charset="0"/>
                <a:ea typeface="IBM Plex Sans" pitchFamily="34" charset="-122"/>
                <a:cs typeface="IBM Plex Sans" pitchFamily="34" charset="-120"/>
              </a:rPr>
              <a:t>Later</a:t>
            </a:r>
            <a:endParaRPr lang="en-US" sz="1600" dirty="0"/>
          </a:p>
        </p:txBody>
      </p:sp>
      <p:sp>
        <p:nvSpPr>
          <p:cNvPr id="18" name="Text 16"/>
          <p:cNvSpPr/>
          <p:nvPr/>
        </p:nvSpPr>
        <p:spPr>
          <a:xfrm>
            <a:off x="8388350" y="3294757"/>
            <a:ext cx="2851658" cy="1406525"/>
          </a:xfrm>
          <a:prstGeom prst="rect">
            <a:avLst/>
          </a:prstGeom>
          <a:noFill/>
          <a:ln/>
        </p:spPr>
        <p:txBody>
          <a:bodyPr wrap="square" lIns="0" tIns="0" rIns="0" bIns="0" rtlCol="0" anchor="t">
            <a:normAutofit/>
          </a:bodyPr>
          <a:lstStyle/>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More sources: AMPM, fee schedule, Arizona rules.</a:t>
            </a:r>
            <a:endParaRPr lang="en-US" sz="1250" dirty="0"/>
          </a:p>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Search and ask questions of the manual.</a:t>
            </a:r>
            <a:endParaRPr lang="en-US" sz="1250" dirty="0"/>
          </a:p>
          <a:p>
            <a:pPr algn="l" marL="190500" indent="-161925">
              <a:lnSpc>
                <a:spcPts val="1813"/>
              </a:lnSpc>
              <a:buSzPct val="100000"/>
              <a:buChar char="•"/>
            </a:pPr>
            <a:r>
              <a:rPr lang="en-US" sz="1250" dirty="0">
                <a:solidFill>
                  <a:srgbClr val="55627A"/>
                </a:solidFill>
                <a:latin typeface="IBM Plex Sans" pitchFamily="34" charset="0"/>
                <a:ea typeface="IBM Plex Sans" pitchFamily="34" charset="-122"/>
                <a:cs typeface="IBM Plex Sans" pitchFamily="34" charset="-120"/>
              </a:rPr>
              <a:t>Review policy conflicts with AHCCCS.</a:t>
            </a:r>
            <a:endParaRPr lang="en-US" sz="1250" dirty="0"/>
          </a:p>
        </p:txBody>
      </p:sp>
      <p:sp>
        <p:nvSpPr>
          <p:cNvPr id="19" name="Shape 17"/>
          <p:cNvSpPr/>
          <p:nvPr/>
        </p:nvSpPr>
        <p:spPr>
          <a:xfrm>
            <a:off x="831850" y="5571530"/>
            <a:ext cx="0" cy="333970"/>
          </a:xfrm>
          <a:prstGeom prst="line">
            <a:avLst/>
          </a:prstGeom>
          <a:noFill/>
          <a:ln w="38100">
            <a:solidFill>
              <a:srgbClr val="1F7A6B"/>
            </a:solidFill>
            <a:prstDash val="solid"/>
          </a:ln>
        </p:spPr>
      </p:sp>
      <p:sp>
        <p:nvSpPr>
          <p:cNvPr id="20" name="Text 18"/>
          <p:cNvSpPr/>
          <p:nvPr/>
        </p:nvSpPr>
        <p:spPr>
          <a:xfrm>
            <a:off x="1054100" y="5609630"/>
            <a:ext cx="10634853"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4273D"/>
                </a:solidFill>
                <a:latin typeface="IBM Plex Sans" pitchFamily="34" charset="0"/>
                <a:ea typeface="IBM Plex Sans" pitchFamily="34" charset="-122"/>
                <a:cs typeface="IBM Plex Sans" pitchFamily="34" charset="-120"/>
              </a:rPr>
              <a:t>The principle:</a:t>
            </a:r>
            <a:r>
              <a:rPr lang="en-US" sz="1450" dirty="0">
                <a:solidFill>
                  <a:srgbClr val="14273D"/>
                </a:solidFill>
                <a:latin typeface="IBM Plex Sans" pitchFamily="34" charset="0"/>
                <a:ea typeface="IBM Plex Sans" pitchFamily="34" charset="-122"/>
                <a:cs typeface="IBM Plex Sans" pitchFamily="34" charset="-120"/>
              </a:rPr>
              <a:t> we measure before we add more, and we say what a shortcut costs while it is in place.</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Base MVP</dc:title>
  <dc:subject>PptxGenJS Presentation</dc:subject>
  <dc:creator>PptxGenJS</dc:creator>
  <cp:lastModifiedBy>PptxGenJS</cp:lastModifiedBy>
  <cp:revision>1</cp:revision>
  <dcterms:created xsi:type="dcterms:W3CDTF">2026-09-30T00:05:35Z</dcterms:created>
  <dcterms:modified xsi:type="dcterms:W3CDTF">2026-09-30T00:05:35Z</dcterms:modified>
</cp:coreProperties>
</file>