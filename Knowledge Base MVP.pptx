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reminder of what we are building, and what changed since the last update. Three things are new: the federal edits load and run on their own, the pipeline was hardened end to end, and there are now working use cases the team can open and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on one slide. Walk left to right: sources, rules, detectors, findings, evidence. The model only touches step 2, and only proposes; a person signs. The bottom line is the old scope slide folded in: we stopped choosing what to look at and let the money decide. That is what makes the coverage-gap question answerable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what was already fixed; right is new this round. The download-and-reformat routine is gone: the notebook reads the CMS page, keeps every zip, and refuses bad rows instead of dropping them. Scheduling it monthly matters, because CMS only lists two quarters and a missed one leaves a permanent gap. Two honest caveats if asked. First: whether an edit still applies ON its deletion date is not stated on the CMS pages we checked; it is one setting, and we are confirming it. Second: findings follow the CMS public edit set; Arizona's own deactivations are not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decisions as before; the PA card is sharper. Findings now carry an explicit PA status, so an investigator sees "verify" when a PA number is on file, and a same-day pair where either line has a PA is also marked verify. For NCCI the status reads "not evaluated", because CMS says a PA does not bypass an NCCI edit. Land it: the difference between a demo and a system is in these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row is new. Before, an approval made on last year's PDF kept compiling after AHCCCS revised the chapter. Now the rule goes back to review with the old decision attached, and the build leaves it out until someone signs against the new text. The old PDF is archived so the earlier text can always be re-read. Also new: re-running the setup notebook used to be able to wipe every review; it can't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The pipeline can run on all 31 manual files today, but the model half has not produced a draft yet: every state rule so far came from the pattern extractor or was written by hand. The earlier version of this slide said six chapters were extracted, reviewed and uploaded; that overstated it, so it is corrected. The next real step is one chapter, Chapter 19, with the model on, then a reviewer scores a sample and we report precision and recall before adding chapters. The grounding changes are new: short or truncated quotes used to pass as perfect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merges the old provenance and measurable slides. Three things are new. Builds are numbered and kept, so old findings never lose their rule. Findings carry dollars, and the same violation is no longer counted two or three times. And coverage is honest: before, any rule on a code counted, including ones that never run, which overstated the number we would put in front of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notebook in the demos folder, read-only, and each opens with what it answers and what it can't. Two are aimed at AHCCCS rather than enforcement: the ambiguity register and the federal-versus-state view are a policy-improvement product, handing the state its own unclear or conflicting language. Contradictions are candidates for a person to review, never conclusions. Demo tip: start with the finding explainer on the highest-dollar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our two products. The anomaly pipeline finds what is statistically unusual; the knowledge base knows what policy says. Joined, the summary LLM stops guessing about policy. It receives the rules and quotes for the provider's top codes, plus any findings already on that provider, and it may cite only those. We check every cited rule id against the knowledge base afterwards, so a made-up rule cannot reach an investigator. It runs on the same model and GPU pattern as today's summarization notebook. What we need first: agreed keys to join the two pipelines, and the first scored extraction run, so the policy we pass in has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run is new: every pipeline notebook and every demo, in order, on synthetic claims with the real column names. It caught three bugs the unit tests missed, including one that would have broken the first real review note. The bottom line is deliberate: we can compute precision and recall with confidence intervals, but until a reviewer scores a sample, the honest answer is "not measured". It has not run on Databricks yet; that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We score one chapter before adding more, because adding 25 chapters on an unmeasured error rate just multiplies it. The anomaly-summary link sits in Next, not Now, because the policy we pass to that LLM should be measured first. Other federal sources, such as Medicare fee-schedule indicators, only come in once we confirm AHCCCS actually applies them; loading them unadopted would create false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5FB8A6"/>
                </a:solidFill>
                <a:latin typeface="JetBrains Mono" pitchFamily="34" charset="0"/>
                <a:ea typeface="JetBrains Mono" pitchFamily="34" charset="-122"/>
                <a:cs typeface="JetBrains Mono" pitchFamily="34" charset="-120"/>
              </a:rPr>
              <a:t>POLICY INTELLIGENCE ENGINE · SEDO</a:t>
            </a:r>
            <a:endParaRPr lang="en-US" sz="1400" dirty="0"/>
          </a:p>
        </p:txBody>
      </p:sp>
      <p:sp>
        <p:nvSpPr>
          <p:cNvPr id="3" name="Text 1"/>
          <p:cNvSpPr/>
          <p:nvPr/>
        </p:nvSpPr>
        <p:spPr>
          <a:xfrm>
            <a:off x="812800" y="2665115"/>
            <a:ext cx="10883392" cy="996950"/>
          </a:xfrm>
          <a:prstGeom prst="rect">
            <a:avLst/>
          </a:prstGeom>
          <a:noFill/>
          <a:ln/>
        </p:spPr>
        <p:txBody>
          <a:bodyPr wrap="square" lIns="0" tIns="0" rIns="0" bIns="0" rtlCol="0" anchor="t">
            <a:normAutofit/>
          </a:bodyPr>
          <a:lstStyle/>
          <a:p>
            <a:pPr algn="l" indent="0" marL="0">
              <a:lnSpc>
                <a:spcPts val="7650"/>
              </a:lnSpc>
              <a:buNone/>
            </a:pPr>
            <a:r>
              <a:rPr lang="en-US" sz="7500" b="1" dirty="0">
                <a:solidFill>
                  <a:srgbClr val="F5F6F4"/>
                </a:solidFill>
                <a:latin typeface="IBM Plex Sans" pitchFamily="34" charset="0"/>
                <a:ea typeface="IBM Plex Sans" pitchFamily="34" charset="-122"/>
                <a:cs typeface="IBM Plex Sans" pitchFamily="34" charset="-120"/>
              </a:rPr>
              <a:t>Knowledge Base</a:t>
            </a:r>
            <a:endParaRPr lang="en-US" sz="7500" dirty="0"/>
          </a:p>
        </p:txBody>
      </p:sp>
      <p:sp>
        <p:nvSpPr>
          <p:cNvPr id="4" name="Text 2"/>
          <p:cNvSpPr/>
          <p:nvPr/>
        </p:nvSpPr>
        <p:spPr>
          <a:xfrm>
            <a:off x="812800" y="3814465"/>
            <a:ext cx="10883392" cy="42158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AEBACB"/>
                </a:solidFill>
                <a:latin typeface="IBM Plex Sans" pitchFamily="34" charset="0"/>
                <a:ea typeface="IBM Plex Sans" pitchFamily="34" charset="-122"/>
                <a:cs typeface="IBM Plex Sans" pitchFamily="34" charset="-120"/>
              </a:rPr>
              <a:t>MVP</a:t>
            </a:r>
            <a:endParaRPr lang="en-US" sz="2400" dirty="0"/>
          </a:p>
        </p:txBody>
      </p:sp>
      <p:sp>
        <p:nvSpPr>
          <p:cNvPr id="5" name="Text 3"/>
          <p:cNvSpPr/>
          <p:nvPr/>
        </p:nvSpPr>
        <p:spPr>
          <a:xfrm>
            <a:off x="812800" y="58141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595AB"/>
                </a:solidFill>
                <a:latin typeface="JetBrains Mono" pitchFamily="34" charset="0"/>
                <a:ea typeface="JetBrains Mono" pitchFamily="34" charset="-122"/>
                <a:cs typeface="JetBrains Mono" pitchFamily="34" charset="-120"/>
              </a:rPr>
              <a:t>Update · 29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WHAT WE ARE BUILDING</a:t>
            </a:r>
            <a:endParaRPr lang="en-US" sz="1250" dirty="0"/>
          </a:p>
        </p:txBody>
      </p:sp>
      <p:sp>
        <p:nvSpPr>
          <p:cNvPr id="3" name="Text 1"/>
          <p:cNvSpPr/>
          <p:nvPr/>
        </p:nvSpPr>
        <p:spPr>
          <a:xfrm>
            <a:off x="812800" y="1149350"/>
            <a:ext cx="10883392" cy="947341"/>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From a sentence in the manual to a flag on a paid claim</a:t>
            </a:r>
            <a:endParaRPr lang="en-US" sz="3300" dirty="0"/>
          </a:p>
        </p:txBody>
      </p:sp>
      <p:sp>
        <p:nvSpPr>
          <p:cNvPr id="4" name="Shape 2"/>
          <p:cNvSpPr/>
          <p:nvPr/>
        </p:nvSpPr>
        <p:spPr>
          <a:xfrm>
            <a:off x="815975" y="2655689"/>
            <a:ext cx="2005310" cy="2055813"/>
          </a:xfrm>
          <a:prstGeom prst="roundRect">
            <a:avLst>
              <a:gd name="adj" fmla="val 4908"/>
            </a:avLst>
          </a:prstGeom>
          <a:solidFill>
            <a:srgbClr val="FFFFFF"/>
          </a:solidFill>
          <a:ln w="6350">
            <a:solidFill>
              <a:srgbClr val="E3E6E4"/>
            </a:solidFill>
            <a:prstDash val="solid"/>
          </a:ln>
        </p:spPr>
      </p:sp>
      <p:sp>
        <p:nvSpPr>
          <p:cNvPr id="5" name="Text 3"/>
          <p:cNvSpPr/>
          <p:nvPr/>
        </p:nvSpPr>
        <p:spPr>
          <a:xfrm>
            <a:off x="1009650" y="2849364"/>
            <a:ext cx="16687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7A6B"/>
                </a:solidFill>
                <a:latin typeface="JetBrains Mono" pitchFamily="34" charset="0"/>
                <a:ea typeface="JetBrains Mono" pitchFamily="34" charset="-122"/>
                <a:cs typeface="JetBrains Mono" pitchFamily="34" charset="-120"/>
              </a:rPr>
              <a:t>1</a:t>
            </a:r>
            <a:endParaRPr lang="en-US" sz="1600" dirty="0"/>
          </a:p>
        </p:txBody>
      </p:sp>
      <p:sp>
        <p:nvSpPr>
          <p:cNvPr id="6" name="Text 4"/>
          <p:cNvSpPr/>
          <p:nvPr/>
        </p:nvSpPr>
        <p:spPr>
          <a:xfrm>
            <a:off x="1009650" y="3197324"/>
            <a:ext cx="16687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73D"/>
                </a:solidFill>
                <a:latin typeface="IBM Plex Sans" pitchFamily="34" charset="0"/>
                <a:ea typeface="IBM Plex Sans" pitchFamily="34" charset="-122"/>
                <a:cs typeface="IBM Plex Sans" pitchFamily="34" charset="-120"/>
              </a:rPr>
              <a:t>Sources</a:t>
            </a:r>
            <a:endParaRPr lang="en-US" sz="1500" dirty="0"/>
          </a:p>
        </p:txBody>
      </p:sp>
      <p:sp>
        <p:nvSpPr>
          <p:cNvPr id="7" name="Text 5"/>
          <p:cNvSpPr/>
          <p:nvPr/>
        </p:nvSpPr>
        <p:spPr>
          <a:xfrm>
            <a:off x="1009650" y="3489424"/>
            <a:ext cx="166876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27A"/>
                </a:solidFill>
                <a:latin typeface="IBM Plex Sans" pitchFamily="34" charset="0"/>
                <a:ea typeface="IBM Plex Sans" pitchFamily="34" charset="-122"/>
                <a:cs typeface="IBM Plex Sans" pitchFamily="34" charset="-120"/>
              </a:rPr>
              <a:t>CMS federal edits, loaded every quarter. All 31 AHCCCS billing-manual files.</a:t>
            </a:r>
            <a:endParaRPr lang="en-US" sz="1200" dirty="0"/>
          </a:p>
        </p:txBody>
      </p:sp>
      <p:sp>
        <p:nvSpPr>
          <p:cNvPr id="8" name="Shape 6"/>
          <p:cNvSpPr/>
          <p:nvPr/>
        </p:nvSpPr>
        <p:spPr>
          <a:xfrm>
            <a:off x="2954635" y="2655689"/>
            <a:ext cx="2005409" cy="2055813"/>
          </a:xfrm>
          <a:prstGeom prst="roundRect">
            <a:avLst>
              <a:gd name="adj" fmla="val 4908"/>
            </a:avLst>
          </a:prstGeom>
          <a:solidFill>
            <a:srgbClr val="FFFFFF"/>
          </a:solidFill>
          <a:ln w="6350">
            <a:solidFill>
              <a:srgbClr val="E3E6E4"/>
            </a:solidFill>
            <a:prstDash val="solid"/>
          </a:ln>
        </p:spPr>
      </p:sp>
      <p:sp>
        <p:nvSpPr>
          <p:cNvPr id="9" name="Text 7"/>
          <p:cNvSpPr/>
          <p:nvPr/>
        </p:nvSpPr>
        <p:spPr>
          <a:xfrm>
            <a:off x="3148310" y="2849364"/>
            <a:ext cx="166885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7A6B"/>
                </a:solidFill>
                <a:latin typeface="JetBrains Mono" pitchFamily="34" charset="0"/>
                <a:ea typeface="JetBrains Mono" pitchFamily="34" charset="-122"/>
                <a:cs typeface="JetBrains Mono" pitchFamily="34" charset="-120"/>
              </a:rPr>
              <a:t>2</a:t>
            </a:r>
            <a:endParaRPr lang="en-US" sz="1600" dirty="0"/>
          </a:p>
        </p:txBody>
      </p:sp>
      <p:sp>
        <p:nvSpPr>
          <p:cNvPr id="10" name="Text 8"/>
          <p:cNvSpPr/>
          <p:nvPr/>
        </p:nvSpPr>
        <p:spPr>
          <a:xfrm>
            <a:off x="3148310" y="3197324"/>
            <a:ext cx="16688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73D"/>
                </a:solidFill>
                <a:latin typeface="IBM Plex Sans" pitchFamily="34" charset="0"/>
                <a:ea typeface="IBM Plex Sans" pitchFamily="34" charset="-122"/>
                <a:cs typeface="IBM Plex Sans" pitchFamily="34" charset="-120"/>
              </a:rPr>
              <a:t>Rules</a:t>
            </a:r>
            <a:endParaRPr lang="en-US" sz="1500" dirty="0"/>
          </a:p>
        </p:txBody>
      </p:sp>
      <p:sp>
        <p:nvSpPr>
          <p:cNvPr id="11" name="Text 9"/>
          <p:cNvSpPr/>
          <p:nvPr/>
        </p:nvSpPr>
        <p:spPr>
          <a:xfrm>
            <a:off x="3148310" y="3489424"/>
            <a:ext cx="1668859" cy="105380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27A"/>
                </a:solidFill>
                <a:latin typeface="IBM Plex Sans" pitchFamily="34" charset="0"/>
                <a:ea typeface="IBM Plex Sans" pitchFamily="34" charset="-122"/>
                <a:cs typeface="IBM Plex Sans" pitchFamily="34" charset="-120"/>
              </a:rPr>
              <a:t>One cited table. State rules proposed by the model, checked against the PDF, signed by a person.</a:t>
            </a:r>
            <a:endParaRPr lang="en-US" sz="1200" dirty="0"/>
          </a:p>
        </p:txBody>
      </p:sp>
      <p:sp>
        <p:nvSpPr>
          <p:cNvPr id="12" name="Shape 10"/>
          <p:cNvSpPr/>
          <p:nvPr/>
        </p:nvSpPr>
        <p:spPr>
          <a:xfrm>
            <a:off x="5093395" y="2655689"/>
            <a:ext cx="2005310" cy="2055813"/>
          </a:xfrm>
          <a:prstGeom prst="roundRect">
            <a:avLst>
              <a:gd name="adj" fmla="val 4908"/>
            </a:avLst>
          </a:prstGeom>
          <a:solidFill>
            <a:srgbClr val="FFFFFF"/>
          </a:solidFill>
          <a:ln w="6350">
            <a:solidFill>
              <a:srgbClr val="E3E6E4"/>
            </a:solidFill>
            <a:prstDash val="solid"/>
          </a:ln>
        </p:spPr>
      </p:sp>
      <p:sp>
        <p:nvSpPr>
          <p:cNvPr id="13" name="Text 11"/>
          <p:cNvSpPr/>
          <p:nvPr/>
        </p:nvSpPr>
        <p:spPr>
          <a:xfrm>
            <a:off x="5287070" y="2849364"/>
            <a:ext cx="16687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7A6B"/>
                </a:solidFill>
                <a:latin typeface="JetBrains Mono" pitchFamily="34" charset="0"/>
                <a:ea typeface="JetBrains Mono" pitchFamily="34" charset="-122"/>
                <a:cs typeface="JetBrains Mono" pitchFamily="34" charset="-120"/>
              </a:rPr>
              <a:t>3</a:t>
            </a:r>
            <a:endParaRPr lang="en-US" sz="1600" dirty="0"/>
          </a:p>
        </p:txBody>
      </p:sp>
      <p:sp>
        <p:nvSpPr>
          <p:cNvPr id="14" name="Text 12"/>
          <p:cNvSpPr/>
          <p:nvPr/>
        </p:nvSpPr>
        <p:spPr>
          <a:xfrm>
            <a:off x="5287070" y="3197324"/>
            <a:ext cx="16687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73D"/>
                </a:solidFill>
                <a:latin typeface="IBM Plex Sans" pitchFamily="34" charset="0"/>
                <a:ea typeface="IBM Plex Sans" pitchFamily="34" charset="-122"/>
                <a:cs typeface="IBM Plex Sans" pitchFamily="34" charset="-120"/>
              </a:rPr>
              <a:t>Detectors</a:t>
            </a:r>
            <a:endParaRPr lang="en-US" sz="1500" dirty="0"/>
          </a:p>
        </p:txBody>
      </p:sp>
      <p:sp>
        <p:nvSpPr>
          <p:cNvPr id="15" name="Text 13"/>
          <p:cNvSpPr/>
          <p:nvPr/>
        </p:nvSpPr>
        <p:spPr>
          <a:xfrm>
            <a:off x="5287070" y="3489424"/>
            <a:ext cx="166876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27A"/>
                </a:solidFill>
                <a:latin typeface="IBM Plex Sans" pitchFamily="34" charset="0"/>
                <a:ea typeface="IBM Plex Sans" pitchFamily="34" charset="-122"/>
                <a:cs typeface="IBM Plex Sans" pitchFamily="34" charset="-120"/>
              </a:rPr>
              <a:t>Fixed SQL templates. No model in this step, ever.</a:t>
            </a:r>
            <a:endParaRPr lang="en-US" sz="1200" dirty="0"/>
          </a:p>
        </p:txBody>
      </p:sp>
      <p:sp>
        <p:nvSpPr>
          <p:cNvPr id="16" name="Shape 14"/>
          <p:cNvSpPr/>
          <p:nvPr/>
        </p:nvSpPr>
        <p:spPr>
          <a:xfrm>
            <a:off x="7232055" y="2655689"/>
            <a:ext cx="2005310" cy="2055813"/>
          </a:xfrm>
          <a:prstGeom prst="roundRect">
            <a:avLst>
              <a:gd name="adj" fmla="val 4908"/>
            </a:avLst>
          </a:prstGeom>
          <a:solidFill>
            <a:srgbClr val="FFFFFF"/>
          </a:solidFill>
          <a:ln w="6350">
            <a:solidFill>
              <a:srgbClr val="E3E6E4"/>
            </a:solidFill>
            <a:prstDash val="solid"/>
          </a:ln>
        </p:spPr>
      </p:sp>
      <p:sp>
        <p:nvSpPr>
          <p:cNvPr id="17" name="Text 15"/>
          <p:cNvSpPr/>
          <p:nvPr/>
        </p:nvSpPr>
        <p:spPr>
          <a:xfrm>
            <a:off x="7425730" y="2849364"/>
            <a:ext cx="16687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7A6B"/>
                </a:solidFill>
                <a:latin typeface="JetBrains Mono" pitchFamily="34" charset="0"/>
                <a:ea typeface="JetBrains Mono" pitchFamily="34" charset="-122"/>
                <a:cs typeface="JetBrains Mono" pitchFamily="34" charset="-120"/>
              </a:rPr>
              <a:t>4</a:t>
            </a:r>
            <a:endParaRPr lang="en-US" sz="1600" dirty="0"/>
          </a:p>
        </p:txBody>
      </p:sp>
      <p:sp>
        <p:nvSpPr>
          <p:cNvPr id="18" name="Text 16"/>
          <p:cNvSpPr/>
          <p:nvPr/>
        </p:nvSpPr>
        <p:spPr>
          <a:xfrm>
            <a:off x="7425730" y="3197324"/>
            <a:ext cx="16687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73D"/>
                </a:solidFill>
                <a:latin typeface="IBM Plex Sans" pitchFamily="34" charset="0"/>
                <a:ea typeface="IBM Plex Sans" pitchFamily="34" charset="-122"/>
                <a:cs typeface="IBM Plex Sans" pitchFamily="34" charset="-120"/>
              </a:rPr>
              <a:t>Findings</a:t>
            </a:r>
            <a:endParaRPr lang="en-US" sz="1500" dirty="0"/>
          </a:p>
        </p:txBody>
      </p:sp>
      <p:sp>
        <p:nvSpPr>
          <p:cNvPr id="19" name="Text 17"/>
          <p:cNvSpPr/>
          <p:nvPr/>
        </p:nvSpPr>
        <p:spPr>
          <a:xfrm>
            <a:off x="7425730" y="3489424"/>
            <a:ext cx="166876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27A"/>
                </a:solidFill>
                <a:latin typeface="IBM Plex Sans" pitchFamily="34" charset="0"/>
                <a:ea typeface="IBM Plex Sans" pitchFamily="34" charset="-122"/>
                <a:cs typeface="IBM Plex Sans" pitchFamily="34" charset="-120"/>
              </a:rPr>
              <a:t>Run over every paid claim line, with the dollars and the PA status.</a:t>
            </a:r>
            <a:endParaRPr lang="en-US" sz="1200" dirty="0"/>
          </a:p>
        </p:txBody>
      </p:sp>
      <p:sp>
        <p:nvSpPr>
          <p:cNvPr id="20" name="Shape 18"/>
          <p:cNvSpPr/>
          <p:nvPr/>
        </p:nvSpPr>
        <p:spPr>
          <a:xfrm>
            <a:off x="9370715" y="2655689"/>
            <a:ext cx="2005310" cy="2055813"/>
          </a:xfrm>
          <a:prstGeom prst="roundRect">
            <a:avLst>
              <a:gd name="adj" fmla="val 4908"/>
            </a:avLst>
          </a:prstGeom>
          <a:solidFill>
            <a:srgbClr val="FFFFFF"/>
          </a:solidFill>
          <a:ln w="6350">
            <a:solidFill>
              <a:srgbClr val="E3E6E4"/>
            </a:solidFill>
            <a:prstDash val="solid"/>
          </a:ln>
        </p:spPr>
      </p:sp>
      <p:sp>
        <p:nvSpPr>
          <p:cNvPr id="21" name="Text 19"/>
          <p:cNvSpPr/>
          <p:nvPr/>
        </p:nvSpPr>
        <p:spPr>
          <a:xfrm>
            <a:off x="9564390" y="2849364"/>
            <a:ext cx="16687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7A6B"/>
                </a:solidFill>
                <a:latin typeface="JetBrains Mono" pitchFamily="34" charset="0"/>
                <a:ea typeface="JetBrains Mono" pitchFamily="34" charset="-122"/>
                <a:cs typeface="JetBrains Mono" pitchFamily="34" charset="-120"/>
              </a:rPr>
              <a:t>5</a:t>
            </a:r>
            <a:endParaRPr lang="en-US" sz="1600" dirty="0"/>
          </a:p>
        </p:txBody>
      </p:sp>
      <p:sp>
        <p:nvSpPr>
          <p:cNvPr id="22" name="Text 20"/>
          <p:cNvSpPr/>
          <p:nvPr/>
        </p:nvSpPr>
        <p:spPr>
          <a:xfrm>
            <a:off x="9564390" y="3197324"/>
            <a:ext cx="16687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73D"/>
                </a:solidFill>
                <a:latin typeface="IBM Plex Sans" pitchFamily="34" charset="0"/>
                <a:ea typeface="IBM Plex Sans" pitchFamily="34" charset="-122"/>
                <a:cs typeface="IBM Plex Sans" pitchFamily="34" charset="-120"/>
              </a:rPr>
              <a:t>Evidence</a:t>
            </a:r>
            <a:endParaRPr lang="en-US" sz="1500" dirty="0"/>
          </a:p>
        </p:txBody>
      </p:sp>
      <p:sp>
        <p:nvSpPr>
          <p:cNvPr id="23" name="Text 21"/>
          <p:cNvSpPr/>
          <p:nvPr/>
        </p:nvSpPr>
        <p:spPr>
          <a:xfrm>
            <a:off x="9564390" y="3489424"/>
            <a:ext cx="166876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5627A"/>
                </a:solidFill>
                <a:latin typeface="IBM Plex Sans" pitchFamily="34" charset="0"/>
                <a:ea typeface="IBM Plex Sans" pitchFamily="34" charset="-122"/>
                <a:cs typeface="IBM Plex Sans" pitchFamily="34" charset="-120"/>
              </a:rPr>
              <a:t>Each finding leads back to the policy words, the manual version and the approver.</a:t>
            </a:r>
            <a:endParaRPr lang="en-US" sz="1200" dirty="0"/>
          </a:p>
        </p:txBody>
      </p:sp>
      <p:sp>
        <p:nvSpPr>
          <p:cNvPr id="24" name="Shape 22"/>
          <p:cNvSpPr/>
          <p:nvPr/>
        </p:nvSpPr>
        <p:spPr>
          <a:xfrm>
            <a:off x="831850" y="5295900"/>
            <a:ext cx="0" cy="609600"/>
          </a:xfrm>
          <a:prstGeom prst="line">
            <a:avLst/>
          </a:prstGeom>
          <a:noFill/>
          <a:ln w="38100">
            <a:solidFill>
              <a:srgbClr val="1F7A6B"/>
            </a:solidFill>
            <a:prstDash val="solid"/>
          </a:ln>
        </p:spPr>
      </p:sp>
      <p:sp>
        <p:nvSpPr>
          <p:cNvPr id="25" name="Text 23"/>
          <p:cNvSpPr/>
          <p:nvPr/>
        </p:nvSpPr>
        <p:spPr>
          <a:xfrm>
            <a:off x="1054100" y="5334000"/>
            <a:ext cx="1063485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73D"/>
                </a:solidFill>
                <a:latin typeface="IBM Plex Sans" pitchFamily="34" charset="0"/>
                <a:ea typeface="IBM Plex Sans" pitchFamily="34" charset="-122"/>
                <a:cs typeface="IBM Plex Sans" pitchFamily="34" charset="-120"/>
              </a:rPr>
              <a:t>Scoped to what AHCCCS actually pays:</a:t>
            </a:r>
            <a:r>
              <a:rPr lang="en-US" sz="1500" dirty="0">
                <a:solidFill>
                  <a:srgbClr val="14273D"/>
                </a:solidFill>
                <a:latin typeface="IBM Plex Sans" pitchFamily="34" charset="0"/>
                <a:ea typeface="IBM Plex Sans" pitchFamily="34" charset="-122"/>
                <a:cs typeface="IBM Plex Sans" pitchFamily="34" charset="-120"/>
              </a:rPr>
              <a:t> rules exist only for codes in the ~17M paid claim lines. Before, a hardcoded list of ~23 codes. A rule for a code never paid can't produce a finding; it only inflates the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CORRECT · FEDERAL EDITS (NCCI)</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Federal edits: correct and automated</a:t>
            </a:r>
            <a:endParaRPr lang="en-US" sz="3300" dirty="0"/>
          </a:p>
        </p:txBody>
      </p:sp>
      <p:sp>
        <p:nvSpPr>
          <p:cNvPr id="4" name="Shape 2"/>
          <p:cNvSpPr/>
          <p:nvPr/>
        </p:nvSpPr>
        <p:spPr>
          <a:xfrm>
            <a:off x="815975" y="1996678"/>
            <a:ext cx="5175250" cy="2930823"/>
          </a:xfrm>
          <a:prstGeom prst="roundRect">
            <a:avLst>
              <a:gd name="adj" fmla="val 3358"/>
            </a:avLst>
          </a:prstGeom>
          <a:solidFill>
            <a:srgbClr val="FFFFFF"/>
          </a:solidFill>
          <a:ln w="6350">
            <a:solidFill>
              <a:srgbClr val="E3E6E4"/>
            </a:solidFill>
            <a:prstDash val="solid"/>
          </a:ln>
        </p:spPr>
      </p:sp>
      <p:sp>
        <p:nvSpPr>
          <p:cNvPr id="5" name="Text 3"/>
          <p:cNvSpPr/>
          <p:nvPr/>
        </p:nvSpPr>
        <p:spPr>
          <a:xfrm>
            <a:off x="1060450" y="2241153"/>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B"/>
                </a:solidFill>
                <a:latin typeface="IBM Plex Sans" pitchFamily="34" charset="0"/>
                <a:ea typeface="IBM Plex Sans" pitchFamily="34" charset="-122"/>
                <a:cs typeface="IBM Plex Sans" pitchFamily="34" charset="-120"/>
              </a:rPr>
              <a:t>Settled against CMS guidance</a:t>
            </a:r>
            <a:endParaRPr lang="en-US" sz="1600" dirty="0"/>
          </a:p>
        </p:txBody>
      </p:sp>
      <p:sp>
        <p:nvSpPr>
          <p:cNvPr id="6" name="Text 4"/>
          <p:cNvSpPr/>
          <p:nvPr/>
        </p:nvSpPr>
        <p:spPr>
          <a:xfrm>
            <a:off x="1263650" y="2573834"/>
            <a:ext cx="4617593" cy="2134592"/>
          </a:xfrm>
          <a:prstGeom prst="rect">
            <a:avLst/>
          </a:prstGeom>
          <a:noFill/>
          <a:ln/>
        </p:spPr>
        <p:txBody>
          <a:bodyPr wrap="square" lIns="0" tIns="0" rIns="0" bIns="0" rtlCol="0" anchor="t">
            <a:normAutofit/>
          </a:bodyPr>
          <a:lstStyle/>
          <a:p>
            <a:pPr algn="l" marL="198120" indent="-168656">
              <a:lnSpc>
                <a:spcPts val="1846"/>
              </a:lnSpc>
              <a:buSzPct val="100000"/>
              <a:buChar char="•"/>
            </a:pPr>
            <a:r>
              <a:rPr lang="en-US" sz="1300" dirty="0">
                <a:solidFill>
                  <a:srgbClr val="55627A"/>
                </a:solidFill>
                <a:latin typeface="IBM Plex Sans" pitchFamily="34" charset="0"/>
                <a:ea typeface="IBM Plex Sans" pitchFamily="34" charset="-122"/>
                <a:cs typeface="IBM Plex Sans" pitchFamily="34" charset="-120"/>
              </a:rPr>
              <a:t>Each edit applies only inside its own effective and deletion dates. Before: one hardcoded date, deleted edits still firing.</a:t>
            </a:r>
            <a:endParaRPr lang="en-US" sz="1300" dirty="0"/>
          </a:p>
          <a:p>
            <a:pPr algn="l" marL="198120" indent="-168656">
              <a:lnSpc>
                <a:spcPts val="1846"/>
              </a:lnSpc>
              <a:buSzPct val="100000"/>
              <a:buChar char="•"/>
            </a:pPr>
            <a:r>
              <a:rPr lang="en-US" sz="1300" dirty="0">
                <a:solidFill>
                  <a:srgbClr val="55627A"/>
                </a:solidFill>
                <a:latin typeface="IBM Plex Sans" pitchFamily="34" charset="0"/>
                <a:ea typeface="IBM Plex Sans" pitchFamily="34" charset="-122"/>
                <a:cs typeface="IBM Plex Sans" pitchFamily="34" charset="-120"/>
              </a:rPr>
              <a:t>Unit limits rebuilt quarter by quarter. A missing quarter stops the build.</a:t>
            </a:r>
            <a:endParaRPr lang="en-US" sz="1300" dirty="0"/>
          </a:p>
          <a:p>
            <a:pPr algn="l" marL="198120" indent="-168656">
              <a:lnSpc>
                <a:spcPts val="1846"/>
              </a:lnSpc>
              <a:buSzPct val="100000"/>
              <a:buChar char="•"/>
            </a:pPr>
            <a:r>
              <a:rPr lang="en-US" sz="1300" dirty="0">
                <a:solidFill>
                  <a:srgbClr val="55627A"/>
                </a:solidFill>
                <a:latin typeface="IBM Plex Sans" pitchFamily="34" charset="0"/>
                <a:ea typeface="IBM Plex Sans" pitchFamily="34" charset="-122"/>
                <a:cs typeface="IBM Plex Sans" pitchFamily="34" charset="-120"/>
              </a:rPr>
              <a:t>Medicaid unit limits (MUEs) are per claim line, never summed across a day.</a:t>
            </a:r>
            <a:endParaRPr lang="en-US" sz="1300" dirty="0"/>
          </a:p>
          <a:p>
            <a:pPr algn="l" marL="198120" indent="-168656">
              <a:lnSpc>
                <a:spcPts val="1846"/>
              </a:lnSpc>
              <a:buSzPct val="100000"/>
              <a:buChar char="•"/>
            </a:pPr>
            <a:r>
              <a:rPr lang="en-US" sz="1300" dirty="0">
                <a:solidFill>
                  <a:srgbClr val="55627A"/>
                </a:solidFill>
                <a:latin typeface="IBM Plex Sans" pitchFamily="34" charset="0"/>
                <a:ea typeface="IBM Plex Sans" pitchFamily="34" charset="-122"/>
                <a:cs typeface="IBM Plex Sans" pitchFamily="34" charset="-120"/>
              </a:rPr>
              <a:t>Full modifier-bypass set, with CMS's same-side exception. The denied line is Column Two.</a:t>
            </a:r>
            <a:endParaRPr lang="en-US" sz="1300" dirty="0"/>
          </a:p>
        </p:txBody>
      </p:sp>
      <p:sp>
        <p:nvSpPr>
          <p:cNvPr id="7" name="Shape 5"/>
          <p:cNvSpPr/>
          <p:nvPr/>
        </p:nvSpPr>
        <p:spPr>
          <a:xfrm>
            <a:off x="6200775" y="1996678"/>
            <a:ext cx="5175250" cy="2930823"/>
          </a:xfrm>
          <a:prstGeom prst="roundRect">
            <a:avLst>
              <a:gd name="adj" fmla="val 3358"/>
            </a:avLst>
          </a:prstGeom>
          <a:solidFill>
            <a:srgbClr val="FFFFFF"/>
          </a:solidFill>
          <a:ln w="6350">
            <a:solidFill>
              <a:srgbClr val="E3E6E4"/>
            </a:solidFill>
            <a:prstDash val="solid"/>
          </a:ln>
        </p:spPr>
      </p:sp>
      <p:sp>
        <p:nvSpPr>
          <p:cNvPr id="8" name="Text 6"/>
          <p:cNvSpPr/>
          <p:nvPr/>
        </p:nvSpPr>
        <p:spPr>
          <a:xfrm>
            <a:off x="6445250" y="2241153"/>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52E"/>
                </a:solidFill>
                <a:latin typeface="IBM Plex Sans" pitchFamily="34" charset="0"/>
                <a:ea typeface="IBM Plex Sans" pitchFamily="34" charset="-122"/>
                <a:cs typeface="IBM Plex Sans" pitchFamily="34" charset="-120"/>
              </a:rPr>
              <a:t>New since the last update</a:t>
            </a:r>
            <a:endParaRPr lang="en-US" sz="1600" dirty="0"/>
          </a:p>
        </p:txBody>
      </p:sp>
      <p:sp>
        <p:nvSpPr>
          <p:cNvPr id="9" name="Text 7"/>
          <p:cNvSpPr/>
          <p:nvPr/>
        </p:nvSpPr>
        <p:spPr>
          <a:xfrm>
            <a:off x="6648450" y="2573834"/>
            <a:ext cx="4617593" cy="1900238"/>
          </a:xfrm>
          <a:prstGeom prst="rect">
            <a:avLst/>
          </a:prstGeom>
          <a:noFill/>
          <a:ln/>
        </p:spPr>
        <p:txBody>
          <a:bodyPr wrap="square" lIns="0" tIns="0" rIns="0" bIns="0" rtlCol="0" anchor="t">
            <a:normAutofit/>
          </a:bodyPr>
          <a:lstStyle/>
          <a:p>
            <a:pPr algn="l" marL="198120" indent="-168656">
              <a:lnSpc>
                <a:spcPts val="1846"/>
              </a:lnSpc>
              <a:buSzPct val="100000"/>
              <a:buChar char="•"/>
            </a:pPr>
            <a:r>
              <a:rPr lang="en-US" sz="1300" b="1" dirty="0">
                <a:solidFill>
                  <a:srgbClr val="55627A"/>
                </a:solidFill>
                <a:latin typeface="IBM Plex Sans" pitchFamily="34" charset="0"/>
                <a:ea typeface="IBM Plex Sans" pitchFamily="34" charset="-122"/>
                <a:cs typeface="IBM Plex Sans" pitchFamily="34" charset="-120"/>
              </a:rPr>
              <a:t>No more manual loading.</a:t>
            </a:r>
            <a:r>
              <a:rPr lang="en-US" sz="1300" dirty="0">
                <a:solidFill>
                  <a:srgbClr val="55627A"/>
                </a:solidFill>
                <a:latin typeface="IBM Plex Sans" pitchFamily="34" charset="0"/>
                <a:ea typeface="IBM Plex Sans" pitchFamily="34" charset="-122"/>
                <a:cs typeface="IBM Plex Sans" pitchFamily="34" charset="-120"/>
              </a:rPr>
              <a:t> One notebook finds the quarter's six CMS files, checks every row and loads them. A bad row stops it.</a:t>
            </a:r>
            <a:endParaRPr lang="en-US" sz="1300" dirty="0"/>
          </a:p>
          <a:p>
            <a:pPr algn="l" marL="198120" indent="-168656">
              <a:lnSpc>
                <a:spcPts val="1846"/>
              </a:lnSpc>
              <a:buSzPct val="100000"/>
              <a:buChar char="•"/>
            </a:pPr>
            <a:r>
              <a:rPr lang="en-US" sz="1300" b="1" dirty="0">
                <a:solidFill>
                  <a:srgbClr val="55627A"/>
                </a:solidFill>
                <a:latin typeface="IBM Plex Sans" pitchFamily="34" charset="0"/>
                <a:ea typeface="IBM Plex Sans" pitchFamily="34" charset="-122"/>
                <a:cs typeface="IBM Plex Sans" pitchFamily="34" charset="-120"/>
              </a:rPr>
              <a:t>Direction kept.</a:t>
            </a:r>
            <a:r>
              <a:rPr lang="en-US" sz="1300" dirty="0">
                <a:solidFill>
                  <a:srgbClr val="55627A"/>
                </a:solidFill>
                <a:latin typeface="IBM Plex Sans" pitchFamily="34" charset="0"/>
                <a:ea typeface="IBM Plex Sans" pitchFamily="34" charset="-122"/>
                <a:cs typeface="IBM Plex Sans" pitchFamily="34" charset="-120"/>
              </a:rPr>
              <a:t> A code pair and its reverse stay separate edits; overlapping editions are split by date.</a:t>
            </a:r>
            <a:endParaRPr lang="en-US" sz="1300" dirty="0"/>
          </a:p>
          <a:p>
            <a:pPr algn="l" marL="198120" indent="-168656">
              <a:lnSpc>
                <a:spcPts val="1846"/>
              </a:lnSpc>
              <a:buSzPct val="100000"/>
              <a:buChar char="•"/>
            </a:pPr>
            <a:r>
              <a:rPr lang="en-US" sz="1300" b="1" dirty="0">
                <a:solidFill>
                  <a:srgbClr val="55627A"/>
                </a:solidFill>
                <a:latin typeface="IBM Plex Sans" pitchFamily="34" charset="0"/>
                <a:ea typeface="IBM Plex Sans" pitchFamily="34" charset="-122"/>
                <a:cs typeface="IBM Plex Sans" pitchFamily="34" charset="-120"/>
              </a:rPr>
              <a:t>Every edit, every claim.</a:t>
            </a:r>
            <a:r>
              <a:rPr lang="en-US" sz="1300" dirty="0">
                <a:solidFill>
                  <a:srgbClr val="55627A"/>
                </a:solidFill>
                <a:latin typeface="IBM Plex Sans" pitchFamily="34" charset="0"/>
                <a:ea typeface="IBM Plex Sans" pitchFamily="34" charset="-122"/>
                <a:cs typeface="IBM Plex Sans" pitchFamily="34" charset="-120"/>
              </a:rPr>
              <a:t> All federal edits run in two queries. Before: one query per pair, capped at 300 per run.</a:t>
            </a:r>
            <a:endParaRPr lang="en-US" sz="1300" dirty="0"/>
          </a:p>
        </p:txBody>
      </p:sp>
      <p:sp>
        <p:nvSpPr>
          <p:cNvPr id="10" name="Shape 8"/>
          <p:cNvSpPr/>
          <p:nvPr/>
        </p:nvSpPr>
        <p:spPr>
          <a:xfrm>
            <a:off x="831850" y="5313759"/>
            <a:ext cx="0" cy="591741"/>
          </a:xfrm>
          <a:prstGeom prst="line">
            <a:avLst/>
          </a:prstGeom>
          <a:noFill/>
          <a:ln w="38100">
            <a:solidFill>
              <a:srgbClr val="1F7A6B"/>
            </a:solidFill>
            <a:prstDash val="solid"/>
          </a:ln>
        </p:spPr>
      </p:sp>
      <p:sp>
        <p:nvSpPr>
          <p:cNvPr id="11" name="Text 9"/>
          <p:cNvSpPr/>
          <p:nvPr/>
        </p:nvSpPr>
        <p:spPr>
          <a:xfrm>
            <a:off x="1054100" y="5351859"/>
            <a:ext cx="10634853"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4273D"/>
                </a:solidFill>
                <a:latin typeface="IBM Plex Sans" pitchFamily="34" charset="0"/>
                <a:ea typeface="IBM Plex Sans" pitchFamily="34" charset="-122"/>
                <a:cs typeface="IBM Plex Sans" pitchFamily="34" charset="-120"/>
              </a:rPr>
              <a:t>Why it matters:</a:t>
            </a:r>
            <a:r>
              <a:rPr lang="en-US" sz="1450" dirty="0">
                <a:solidFill>
                  <a:srgbClr val="14273D"/>
                </a:solidFill>
                <a:latin typeface="IBM Plex Sans" pitchFamily="34" charset="0"/>
                <a:ea typeface="IBM Plex Sans" pitchFamily="34" charset="-122"/>
                <a:cs typeface="IBM Plex Sans" pitchFamily="34" charset="-120"/>
              </a:rPr>
              <a:t> each of these was silently producing wrong flags or missing real ones. In a fraud tool, both burn the investigator's time and the tool's credibility.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CORRECT · STATE POLICY</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Details that decide if a flag is right</a:t>
            </a:r>
            <a:endParaRPr lang="en-US" sz="3300" dirty="0"/>
          </a:p>
        </p:txBody>
      </p:sp>
      <p:sp>
        <p:nvSpPr>
          <p:cNvPr id="4" name="Shape 2"/>
          <p:cNvSpPr/>
          <p:nvPr/>
        </p:nvSpPr>
        <p:spPr>
          <a:xfrm>
            <a:off x="815975" y="2295029"/>
            <a:ext cx="5187950" cy="1203821"/>
          </a:xfrm>
          <a:prstGeom prst="roundRect">
            <a:avLst>
              <a:gd name="adj" fmla="val 8176"/>
            </a:avLst>
          </a:prstGeom>
          <a:solidFill>
            <a:srgbClr val="FFFFFF"/>
          </a:solidFill>
          <a:ln w="6350">
            <a:solidFill>
              <a:srgbClr val="E3E6E4"/>
            </a:solidFill>
            <a:prstDash val="solid"/>
          </a:ln>
        </p:spPr>
      </p:sp>
      <p:sp>
        <p:nvSpPr>
          <p:cNvPr id="5" name="Text 3"/>
          <p:cNvSpPr/>
          <p:nvPr/>
        </p:nvSpPr>
        <p:spPr>
          <a:xfrm>
            <a:off x="1035050" y="2514104"/>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Who is the pair scoped to?</a:t>
            </a:r>
            <a:endParaRPr lang="en-US" sz="1600" dirty="0"/>
          </a:p>
        </p:txBody>
      </p:sp>
      <p:sp>
        <p:nvSpPr>
          <p:cNvPr id="6" name="Text 4"/>
          <p:cNvSpPr/>
          <p:nvPr/>
        </p:nvSpPr>
        <p:spPr>
          <a:xfrm>
            <a:off x="1035050" y="2834084"/>
            <a:ext cx="48922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27A"/>
                </a:solidFill>
                <a:latin typeface="IBM Plex Sans" pitchFamily="34" charset="0"/>
                <a:ea typeface="IBM Plex Sans" pitchFamily="34" charset="-122"/>
                <a:cs typeface="IBM Plex Sans" pitchFamily="34" charset="-120"/>
              </a:rPr>
              <a:t>NCCI pairs are per provider. AHCCCS says "for the same member", so a pair split across two providers is still caught.</a:t>
            </a:r>
            <a:endParaRPr lang="en-US" sz="1300" dirty="0"/>
          </a:p>
        </p:txBody>
      </p:sp>
      <p:sp>
        <p:nvSpPr>
          <p:cNvPr id="7" name="Shape 5"/>
          <p:cNvSpPr/>
          <p:nvPr/>
        </p:nvSpPr>
        <p:spPr>
          <a:xfrm>
            <a:off x="6188075" y="2295029"/>
            <a:ext cx="5187950" cy="1203821"/>
          </a:xfrm>
          <a:prstGeom prst="roundRect">
            <a:avLst>
              <a:gd name="adj" fmla="val 8176"/>
            </a:avLst>
          </a:prstGeom>
          <a:solidFill>
            <a:srgbClr val="FFFFFF"/>
          </a:solidFill>
          <a:ln w="6350">
            <a:solidFill>
              <a:srgbClr val="E3E6E4"/>
            </a:solidFill>
            <a:prstDash val="solid"/>
          </a:ln>
        </p:spPr>
      </p:sp>
      <p:sp>
        <p:nvSpPr>
          <p:cNvPr id="8" name="Text 6"/>
          <p:cNvSpPr/>
          <p:nvPr/>
        </p:nvSpPr>
        <p:spPr>
          <a:xfrm>
            <a:off x="6407150" y="2514104"/>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Prior authorization: three outcomes</a:t>
            </a:r>
            <a:endParaRPr lang="en-US" sz="1600" dirty="0"/>
          </a:p>
        </p:txBody>
      </p:sp>
      <p:sp>
        <p:nvSpPr>
          <p:cNvPr id="9" name="Text 7"/>
          <p:cNvSpPr/>
          <p:nvPr/>
        </p:nvSpPr>
        <p:spPr>
          <a:xfrm>
            <a:off x="6407150" y="2834084"/>
            <a:ext cx="48922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27A"/>
                </a:solidFill>
                <a:latin typeface="IBM Plex Sans" pitchFamily="34" charset="0"/>
                <a:ea typeface="IBM Plex Sans" pitchFamily="34" charset="-122"/>
                <a:cs typeface="IBM Plex Sans" pitchFamily="34" charset="-120"/>
              </a:rPr>
              <a:t>PA on file → </a:t>
            </a:r>
            <a:r>
              <a:rPr lang="en-US" sz="1300" b="1" dirty="0">
                <a:solidFill>
                  <a:srgbClr val="55627A"/>
                </a:solidFill>
                <a:latin typeface="IBM Plex Sans" pitchFamily="34" charset="0"/>
                <a:ea typeface="IBM Plex Sans" pitchFamily="34" charset="-122"/>
                <a:cs typeface="IBM Plex Sans" pitchFamily="34" charset="-120"/>
              </a:rPr>
              <a:t>verify</a:t>
            </a:r>
            <a:r>
              <a:rPr lang="en-US" sz="1300" dirty="0">
                <a:solidFill>
                  <a:srgbClr val="55627A"/>
                </a:solidFill>
                <a:latin typeface="IBM Plex Sans" pitchFamily="34" charset="0"/>
                <a:ea typeface="IBM Plex Sans" pitchFamily="34" charset="-122"/>
                <a:cs typeface="IBM Plex Sans" pitchFamily="34" charset="-120"/>
              </a:rPr>
              <a:t>. No PA → </a:t>
            </a:r>
            <a:r>
              <a:rPr lang="en-US" sz="1300" b="1" dirty="0">
                <a:solidFill>
                  <a:srgbClr val="55627A"/>
                </a:solidFill>
                <a:latin typeface="IBM Plex Sans" pitchFamily="34" charset="0"/>
                <a:ea typeface="IBM Plex Sans" pitchFamily="34" charset="-122"/>
                <a:cs typeface="IBM Plex Sans" pitchFamily="34" charset="-120"/>
              </a:rPr>
              <a:t>candidate</a:t>
            </a:r>
            <a:r>
              <a:rPr lang="en-US" sz="1300" dirty="0">
                <a:solidFill>
                  <a:srgbClr val="55627A"/>
                </a:solidFill>
                <a:latin typeface="IBM Plex Sans" pitchFamily="34" charset="0"/>
                <a:ea typeface="IBM Plex Sans" pitchFamily="34" charset="-122"/>
                <a:cs typeface="IBM Plex Sans" pitchFamily="34" charset="-120"/>
              </a:rPr>
              <a:t>. NCCI → </a:t>
            </a:r>
            <a:r>
              <a:rPr lang="en-US" sz="1300" b="1" dirty="0">
                <a:solidFill>
                  <a:srgbClr val="55627A"/>
                </a:solidFill>
                <a:latin typeface="IBM Plex Sans" pitchFamily="34" charset="0"/>
                <a:ea typeface="IBM Plex Sans" pitchFamily="34" charset="-122"/>
                <a:cs typeface="IBM Plex Sans" pitchFamily="34" charset="-120"/>
              </a:rPr>
              <a:t>not evaluated</a:t>
            </a:r>
            <a:r>
              <a:rPr lang="en-US" sz="1300" dirty="0">
                <a:solidFill>
                  <a:srgbClr val="55627A"/>
                </a:solidFill>
                <a:latin typeface="IBM Plex Sans" pitchFamily="34" charset="0"/>
                <a:ea typeface="IBM Plex Sans" pitchFamily="34" charset="-122"/>
                <a:cs typeface="IBM Plex Sans" pitchFamily="34" charset="-120"/>
              </a:rPr>
              <a:t> (CMS: a PA is not a bypass). A PA never removes a finding.</a:t>
            </a:r>
            <a:endParaRPr lang="en-US" sz="1300" dirty="0"/>
          </a:p>
        </p:txBody>
      </p:sp>
      <p:sp>
        <p:nvSpPr>
          <p:cNvPr id="10" name="Shape 8"/>
          <p:cNvSpPr/>
          <p:nvPr/>
        </p:nvSpPr>
        <p:spPr>
          <a:xfrm>
            <a:off x="815975" y="3683000"/>
            <a:ext cx="5187950" cy="1203821"/>
          </a:xfrm>
          <a:prstGeom prst="roundRect">
            <a:avLst>
              <a:gd name="adj" fmla="val 8176"/>
            </a:avLst>
          </a:prstGeom>
          <a:solidFill>
            <a:srgbClr val="FFFFFF"/>
          </a:solidFill>
          <a:ln w="6350">
            <a:solidFill>
              <a:srgbClr val="E3E6E4"/>
            </a:solidFill>
            <a:prstDash val="solid"/>
          </a:ln>
        </p:spPr>
      </p:sp>
      <p:sp>
        <p:nvSpPr>
          <p:cNvPr id="11" name="Text 9"/>
          <p:cNvSpPr/>
          <p:nvPr/>
        </p:nvSpPr>
        <p:spPr>
          <a:xfrm>
            <a:off x="1035050" y="3902075"/>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Rules with a population</a:t>
            </a:r>
            <a:endParaRPr lang="en-US" sz="1600" dirty="0"/>
          </a:p>
        </p:txBody>
      </p:sp>
      <p:sp>
        <p:nvSpPr>
          <p:cNvPr id="12" name="Text 10"/>
          <p:cNvSpPr/>
          <p:nvPr/>
        </p:nvSpPr>
        <p:spPr>
          <a:xfrm>
            <a:off x="1035050" y="4222055"/>
            <a:ext cx="48922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27A"/>
                </a:solidFill>
                <a:latin typeface="IBM Plex Sans" pitchFamily="34" charset="0"/>
                <a:ea typeface="IBM Plex Sans" pitchFamily="34" charset="-122"/>
                <a:cs typeface="IBM Plex Sans" pitchFamily="34" charset="-120"/>
              </a:rPr>
              <a:t>"Members under 21" cannot compile against every member. Until the grammar carries conditions, it stays a reviewed lead.</a:t>
            </a:r>
            <a:endParaRPr lang="en-US" sz="1300" dirty="0"/>
          </a:p>
        </p:txBody>
      </p:sp>
      <p:sp>
        <p:nvSpPr>
          <p:cNvPr id="13" name="Shape 11"/>
          <p:cNvSpPr/>
          <p:nvPr/>
        </p:nvSpPr>
        <p:spPr>
          <a:xfrm>
            <a:off x="6188075" y="3683000"/>
            <a:ext cx="5187950" cy="1203821"/>
          </a:xfrm>
          <a:prstGeom prst="roundRect">
            <a:avLst>
              <a:gd name="adj" fmla="val 8176"/>
            </a:avLst>
          </a:prstGeom>
          <a:solidFill>
            <a:srgbClr val="FFFFFF"/>
          </a:solidFill>
          <a:ln w="6350">
            <a:solidFill>
              <a:srgbClr val="E3E6E4"/>
            </a:solidFill>
            <a:prstDash val="solid"/>
          </a:ln>
        </p:spPr>
      </p:sp>
      <p:sp>
        <p:nvSpPr>
          <p:cNvPr id="14" name="Text 12"/>
          <p:cNvSpPr/>
          <p:nvPr/>
        </p:nvSpPr>
        <p:spPr>
          <a:xfrm>
            <a:off x="6407150" y="3902075"/>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Annual limits reset in October</a:t>
            </a:r>
            <a:endParaRPr lang="en-US" sz="1600" dirty="0"/>
          </a:p>
        </p:txBody>
      </p:sp>
      <p:sp>
        <p:nvSpPr>
          <p:cNvPr id="15" name="Text 13"/>
          <p:cNvSpPr/>
          <p:nvPr/>
        </p:nvSpPr>
        <p:spPr>
          <a:xfrm>
            <a:off x="6407150" y="4222055"/>
            <a:ext cx="48922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5627A"/>
                </a:solidFill>
                <a:latin typeface="IBM Plex Sans" pitchFamily="34" charset="0"/>
                <a:ea typeface="IBM Plex Sans" pitchFamily="34" charset="-122"/>
                <a:cs typeface="IBM Plex Sans" pitchFamily="34" charset="-120"/>
              </a:rPr>
              <a:t>AHCCCS's contract year is Oct 1 to Sep 30, not the calendar or state fiscal year.</a:t>
            </a:r>
            <a:endParaRPr lang="en-US" sz="1300" dirty="0"/>
          </a:p>
        </p:txBody>
      </p:sp>
      <p:sp>
        <p:nvSpPr>
          <p:cNvPr id="16" name="Shape 14"/>
          <p:cNvSpPr/>
          <p:nvPr/>
        </p:nvSpPr>
        <p:spPr>
          <a:xfrm>
            <a:off x="831850" y="5571530"/>
            <a:ext cx="0" cy="333970"/>
          </a:xfrm>
          <a:prstGeom prst="line">
            <a:avLst/>
          </a:prstGeom>
          <a:noFill/>
          <a:ln w="38100">
            <a:solidFill>
              <a:srgbClr val="1F7A6B"/>
            </a:solidFill>
            <a:prstDash val="solid"/>
          </a:ln>
        </p:spPr>
      </p:sp>
      <p:sp>
        <p:nvSpPr>
          <p:cNvPr id="17" name="Text 15"/>
          <p:cNvSpPr/>
          <p:nvPr/>
        </p:nvSpPr>
        <p:spPr>
          <a:xfrm>
            <a:off x="1054100" y="5609630"/>
            <a:ext cx="10634853"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4273D"/>
                </a:solidFill>
                <a:latin typeface="IBM Plex Sans" pitchFamily="34" charset="0"/>
                <a:ea typeface="IBM Plex Sans" pitchFamily="34" charset="-122"/>
                <a:cs typeface="IBM Plex Sans" pitchFamily="34" charset="-120"/>
              </a:rPr>
              <a:t>Why it matters:</a:t>
            </a:r>
            <a:r>
              <a:rPr lang="en-US" sz="1450" dirty="0">
                <a:solidFill>
                  <a:srgbClr val="14273D"/>
                </a:solidFill>
                <a:latin typeface="IBM Plex Sans" pitchFamily="34" charset="0"/>
                <a:ea typeface="IBM Plex Sans" pitchFamily="34" charset="-122"/>
                <a:cs typeface="IBM Plex Sans" pitchFamily="34" charset="-120"/>
              </a:rPr>
              <a:t> each was a false-positive or false-negative path, and each is now a test that </a:t>
            </a:r>
            <a:r>
              <a:rPr lang="en-US" sz="1450" i="1" dirty="0">
                <a:solidFill>
                  <a:srgbClr val="14273D"/>
                </a:solidFill>
                <a:latin typeface="IBM Plex Sans" pitchFamily="34" charset="0"/>
                <a:ea typeface="IBM Plex Sans" pitchFamily="34" charset="-122"/>
                <a:cs typeface="IBM Plex Sans" pitchFamily="34" charset="-120"/>
              </a:rPr>
              <a:t>executes</a:t>
            </a:r>
            <a:r>
              <a:rPr lang="en-US" sz="1450" dirty="0">
                <a:solidFill>
                  <a:srgbClr val="14273D"/>
                </a:solidFill>
                <a:latin typeface="IBM Plex Sans" pitchFamily="34" charset="0"/>
                <a:ea typeface="IBM Plex Sans" pitchFamily="34" charset="-122"/>
                <a:cs typeface="IBM Plex Sans" pitchFamily="34" charset="-120"/>
              </a:rPr>
              <a:t> the generated SQL.</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DEFENSIBLE · THE HUMAN GATE</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A named person signs every state rule</a:t>
            </a:r>
            <a:endParaRPr lang="en-US" sz="3300" dirty="0"/>
          </a:p>
        </p:txBody>
      </p:sp>
      <p:sp>
        <p:nvSpPr>
          <p:cNvPr id="4" name="Shape 2"/>
          <p:cNvSpPr/>
          <p:nvPr/>
        </p:nvSpPr>
        <p:spPr>
          <a:xfrm>
            <a:off x="815975" y="2134791"/>
            <a:ext cx="805954" cy="509191"/>
          </a:xfrm>
          <a:prstGeom prst="roundRect">
            <a:avLst>
              <a:gd name="adj" fmla="val 14341"/>
            </a:avLst>
          </a:prstGeom>
          <a:solidFill>
            <a:srgbClr val="FFFFFF"/>
          </a:solidFill>
          <a:ln w="6350">
            <a:solidFill>
              <a:srgbClr val="E3E6E4"/>
            </a:solidFill>
            <a:prstDash val="solid"/>
          </a:ln>
        </p:spPr>
      </p:sp>
      <p:sp>
        <p:nvSpPr>
          <p:cNvPr id="5" name="Text 3"/>
          <p:cNvSpPr/>
          <p:nvPr/>
        </p:nvSpPr>
        <p:spPr>
          <a:xfrm>
            <a:off x="1009650" y="2264966"/>
            <a:ext cx="46940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73D"/>
                </a:solidFill>
                <a:latin typeface="IBM Plex Sans" pitchFamily="34" charset="0"/>
                <a:ea typeface="IBM Plex Sans" pitchFamily="34" charset="-122"/>
                <a:cs typeface="IBM Plex Sans" pitchFamily="34" charset="-120"/>
              </a:rPr>
              <a:t>Draft</a:t>
            </a:r>
            <a:endParaRPr lang="en-US" sz="1400" dirty="0"/>
          </a:p>
        </p:txBody>
      </p:sp>
      <p:sp>
        <p:nvSpPr>
          <p:cNvPr id="6" name="Text 4"/>
          <p:cNvSpPr/>
          <p:nvPr/>
        </p:nvSpPr>
        <p:spPr>
          <a:xfrm>
            <a:off x="1739404" y="2247106"/>
            <a:ext cx="254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7A6B"/>
                </a:solidFill>
                <a:latin typeface="IBM Plex Sans" pitchFamily="34" charset="0"/>
                <a:ea typeface="IBM Plex Sans" pitchFamily="34" charset="-122"/>
                <a:cs typeface="IBM Plex Sans" pitchFamily="34" charset="-120"/>
              </a:rPr>
              <a:t>→</a:t>
            </a:r>
            <a:endParaRPr lang="en-US" sz="1600" dirty="0"/>
          </a:p>
        </p:txBody>
      </p:sp>
      <p:sp>
        <p:nvSpPr>
          <p:cNvPr id="7" name="Shape 5"/>
          <p:cNvSpPr/>
          <p:nvPr/>
        </p:nvSpPr>
        <p:spPr>
          <a:xfrm>
            <a:off x="2060079" y="2134791"/>
            <a:ext cx="2793107" cy="509191"/>
          </a:xfrm>
          <a:prstGeom prst="roundRect">
            <a:avLst>
              <a:gd name="adj" fmla="val 14341"/>
            </a:avLst>
          </a:prstGeom>
          <a:solidFill>
            <a:srgbClr val="FFFFFF"/>
          </a:solidFill>
          <a:ln w="6350">
            <a:solidFill>
              <a:srgbClr val="E3E6E4"/>
            </a:solidFill>
            <a:prstDash val="solid"/>
          </a:ln>
        </p:spPr>
      </p:sp>
      <p:sp>
        <p:nvSpPr>
          <p:cNvPr id="8" name="Text 6"/>
          <p:cNvSpPr/>
          <p:nvPr/>
        </p:nvSpPr>
        <p:spPr>
          <a:xfrm>
            <a:off x="2253754" y="2264966"/>
            <a:ext cx="2477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73D"/>
                </a:solidFill>
                <a:latin typeface="IBM Plex Sans" pitchFamily="34" charset="0"/>
                <a:ea typeface="IBM Plex Sans" pitchFamily="34" charset="-122"/>
                <a:cs typeface="IBM Plex Sans" pitchFamily="34" charset="-120"/>
              </a:rPr>
              <a:t>Reviewed by a named person</a:t>
            </a:r>
            <a:endParaRPr lang="en-US" sz="1400" dirty="0"/>
          </a:p>
        </p:txBody>
      </p:sp>
      <p:sp>
        <p:nvSpPr>
          <p:cNvPr id="9" name="Text 7"/>
          <p:cNvSpPr/>
          <p:nvPr/>
        </p:nvSpPr>
        <p:spPr>
          <a:xfrm>
            <a:off x="4970661" y="2247106"/>
            <a:ext cx="254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7A6B"/>
                </a:solidFill>
                <a:latin typeface="IBM Plex Sans" pitchFamily="34" charset="0"/>
                <a:ea typeface="IBM Plex Sans" pitchFamily="34" charset="-122"/>
                <a:cs typeface="IBM Plex Sans" pitchFamily="34" charset="-120"/>
              </a:rPr>
              <a:t>→</a:t>
            </a:r>
            <a:endParaRPr lang="en-US" sz="1600" dirty="0"/>
          </a:p>
        </p:txBody>
      </p:sp>
      <p:sp>
        <p:nvSpPr>
          <p:cNvPr id="10" name="Shape 8"/>
          <p:cNvSpPr/>
          <p:nvPr/>
        </p:nvSpPr>
        <p:spPr>
          <a:xfrm>
            <a:off x="5288161" y="2137966"/>
            <a:ext cx="2872680" cy="502841"/>
          </a:xfrm>
          <a:prstGeom prst="roundRect">
            <a:avLst>
              <a:gd name="adj" fmla="val 15154"/>
            </a:avLst>
          </a:prstGeom>
          <a:solidFill>
            <a:srgbClr val="1F7A6B"/>
          </a:solidFill>
          <a:ln/>
        </p:spPr>
      </p:sp>
      <p:sp>
        <p:nvSpPr>
          <p:cNvPr id="11" name="Text 9"/>
          <p:cNvSpPr/>
          <p:nvPr/>
        </p:nvSpPr>
        <p:spPr>
          <a:xfrm>
            <a:off x="5478661" y="2264966"/>
            <a:ext cx="256643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Approved &amp; dated → compiles</a:t>
            </a:r>
            <a:endParaRPr lang="en-US" sz="1400" dirty="0"/>
          </a:p>
        </p:txBody>
      </p:sp>
      <p:sp>
        <p:nvSpPr>
          <p:cNvPr id="12" name="Shape 10"/>
          <p:cNvSpPr/>
          <p:nvPr/>
        </p:nvSpPr>
        <p:spPr>
          <a:xfrm>
            <a:off x="815975" y="2764631"/>
            <a:ext cx="1691084" cy="509191"/>
          </a:xfrm>
          <a:prstGeom prst="roundRect">
            <a:avLst>
              <a:gd name="adj" fmla="val 14341"/>
            </a:avLst>
          </a:prstGeom>
          <a:solidFill>
            <a:srgbClr val="FFFFFF"/>
          </a:solidFill>
          <a:ln w="6350">
            <a:solidFill>
              <a:srgbClr val="E3E6E4"/>
            </a:solidFill>
            <a:prstDash val="solid"/>
          </a:ln>
        </p:spPr>
      </p:sp>
      <p:sp>
        <p:nvSpPr>
          <p:cNvPr id="13" name="Text 11"/>
          <p:cNvSpPr/>
          <p:nvPr/>
        </p:nvSpPr>
        <p:spPr>
          <a:xfrm>
            <a:off x="1009650" y="2894806"/>
            <a:ext cx="13545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73D"/>
                </a:solidFill>
                <a:latin typeface="IBM Plex Sans" pitchFamily="34" charset="0"/>
                <a:ea typeface="IBM Plex Sans" pitchFamily="34" charset="-122"/>
                <a:cs typeface="IBM Plex Sans" pitchFamily="34" charset="-120"/>
              </a:rPr>
              <a:t>Chapter revised</a:t>
            </a:r>
            <a:endParaRPr lang="en-US" sz="1400" dirty="0"/>
          </a:p>
        </p:txBody>
      </p:sp>
      <p:sp>
        <p:nvSpPr>
          <p:cNvPr id="14" name="Text 12"/>
          <p:cNvSpPr/>
          <p:nvPr/>
        </p:nvSpPr>
        <p:spPr>
          <a:xfrm>
            <a:off x="2624534" y="2876947"/>
            <a:ext cx="254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52E"/>
                </a:solidFill>
                <a:latin typeface="IBM Plex Sans" pitchFamily="34" charset="0"/>
                <a:ea typeface="IBM Plex Sans" pitchFamily="34" charset="-122"/>
                <a:cs typeface="IBM Plex Sans" pitchFamily="34" charset="-120"/>
              </a:rPr>
              <a:t>→</a:t>
            </a:r>
            <a:endParaRPr lang="en-US" sz="1600" dirty="0"/>
          </a:p>
        </p:txBody>
      </p:sp>
      <p:sp>
        <p:nvSpPr>
          <p:cNvPr id="15" name="Shape 13"/>
          <p:cNvSpPr/>
          <p:nvPr/>
        </p:nvSpPr>
        <p:spPr>
          <a:xfrm>
            <a:off x="2945209" y="2764631"/>
            <a:ext cx="1598116" cy="509191"/>
          </a:xfrm>
          <a:prstGeom prst="roundRect">
            <a:avLst>
              <a:gd name="adj" fmla="val 14341"/>
            </a:avLst>
          </a:prstGeom>
          <a:solidFill>
            <a:srgbClr val="FFFFFF"/>
          </a:solidFill>
          <a:ln w="6350">
            <a:solidFill>
              <a:srgbClr val="E3E6E4"/>
            </a:solidFill>
            <a:prstDash val="solid"/>
          </a:ln>
        </p:spPr>
      </p:sp>
      <p:sp>
        <p:nvSpPr>
          <p:cNvPr id="16" name="Text 14"/>
          <p:cNvSpPr/>
          <p:nvPr/>
        </p:nvSpPr>
        <p:spPr>
          <a:xfrm>
            <a:off x="3138884" y="2894806"/>
            <a:ext cx="126156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73D"/>
                </a:solidFill>
                <a:latin typeface="IBM Plex Sans" pitchFamily="34" charset="0"/>
                <a:ea typeface="IBM Plex Sans" pitchFamily="34" charset="-122"/>
                <a:cs typeface="IBM Plex Sans" pitchFamily="34" charset="-120"/>
              </a:rPr>
              <a:t>Back to review</a:t>
            </a:r>
            <a:endParaRPr lang="en-US" sz="1400" dirty="0"/>
          </a:p>
        </p:txBody>
      </p:sp>
      <p:sp>
        <p:nvSpPr>
          <p:cNvPr id="17" name="Text 15"/>
          <p:cNvSpPr/>
          <p:nvPr/>
        </p:nvSpPr>
        <p:spPr>
          <a:xfrm>
            <a:off x="4660801" y="2876947"/>
            <a:ext cx="254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52E"/>
                </a:solidFill>
                <a:latin typeface="IBM Plex Sans" pitchFamily="34" charset="0"/>
                <a:ea typeface="IBM Plex Sans" pitchFamily="34" charset="-122"/>
                <a:cs typeface="IBM Plex Sans" pitchFamily="34" charset="-120"/>
              </a:rPr>
              <a:t>→</a:t>
            </a:r>
            <a:endParaRPr lang="en-US" sz="1600" dirty="0"/>
          </a:p>
        </p:txBody>
      </p:sp>
      <p:sp>
        <p:nvSpPr>
          <p:cNvPr id="18" name="Shape 16"/>
          <p:cNvSpPr/>
          <p:nvPr/>
        </p:nvSpPr>
        <p:spPr>
          <a:xfrm>
            <a:off x="4978301" y="2767806"/>
            <a:ext cx="2390180" cy="502841"/>
          </a:xfrm>
          <a:prstGeom prst="roundRect">
            <a:avLst>
              <a:gd name="adj" fmla="val 15154"/>
            </a:avLst>
          </a:prstGeom>
          <a:solidFill>
            <a:srgbClr val="B4552E"/>
          </a:solidFill>
          <a:ln/>
        </p:spPr>
      </p:sp>
      <p:sp>
        <p:nvSpPr>
          <p:cNvPr id="19" name="Text 17"/>
          <p:cNvSpPr/>
          <p:nvPr/>
        </p:nvSpPr>
        <p:spPr>
          <a:xfrm>
            <a:off x="5168801" y="2894806"/>
            <a:ext cx="20694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Excluded until re-signed</a:t>
            </a:r>
            <a:endParaRPr lang="en-US" sz="1400" dirty="0"/>
          </a:p>
        </p:txBody>
      </p:sp>
      <p:sp>
        <p:nvSpPr>
          <p:cNvPr id="20" name="Text 18"/>
          <p:cNvSpPr/>
          <p:nvPr/>
        </p:nvSpPr>
        <p:spPr>
          <a:xfrm>
            <a:off x="1066800" y="3798292"/>
            <a:ext cx="10621772" cy="1019572"/>
          </a:xfrm>
          <a:prstGeom prst="rect">
            <a:avLst/>
          </a:prstGeom>
          <a:noFill/>
          <a:ln/>
        </p:spPr>
        <p:txBody>
          <a:bodyPr wrap="square" lIns="0" tIns="0" rIns="0" bIns="0" rtlCol="0" anchor="t">
            <a:normAutofit/>
          </a:bodyPr>
          <a:lstStyle/>
          <a:p>
            <a:pPr algn="l" marL="205740" indent="-169037">
              <a:lnSpc>
                <a:spcPts val="1958"/>
              </a:lnSpc>
              <a:buSzPct val="100000"/>
              <a:buChar char="•"/>
            </a:pPr>
            <a:r>
              <a:rPr lang="en-US" sz="1350" dirty="0">
                <a:solidFill>
                  <a:srgbClr val="14273D"/>
                </a:solidFill>
                <a:latin typeface="IBM Plex Sans" pitchFamily="34" charset="0"/>
                <a:ea typeface="IBM Plex Sans" pitchFamily="34" charset="-122"/>
                <a:cs typeface="IBM Plex Sans" pitchFamily="34" charset="-120"/>
              </a:rPr>
              <a:t>An unsigned decision is not applied, and an old workbook can't overturn a rule already decided. The log records what was attempted, what took effect, and which manual version was reviewed.</a:t>
            </a:r>
            <a:endParaRPr lang="en-US" sz="1350" dirty="0"/>
          </a:p>
          <a:p>
            <a:pPr algn="l" marL="205740" indent="-169037">
              <a:lnSpc>
                <a:spcPts val="1958"/>
              </a:lnSpc>
              <a:buSzPct val="100000"/>
              <a:buChar char="•"/>
            </a:pPr>
            <a:r>
              <a:rPr lang="en-US" sz="1350" dirty="0">
                <a:solidFill>
                  <a:srgbClr val="14273D"/>
                </a:solidFill>
                <a:latin typeface="IBM Plex Sans" pitchFamily="34" charset="0"/>
                <a:ea typeface="IBM Plex Sans" pitchFamily="34" charset="-122"/>
                <a:cs typeface="IBM Plex Sans" pitchFamily="34" charset="-120"/>
              </a:rPr>
              <a:t>A reviewer's fix must correct the executable rule, not just the wording; everything derived from it is re-derived.</a:t>
            </a:r>
            <a:endParaRPr lang="en-US" sz="1350" dirty="0"/>
          </a:p>
          <a:p>
            <a:pPr algn="l" marL="205740" indent="-169037">
              <a:lnSpc>
                <a:spcPts val="1958"/>
              </a:lnSpc>
              <a:buSzPct val="100000"/>
              <a:buChar char="•"/>
            </a:pPr>
            <a:r>
              <a:rPr lang="en-US" sz="1350" dirty="0">
                <a:solidFill>
                  <a:srgbClr val="14273D"/>
                </a:solidFill>
                <a:latin typeface="IBM Plex Sans" pitchFamily="34" charset="0"/>
                <a:ea typeface="IBM Plex Sans" pitchFamily="34" charset="-122"/>
                <a:cs typeface="IBM Plex Sans" pitchFamily="34" charset="-120"/>
              </a:rPr>
              <a:t>Adding a chapter means adding reviewed rows, not editing the pipeline. Re-running setup never erases a review.</a:t>
            </a:r>
            <a:endParaRPr lang="en-US" sz="1350" dirty="0"/>
          </a:p>
        </p:txBody>
      </p:sp>
      <p:sp>
        <p:nvSpPr>
          <p:cNvPr id="21" name="Shape 19"/>
          <p:cNvSpPr/>
          <p:nvPr/>
        </p:nvSpPr>
        <p:spPr>
          <a:xfrm>
            <a:off x="831850" y="5313759"/>
            <a:ext cx="0" cy="591741"/>
          </a:xfrm>
          <a:prstGeom prst="line">
            <a:avLst/>
          </a:prstGeom>
          <a:noFill/>
          <a:ln w="38100">
            <a:solidFill>
              <a:srgbClr val="1F7A6B"/>
            </a:solidFill>
            <a:prstDash val="solid"/>
          </a:ln>
        </p:spPr>
      </p:sp>
      <p:sp>
        <p:nvSpPr>
          <p:cNvPr id="22" name="Text 20"/>
          <p:cNvSpPr/>
          <p:nvPr/>
        </p:nvSpPr>
        <p:spPr>
          <a:xfrm>
            <a:off x="1054100" y="5351859"/>
            <a:ext cx="10634853"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4273D"/>
                </a:solidFill>
                <a:latin typeface="IBM Plex Sans" pitchFamily="34" charset="0"/>
                <a:ea typeface="IBM Plex Sans" pitchFamily="34" charset="-122"/>
                <a:cs typeface="IBM Plex Sans" pitchFamily="34" charset="-120"/>
              </a:rPr>
              <a:t>"So an AI decided what our policy means?"</a:t>
            </a:r>
            <a:r>
              <a:rPr lang="en-US" sz="1450" dirty="0">
                <a:solidFill>
                  <a:srgbClr val="14273D"/>
                </a:solidFill>
                <a:latin typeface="IBM Plex Sans" pitchFamily="34" charset="0"/>
                <a:ea typeface="IBM Plex Sans" pitchFamily="34" charset="-122"/>
                <a:cs typeface="IBM Plex Sans" pitchFamily="34" charset="-120"/>
              </a:rPr>
              <a:t> No. It proposed it, an SME approved it on this date against this version of the manual, and here is the record.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5FB8A6"/>
                </a:solidFill>
                <a:latin typeface="JetBrains Mono" pitchFamily="34" charset="0"/>
                <a:ea typeface="JetBrains Mono" pitchFamily="34" charset="-122"/>
                <a:cs typeface="JetBrains Mono" pitchFamily="34" charset="-120"/>
              </a:rPr>
              <a:t>SCALABLE · EXTRACTION ENGINE</a:t>
            </a:r>
            <a:endParaRPr lang="en-US" sz="1250" dirty="0"/>
          </a:p>
        </p:txBody>
      </p:sp>
      <p:sp>
        <p:nvSpPr>
          <p:cNvPr id="3" name="Text 1"/>
          <p:cNvSpPr/>
          <p:nvPr/>
        </p:nvSpPr>
        <p:spPr>
          <a:xfrm>
            <a:off x="812800" y="1149350"/>
            <a:ext cx="10883392" cy="947341"/>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5F6F4"/>
                </a:solidFill>
                <a:latin typeface="IBM Plex Sans" pitchFamily="34" charset="0"/>
                <a:ea typeface="IBM Plex Sans" pitchFamily="34" charset="-122"/>
                <a:cs typeface="IBM Plex Sans" pitchFamily="34" charset="-120"/>
              </a:rPr>
              <a:t>PDF chapters to reviewed rules, across the whole manual</a:t>
            </a:r>
            <a:endParaRPr lang="en-US" sz="3300" dirty="0"/>
          </a:p>
        </p:txBody>
      </p:sp>
      <p:sp>
        <p:nvSpPr>
          <p:cNvPr id="4" name="Shape 2"/>
          <p:cNvSpPr/>
          <p:nvPr/>
        </p:nvSpPr>
        <p:spPr>
          <a:xfrm>
            <a:off x="815975" y="2499122"/>
            <a:ext cx="10560050" cy="654050"/>
          </a:xfrm>
          <a:prstGeom prst="roundRect">
            <a:avLst>
              <a:gd name="adj" fmla="val 13107"/>
            </a:avLst>
          </a:prstGeom>
          <a:solidFill>
            <a:srgbClr val="0E1C2E"/>
          </a:solidFill>
          <a:ln w="6350">
            <a:solidFill>
              <a:srgbClr val="2E4A6B"/>
            </a:solidFill>
            <a:prstDash val="solid"/>
          </a:ln>
        </p:spPr>
      </p:sp>
      <p:sp>
        <p:nvSpPr>
          <p:cNvPr id="5" name="Text 3"/>
          <p:cNvSpPr/>
          <p:nvPr/>
        </p:nvSpPr>
        <p:spPr>
          <a:xfrm>
            <a:off x="1073150" y="2692797"/>
            <a:ext cx="10347071"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4D0DE"/>
                </a:solidFill>
                <a:latin typeface="JetBrains Mono" pitchFamily="34" charset="0"/>
                <a:ea typeface="JetBrains Mono" pitchFamily="34" charset="-122"/>
                <a:cs typeface="JetBrains Mono" pitchFamily="34" charset="-120"/>
              </a:rPr>
              <a:t>acquire pdf › parse › segment › pre-filter › </a:t>
            </a:r>
            <a:r>
              <a:rPr lang="en-US" sz="1400" dirty="0">
                <a:solidFill>
                  <a:srgbClr val="5FB8A6"/>
                </a:solidFill>
                <a:latin typeface="JetBrains Mono" pitchFamily="34" charset="0"/>
                <a:ea typeface="JetBrains Mono" pitchFamily="34" charset="-122"/>
                <a:cs typeface="JetBrains Mono" pitchFamily="34" charset="-120"/>
              </a:rPr>
              <a:t>propose</a:t>
            </a:r>
            <a:r>
              <a:rPr lang="en-US" sz="1400" dirty="0">
                <a:solidFill>
                  <a:srgbClr val="C4D0DE"/>
                </a:solidFill>
                <a:latin typeface="JetBrains Mono" pitchFamily="34" charset="0"/>
                <a:ea typeface="JetBrains Mono" pitchFamily="34" charset="-122"/>
                <a:cs typeface="JetBrains Mono" pitchFamily="34" charset="-120"/>
              </a:rPr>
              <a:t> › </a:t>
            </a:r>
            <a:r>
              <a:rPr lang="en-US" sz="1400" dirty="0">
                <a:solidFill>
                  <a:srgbClr val="5FB8A6"/>
                </a:solidFill>
                <a:latin typeface="JetBrains Mono" pitchFamily="34" charset="0"/>
                <a:ea typeface="JetBrains Mono" pitchFamily="34" charset="-122"/>
                <a:cs typeface="JetBrains Mono" pitchFamily="34" charset="-120"/>
              </a:rPr>
              <a:t>ground</a:t>
            </a:r>
            <a:r>
              <a:rPr lang="en-US" sz="1400" dirty="0">
                <a:solidFill>
                  <a:srgbClr val="C4D0DE"/>
                </a:solidFill>
                <a:latin typeface="JetBrains Mono" pitchFamily="34" charset="0"/>
                <a:ea typeface="JetBrains Mono" pitchFamily="34" charset="-122"/>
                <a:cs typeface="JetBrains Mono" pitchFamily="34" charset="-120"/>
              </a:rPr>
              <a:t> › review › track-changes</a:t>
            </a:r>
            <a:endParaRPr lang="en-US" sz="1400" dirty="0"/>
          </a:p>
        </p:txBody>
      </p:sp>
      <p:sp>
        <p:nvSpPr>
          <p:cNvPr id="6" name="Text 4"/>
          <p:cNvSpPr/>
          <p:nvPr/>
        </p:nvSpPr>
        <p:spPr>
          <a:xfrm>
            <a:off x="812800" y="3581102"/>
            <a:ext cx="53108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B8A6"/>
                </a:solidFill>
                <a:latin typeface="IBM Plex Sans" pitchFamily="34" charset="0"/>
                <a:ea typeface="IBM Plex Sans" pitchFamily="34" charset="-122"/>
                <a:cs typeface="IBM Plex Sans" pitchFamily="34" charset="-120"/>
              </a:rPr>
              <a:t>Two extractors, one gate</a:t>
            </a:r>
            <a:endParaRPr lang="en-US" sz="1700" dirty="0"/>
          </a:p>
        </p:txBody>
      </p:sp>
      <p:sp>
        <p:nvSpPr>
          <p:cNvPr id="7" name="Text 5"/>
          <p:cNvSpPr/>
          <p:nvPr/>
        </p:nvSpPr>
        <p:spPr>
          <a:xfrm>
            <a:off x="812800" y="3929063"/>
            <a:ext cx="5310886" cy="98544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4D0DE"/>
                </a:solidFill>
                <a:latin typeface="IBM Plex Sans" pitchFamily="34" charset="0"/>
                <a:ea typeface="IBM Plex Sans" pitchFamily="34" charset="-122"/>
                <a:cs typeface="IBM Plex Sans" pitchFamily="34" charset="-120"/>
              </a:rPr>
              <a:t>A deterministic pattern extractor is the high-precision floor; the model is the reader. When both find the same rule it is corroborated. Both pass the same grounding gate. Every section gets a logged outcome, so we can measure what was missed.</a:t>
            </a:r>
            <a:endParaRPr lang="en-US" sz="1350" dirty="0"/>
          </a:p>
        </p:txBody>
      </p:sp>
      <p:sp>
        <p:nvSpPr>
          <p:cNvPr id="8" name="Text 6"/>
          <p:cNvSpPr/>
          <p:nvPr/>
        </p:nvSpPr>
        <p:spPr>
          <a:xfrm>
            <a:off x="6223000" y="3581102"/>
            <a:ext cx="53108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B8A6"/>
                </a:solidFill>
                <a:latin typeface="IBM Plex Sans" pitchFamily="34" charset="0"/>
                <a:ea typeface="IBM Plex Sans" pitchFamily="34" charset="-122"/>
                <a:cs typeface="IBM Plex Sans" pitchFamily="34" charset="-120"/>
              </a:rPr>
              <a:t>The safety mechanism: grounding</a:t>
            </a:r>
            <a:endParaRPr lang="en-US" sz="1700" dirty="0"/>
          </a:p>
        </p:txBody>
      </p:sp>
      <p:sp>
        <p:nvSpPr>
          <p:cNvPr id="9" name="Text 7"/>
          <p:cNvSpPr/>
          <p:nvPr/>
        </p:nvSpPr>
        <p:spPr>
          <a:xfrm>
            <a:off x="6223000" y="3929063"/>
            <a:ext cx="5310886" cy="98544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4D0DE"/>
                </a:solidFill>
                <a:latin typeface="IBM Plex Sans" pitchFamily="34" charset="0"/>
                <a:ea typeface="IBM Plex Sans" pitchFamily="34" charset="-122"/>
                <a:cs typeface="IBM Plex Sans" pitchFamily="34" charset="-120"/>
              </a:rPr>
              <a:t>The model only </a:t>
            </a:r>
            <a:r>
              <a:rPr lang="en-US" sz="1350" b="1" dirty="0">
                <a:solidFill>
                  <a:srgbClr val="C4D0DE"/>
                </a:solidFill>
                <a:latin typeface="IBM Plex Sans" pitchFamily="34" charset="0"/>
                <a:ea typeface="IBM Plex Sans" pitchFamily="34" charset="-122"/>
                <a:cs typeface="IBM Plex Sans" pitchFamily="34" charset="-120"/>
              </a:rPr>
              <a:t>proposes</a:t>
            </a:r>
            <a:r>
              <a:rPr lang="en-US" sz="1350" dirty="0">
                <a:solidFill>
                  <a:srgbClr val="C4D0DE"/>
                </a:solidFill>
                <a:latin typeface="IBM Plex Sans" pitchFamily="34" charset="0"/>
                <a:ea typeface="IBM Plex Sans" pitchFamily="34" charset="-122"/>
                <a:cs typeface="IBM Plex Sans" pitchFamily="34" charset="-120"/>
              </a:rPr>
              <a:t>, and must quote the manual. The quote must be in the section and long enough to prove the rule. Every code must be there. A quote that drops an "unless…" is flagged. What we store is the manual's text, never the model's.</a:t>
            </a:r>
            <a:endParaRPr lang="en-US" sz="1350" dirty="0"/>
          </a:p>
        </p:txBody>
      </p:sp>
      <p:sp>
        <p:nvSpPr>
          <p:cNvPr id="10" name="Shape 8"/>
          <p:cNvSpPr/>
          <p:nvPr/>
        </p:nvSpPr>
        <p:spPr>
          <a:xfrm>
            <a:off x="831850" y="5313759"/>
            <a:ext cx="0" cy="591741"/>
          </a:xfrm>
          <a:prstGeom prst="line">
            <a:avLst/>
          </a:prstGeom>
          <a:noFill/>
          <a:ln w="38100">
            <a:solidFill>
              <a:srgbClr val="5FB8A6"/>
            </a:solidFill>
            <a:prstDash val="solid"/>
          </a:ln>
        </p:spPr>
      </p:sp>
      <p:sp>
        <p:nvSpPr>
          <p:cNvPr id="11" name="Text 9"/>
          <p:cNvSpPr/>
          <p:nvPr/>
        </p:nvSpPr>
        <p:spPr>
          <a:xfrm>
            <a:off x="1054100" y="5351859"/>
            <a:ext cx="10634853"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F5F6F4"/>
                </a:solidFill>
                <a:latin typeface="IBM Plex Sans" pitchFamily="34" charset="0"/>
                <a:ea typeface="IBM Plex Sans" pitchFamily="34" charset="-122"/>
                <a:cs typeface="IBM Plex Sans" pitchFamily="34" charset="-120"/>
              </a:rPr>
              <a:t>Was:</a:t>
            </a:r>
            <a:r>
              <a:rPr lang="en-US" sz="1450" dirty="0">
                <a:solidFill>
                  <a:srgbClr val="F5F6F4"/>
                </a:solidFill>
                <a:latin typeface="IBM Plex Sans" pitchFamily="34" charset="0"/>
                <a:ea typeface="IBM Plex Sans" pitchFamily="34" charset="-122"/>
                <a:cs typeface="IBM Plex Sans" pitchFamily="34" charset="-120"/>
              </a:rPr>
              <a:t> two chapters by regex, no path to refreshes. </a:t>
            </a:r>
            <a:r>
              <a:rPr lang="en-US" sz="1450" b="1" dirty="0">
                <a:solidFill>
                  <a:srgbClr val="F5F6F4"/>
                </a:solidFill>
                <a:latin typeface="IBM Plex Sans" pitchFamily="34" charset="0"/>
                <a:ea typeface="IBM Plex Sans" pitchFamily="34" charset="-122"/>
                <a:cs typeface="IBM Plex Sans" pitchFamily="34" charset="-120"/>
              </a:rPr>
              <a:t>Now:</a:t>
            </a:r>
            <a:r>
              <a:rPr lang="en-US" sz="1450" dirty="0">
                <a:solidFill>
                  <a:srgbClr val="F5F6F4"/>
                </a:solidFill>
                <a:latin typeface="IBM Plex Sans" pitchFamily="34" charset="0"/>
                <a:ea typeface="IBM Plex Sans" pitchFamily="34" charset="-122"/>
                <a:cs typeface="IBM Plex Sans" pitchFamily="34" charset="-120"/>
              </a:rPr>
              <a:t> a run is a notebook, a refresh is a re-run, only changed sections cost a model call. </a:t>
            </a:r>
            <a:r>
              <a:rPr lang="en-US" sz="1450" b="1" dirty="0">
                <a:solidFill>
                  <a:srgbClr val="F5F6F4"/>
                </a:solidFill>
                <a:latin typeface="IBM Plex Sans" pitchFamily="34" charset="0"/>
                <a:ea typeface="IBM Plex Sans" pitchFamily="34" charset="-122"/>
                <a:cs typeface="IBM Plex Sans" pitchFamily="34" charset="-120"/>
              </a:rPr>
              <a:t>Next:</a:t>
            </a:r>
            <a:r>
              <a:rPr lang="en-US" sz="1450" dirty="0">
                <a:solidFill>
                  <a:srgbClr val="F5F6F4"/>
                </a:solidFill>
                <a:latin typeface="IBM Plex Sans" pitchFamily="34" charset="0"/>
                <a:ea typeface="IBM Plex Sans" pitchFamily="34" charset="-122"/>
                <a:cs typeface="IBM Plex Sans" pitchFamily="34" charset="-120"/>
              </a:rPr>
              <a:t> the first model run, on Chapter 19, scored by a reviewer before we widen.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DEFENSIBLE · EVIDENCE</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Every finding carries its evidence</a:t>
            </a:r>
            <a:endParaRPr lang="en-US" sz="3300" dirty="0"/>
          </a:p>
        </p:txBody>
      </p:sp>
      <p:sp>
        <p:nvSpPr>
          <p:cNvPr id="4" name="Shape 2"/>
          <p:cNvSpPr/>
          <p:nvPr/>
        </p:nvSpPr>
        <p:spPr>
          <a:xfrm>
            <a:off x="815975" y="2492772"/>
            <a:ext cx="3397250" cy="1938536"/>
          </a:xfrm>
          <a:prstGeom prst="roundRect">
            <a:avLst>
              <a:gd name="adj" fmla="val 5077"/>
            </a:avLst>
          </a:prstGeom>
          <a:solidFill>
            <a:srgbClr val="FFFFFF"/>
          </a:solidFill>
          <a:ln w="6350">
            <a:solidFill>
              <a:srgbClr val="E3E6E4"/>
            </a:solidFill>
            <a:prstDash val="solid"/>
          </a:ln>
        </p:spPr>
      </p:sp>
      <p:sp>
        <p:nvSpPr>
          <p:cNvPr id="5" name="Text 3"/>
          <p:cNvSpPr/>
          <p:nvPr/>
        </p:nvSpPr>
        <p:spPr>
          <a:xfrm>
            <a:off x="1047750" y="2724547"/>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The rule as it was</a:t>
            </a:r>
            <a:endParaRPr lang="en-US" sz="1600" dirty="0"/>
          </a:p>
        </p:txBody>
      </p:sp>
      <p:sp>
        <p:nvSpPr>
          <p:cNvPr id="6" name="Text 4"/>
          <p:cNvSpPr/>
          <p:nvPr/>
        </p:nvSpPr>
        <p:spPr>
          <a:xfrm>
            <a:off x="1047750" y="3044527"/>
            <a:ext cx="3021711" cy="936625"/>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55627A"/>
                </a:solidFill>
                <a:latin typeface="IBM Plex Sans" pitchFamily="34" charset="0"/>
                <a:ea typeface="IBM Plex Sans" pitchFamily="34" charset="-122"/>
                <a:cs typeface="IBM Plex Sans" pitchFamily="34" charset="-120"/>
              </a:rPr>
              <a:t>Every build is numbered and kept. A finding from last quarter still shows the exact rule, quote, manual version and approver that produced it.</a:t>
            </a:r>
            <a:endParaRPr lang="en-US" sz="1300" dirty="0"/>
          </a:p>
        </p:txBody>
      </p:sp>
      <p:sp>
        <p:nvSpPr>
          <p:cNvPr id="7" name="Shape 5"/>
          <p:cNvSpPr/>
          <p:nvPr/>
        </p:nvSpPr>
        <p:spPr>
          <a:xfrm>
            <a:off x="4397375" y="2492772"/>
            <a:ext cx="3397250" cy="1938536"/>
          </a:xfrm>
          <a:prstGeom prst="roundRect">
            <a:avLst>
              <a:gd name="adj" fmla="val 5077"/>
            </a:avLst>
          </a:prstGeom>
          <a:solidFill>
            <a:srgbClr val="FFFFFF"/>
          </a:solidFill>
          <a:ln w="6350">
            <a:solidFill>
              <a:srgbClr val="E3E6E4"/>
            </a:solidFill>
            <a:prstDash val="solid"/>
          </a:ln>
        </p:spPr>
      </p:sp>
      <p:sp>
        <p:nvSpPr>
          <p:cNvPr id="8" name="Text 6"/>
          <p:cNvSpPr/>
          <p:nvPr/>
        </p:nvSpPr>
        <p:spPr>
          <a:xfrm>
            <a:off x="4629150" y="2724547"/>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Dollars, counted once</a:t>
            </a:r>
            <a:endParaRPr lang="en-US" sz="1600" dirty="0"/>
          </a:p>
        </p:txBody>
      </p:sp>
      <p:sp>
        <p:nvSpPr>
          <p:cNvPr id="9" name="Text 7"/>
          <p:cNvSpPr/>
          <p:nvPr/>
        </p:nvSpPr>
        <p:spPr>
          <a:xfrm>
            <a:off x="4629150" y="3044527"/>
            <a:ext cx="3021711" cy="936625"/>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55627A"/>
                </a:solidFill>
                <a:latin typeface="IBM Plex Sans" pitchFamily="34" charset="0"/>
                <a:ea typeface="IBM Plex Sans" pitchFamily="34" charset="-122"/>
                <a:cs typeface="IBM Plex Sans" pitchFamily="34" charset="-120"/>
              </a:rPr>
              <a:t>Findings carry the paid amount. When two state rules say the same thing, one survives, and totals count each claim line once.</a:t>
            </a:r>
            <a:endParaRPr lang="en-US" sz="1300" dirty="0"/>
          </a:p>
        </p:txBody>
      </p:sp>
      <p:sp>
        <p:nvSpPr>
          <p:cNvPr id="10" name="Shape 8"/>
          <p:cNvSpPr/>
          <p:nvPr/>
        </p:nvSpPr>
        <p:spPr>
          <a:xfrm>
            <a:off x="7978775" y="2492772"/>
            <a:ext cx="3397250" cy="1938536"/>
          </a:xfrm>
          <a:prstGeom prst="roundRect">
            <a:avLst>
              <a:gd name="adj" fmla="val 5077"/>
            </a:avLst>
          </a:prstGeom>
          <a:solidFill>
            <a:srgbClr val="FFFFFF"/>
          </a:solidFill>
          <a:ln w="6350">
            <a:solidFill>
              <a:srgbClr val="E3E6E4"/>
            </a:solidFill>
            <a:prstDash val="solid"/>
          </a:ln>
        </p:spPr>
      </p:sp>
      <p:sp>
        <p:nvSpPr>
          <p:cNvPr id="11" name="Text 9"/>
          <p:cNvSpPr/>
          <p:nvPr/>
        </p:nvSpPr>
        <p:spPr>
          <a:xfrm>
            <a:off x="8210550" y="2724547"/>
            <a:ext cx="3021711"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Coverage that means something</a:t>
            </a:r>
            <a:endParaRPr lang="en-US" sz="1600" dirty="0"/>
          </a:p>
        </p:txBody>
      </p:sp>
      <p:sp>
        <p:nvSpPr>
          <p:cNvPr id="12" name="Text 10"/>
          <p:cNvSpPr/>
          <p:nvPr/>
        </p:nvSpPr>
        <p:spPr>
          <a:xfrm>
            <a:off x="8210550" y="3288308"/>
            <a:ext cx="3021711" cy="936625"/>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55627A"/>
                </a:solidFill>
                <a:latin typeface="IBM Plex Sans" pitchFamily="34" charset="0"/>
                <a:ea typeface="IBM Plex Sans" pitchFamily="34" charset="-122"/>
                <a:cs typeface="IBM Plex Sans" pitchFamily="34" charset="-120"/>
              </a:rPr>
              <a:t>A code counts as covered only if a working check runs on it for the claims' dates. Policy text that doesn't compile yet is listed, not counted.</a:t>
            </a:r>
            <a:endParaRPr lang="en-US" sz="1300" dirty="0"/>
          </a:p>
        </p:txBody>
      </p:sp>
      <p:sp>
        <p:nvSpPr>
          <p:cNvPr id="13" name="Shape 11"/>
          <p:cNvSpPr/>
          <p:nvPr/>
        </p:nvSpPr>
        <p:spPr>
          <a:xfrm>
            <a:off x="831850" y="5313759"/>
            <a:ext cx="0" cy="591741"/>
          </a:xfrm>
          <a:prstGeom prst="line">
            <a:avLst/>
          </a:prstGeom>
          <a:noFill/>
          <a:ln w="38100">
            <a:solidFill>
              <a:srgbClr val="1F7A6B"/>
            </a:solidFill>
            <a:prstDash val="solid"/>
          </a:ln>
        </p:spPr>
      </p:sp>
      <p:sp>
        <p:nvSpPr>
          <p:cNvPr id="14" name="Text 12"/>
          <p:cNvSpPr/>
          <p:nvPr/>
        </p:nvSpPr>
        <p:spPr>
          <a:xfrm>
            <a:off x="1054100" y="5351859"/>
            <a:ext cx="10634853"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4273D"/>
                </a:solidFill>
                <a:latin typeface="IBM Plex Sans" pitchFamily="34" charset="0"/>
                <a:ea typeface="IBM Plex Sans" pitchFamily="34" charset="-122"/>
                <a:cs typeface="IBM Plex Sans" pitchFamily="34" charset="-120"/>
              </a:rPr>
              <a:t>Why it matters:</a:t>
            </a:r>
            <a:r>
              <a:rPr lang="en-US" sz="1450" dirty="0">
                <a:solidFill>
                  <a:srgbClr val="14273D"/>
                </a:solidFill>
                <a:latin typeface="IBM Plex Sans" pitchFamily="34" charset="0"/>
                <a:ea typeface="IBM Plex Sans" pitchFamily="34" charset="-122"/>
                <a:cs typeface="IBM Plex Sans" pitchFamily="34" charset="-120"/>
              </a:rPr>
              <a:t> if an auditor points at any flag, we put the sentence from the manual next to it, with its version and the approver's name. A gap with dollars attached is a finding; one without is noise.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186928"/>
          </a:xfrm>
          <a:prstGeom prst="rect">
            <a:avLst/>
          </a:prstGeom>
          <a:noFill/>
          <a:ln/>
        </p:spPr>
        <p:txBody>
          <a:bodyPr wrap="square" lIns="0" tIns="0" rIns="0" bIns="0" rtlCol="0" anchor="t">
            <a:normAutofit/>
          </a:bodyPr>
          <a:lstStyle/>
          <a:p>
            <a:pPr algn="l" indent="0" marL="0">
              <a:lnSpc>
                <a:spcPts val="1274"/>
              </a:lnSpc>
              <a:buNone/>
            </a:pPr>
            <a:r>
              <a:rPr lang="en-US" sz="910" spc="100" kern="0" dirty="0">
                <a:solidFill>
                  <a:srgbClr val="1F7A6B"/>
                </a:solidFill>
                <a:latin typeface="JetBrains Mono" pitchFamily="34" charset="0"/>
                <a:ea typeface="JetBrains Mono" pitchFamily="34" charset="-122"/>
                <a:cs typeface="JetBrains Mono" pitchFamily="34" charset="-120"/>
              </a:rPr>
              <a:t>USE · RUNNING TODAY</a:t>
            </a:r>
            <a:endParaRPr lang="en-US" sz="910" dirty="0"/>
          </a:p>
        </p:txBody>
      </p:sp>
      <p:sp>
        <p:nvSpPr>
          <p:cNvPr id="3" name="Text 1"/>
          <p:cNvSpPr/>
          <p:nvPr/>
        </p:nvSpPr>
        <p:spPr>
          <a:xfrm>
            <a:off x="812800" y="1088628"/>
            <a:ext cx="10883392" cy="360561"/>
          </a:xfrm>
          <a:prstGeom prst="rect">
            <a:avLst/>
          </a:prstGeom>
          <a:noFill/>
          <a:ln/>
        </p:spPr>
        <p:txBody>
          <a:bodyPr wrap="square" lIns="0" tIns="0" rIns="0" bIns="0" rtlCol="0" anchor="t">
            <a:normAutofit/>
          </a:bodyPr>
          <a:lstStyle/>
          <a:p>
            <a:pPr algn="l" indent="0" marL="0">
              <a:lnSpc>
                <a:spcPts val="2666"/>
              </a:lnSpc>
              <a:buNone/>
            </a:pPr>
            <a:r>
              <a:rPr lang="en-US" sz="2423" b="1" dirty="0">
                <a:solidFill>
                  <a:srgbClr val="14273D"/>
                </a:solidFill>
                <a:latin typeface="IBM Plex Sans" pitchFamily="34" charset="0"/>
                <a:ea typeface="IBM Plex Sans" pitchFamily="34" charset="-122"/>
                <a:cs typeface="IBM Plex Sans" pitchFamily="34" charset="-120"/>
              </a:rPr>
              <a:t>Use cases you can open and run</a:t>
            </a:r>
            <a:endParaRPr lang="en-US" sz="2423"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36489"/>
          <a:ext cx="10553700" cy="4011612"/>
        </p:xfrm>
        <a:graphic>
          <a:graphicData uri="http://schemas.openxmlformats.org/drawingml/2006/table">
            <a:tbl>
              <a:tblPr/>
              <a:tblGrid>
                <a:gridCol w="3517900"/>
                <a:gridCol w="3517900"/>
                <a:gridCol w="3517900"/>
              </a:tblGrid>
              <a:tr h="316805">
                <a:tc>
                  <a:txBody>
                    <a:bodyPr/>
                    <a:lstStyle/>
                    <a:p>
                      <a:pPr indent="0" marL="0">
                        <a:lnSpc>
                          <a:spcPts val="1328"/>
                        </a:lnSpc>
                        <a:buNone/>
                      </a:pPr>
                      <a:r>
                        <a:rPr lang="en-US" sz="949" b="1" dirty="0">
                          <a:solidFill>
                            <a:srgbClr val="F5F6F4"/>
                          </a:solidFill>
                          <a:latin typeface="IBM Plex Sans" pitchFamily="34" charset="0"/>
                          <a:ea typeface="IBM Plex Sans" pitchFamily="34" charset="-122"/>
                          <a:cs typeface="IBM Plex Sans" pitchFamily="34" charset="-120"/>
                        </a:rPr>
                        <a:t>Use case</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2233A"/>
                    </a:solidFill>
                  </a:tcPr>
                </a:tc>
                <a:tc>
                  <a:txBody>
                    <a:bodyPr/>
                    <a:lstStyle/>
                    <a:p>
                      <a:pPr indent="0" marL="0">
                        <a:lnSpc>
                          <a:spcPts val="1328"/>
                        </a:lnSpc>
                        <a:buNone/>
                      </a:pPr>
                      <a:r>
                        <a:rPr lang="en-US" sz="949" b="1" dirty="0">
                          <a:solidFill>
                            <a:srgbClr val="F5F6F4"/>
                          </a:solidFill>
                          <a:latin typeface="IBM Plex Sans" pitchFamily="34" charset="0"/>
                          <a:ea typeface="IBM Plex Sans" pitchFamily="34" charset="-122"/>
                          <a:cs typeface="IBM Plex Sans" pitchFamily="34" charset="-120"/>
                        </a:rPr>
                        <a:t>Serves</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122031"/>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2233A"/>
                    </a:solidFill>
                  </a:tcPr>
                </a:tc>
                <a:tc>
                  <a:txBody>
                    <a:bodyPr/>
                    <a:lstStyle/>
                    <a:p>
                      <a:pPr indent="0" marL="0">
                        <a:lnSpc>
                          <a:spcPts val="1328"/>
                        </a:lnSpc>
                        <a:buNone/>
                      </a:pPr>
                      <a:r>
                        <a:rPr lang="en-US" sz="949" b="1" dirty="0">
                          <a:solidFill>
                            <a:srgbClr val="F5F6F4"/>
                          </a:solidFill>
                          <a:latin typeface="IBM Plex Sans" pitchFamily="34" charset="0"/>
                          <a:ea typeface="IBM Plex Sans" pitchFamily="34" charset="-122"/>
                          <a:cs typeface="IBM Plex Sans" pitchFamily="34" charset="-120"/>
                        </a:rPr>
                        <a:t>Answers</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122031"/>
                      </a:solidFill>
                      <a:prstDash val="solid"/>
                      <a:round/>
                      <a:headEnd type="none" w="med" len="med"/>
                      <a:tailEnd type="none" w="med" len="med"/>
                    </a:lnL>
                    <a:lnR w="12700" cap="flat" cmpd="sng" algn="ctr">
                      <a:solidFill>
                        <a:srgbClr val="122031"/>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122031"/>
                      </a:solidFill>
                      <a:prstDash val="solid"/>
                      <a:round/>
                      <a:headEnd type="none" w="med" len="med"/>
                      <a:tailEnd type="none" w="med" len="med"/>
                    </a:lnB>
                    <a:solidFill>
                      <a:srgbClr val="12233A"/>
                    </a:solidFill>
                  </a:tcPr>
                </a:tc>
              </a:tr>
              <a:tr h="485378">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Code lookup</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Investigators</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Every federal and state rule on a code, with the policy words, or "no authority found"</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0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5378">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Finding explainer</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Investigators, audit</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Why a line was flagged: claim lines, rule, source, approver, in plain English</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r>
              <a:tr h="485477">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Provider review</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Investigators</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Providers by flagged dollars, which rules drive them, compared with peers</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16905">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Coverage gap</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Leadership, OIG</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Paid dollars no rule checks, ranked by exposure</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r>
              <a:tr h="316905">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Ambiguity register</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AHCCCS policy</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Unclear or unenforceable policy text, quoted and exportable</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5477">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Federal vs state</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AHCCCS policy</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Where CMS and AHCCCS rules overlap, who is stricter, possible contradictions</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r>
              <a:tr h="485477">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Change impact</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Our team</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What a manual revision touched, and which rules wait for re-sign</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16905">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NCCI status</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Our team</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Quarters loaded or missing, and which edits fire most</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0C1BF"/>
                      </a:solidFill>
                      <a:prstDash val="solid"/>
                      <a:round/>
                      <a:headEnd type="none" w="med" len="med"/>
                      <a:tailEnd type="none" w="med" len="med"/>
                    </a:lnL>
                    <a:lnR w="12700" cap="flat" cmpd="sng" algn="ctr">
                      <a:solidFill>
                        <a:srgbClr val="C0C1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BF"/>
                      </a:solidFill>
                      <a:prstDash val="solid"/>
                      <a:round/>
                      <a:headEnd type="none" w="med" len="med"/>
                      <a:tailEnd type="none" w="med" len="med"/>
                    </a:lnB>
                    <a:solidFill>
                      <a:srgbClr val="F0F2EF"/>
                    </a:solidFill>
                  </a:tcPr>
                </a:tc>
              </a:tr>
              <a:tr h="316905">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Policy search</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4C4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Everyone</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328"/>
                        </a:lnSpc>
                        <a:buNone/>
                      </a:pPr>
                      <a:r>
                        <a:rPr lang="en-US" sz="949" dirty="0">
                          <a:solidFill>
                            <a:srgbClr val="14273D"/>
                          </a:solidFill>
                          <a:latin typeface="IBM Plex Sans" pitchFamily="34" charset="0"/>
                          <a:ea typeface="IBM Plex Sans" pitchFamily="34" charset="-122"/>
                          <a:cs typeface="IBM Plex Sans" pitchFamily="34" charset="-120"/>
                        </a:rPr>
                        <a:t>Find a phrase across the manual, with chapter and page</a:t>
                      </a:r>
                      <a:endParaRPr lang="en-US" sz="949" dirty="0">
                        <a:latin typeface="IBM Plex Sans" charset="0"/>
                        <a:ea typeface="IBM Plex Sans" charset="0"/>
                        <a:cs typeface="IBM Plex Sans" charset="0"/>
                      </a:endParaRPr>
                    </a:p>
                  </a:txBody>
                  <a:tcPr marL="127000" marR="1270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Shape 2"/>
          <p:cNvSpPr/>
          <p:nvPr/>
        </p:nvSpPr>
        <p:spPr>
          <a:xfrm>
            <a:off x="831850" y="5448102"/>
            <a:ext cx="0" cy="457398"/>
          </a:xfrm>
          <a:prstGeom prst="line">
            <a:avLst/>
          </a:prstGeom>
          <a:noFill/>
          <a:ln w="38100">
            <a:solidFill>
              <a:srgbClr val="1F7A6B"/>
            </a:solidFill>
            <a:prstDash val="solid"/>
          </a:ln>
        </p:spPr>
      </p:sp>
      <p:sp>
        <p:nvSpPr>
          <p:cNvPr id="6" name="Text 3"/>
          <p:cNvSpPr/>
          <p:nvPr/>
        </p:nvSpPr>
        <p:spPr>
          <a:xfrm>
            <a:off x="1054100" y="5486202"/>
            <a:ext cx="10634853" cy="406598"/>
          </a:xfrm>
          <a:prstGeom prst="rect">
            <a:avLst/>
          </a:prstGeom>
          <a:noFill/>
          <a:ln/>
        </p:spPr>
        <p:txBody>
          <a:bodyPr wrap="square" lIns="0" tIns="0" rIns="0" bIns="0" rtlCol="0" anchor="t">
            <a:normAutofit/>
          </a:bodyPr>
          <a:lstStyle/>
          <a:p>
            <a:pPr algn="l" indent="0" marL="0">
              <a:lnSpc>
                <a:spcPts val="1727"/>
              </a:lnSpc>
              <a:buNone/>
            </a:pPr>
            <a:r>
              <a:rPr lang="en-US" sz="1234" b="1" dirty="0">
                <a:solidFill>
                  <a:srgbClr val="14273D"/>
                </a:solidFill>
                <a:latin typeface="IBM Plex Sans" pitchFamily="34" charset="0"/>
                <a:ea typeface="IBM Plex Sans" pitchFamily="34" charset="-122"/>
                <a:cs typeface="IBM Plex Sans" pitchFamily="34" charset="-120"/>
              </a:rPr>
              <a:t>Plus three quality notebooks:</a:t>
            </a:r>
            <a:r>
              <a:rPr lang="en-US" sz="1234" dirty="0">
                <a:solidFill>
                  <a:srgbClr val="14273D"/>
                </a:solidFill>
                <a:latin typeface="IBM Plex Sans" pitchFamily="34" charset="0"/>
                <a:ea typeface="IBM Plex Sans" pitchFamily="34" charset="-122"/>
                <a:cs typeface="IBM Plex Sans" pitchFamily="34" charset="-120"/>
              </a:rPr>
              <a:t> extraction scoring, detector precision and pipeline health. They produce the numbers our definition of done asks for.</a:t>
            </a:r>
            <a:endParaRPr lang="en-US" sz="12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5FB8A6"/>
                </a:solidFill>
                <a:latin typeface="JetBrains Mono" pitchFamily="34" charset="0"/>
                <a:ea typeface="JetBrains Mono" pitchFamily="34" charset="-122"/>
                <a:cs typeface="JetBrains Mono" pitchFamily="34" charset="-120"/>
              </a:rPr>
              <a:t>USE · PLANNED NEXT</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5F6F4"/>
                </a:solidFill>
                <a:latin typeface="IBM Plex Sans" pitchFamily="34" charset="0"/>
                <a:ea typeface="IBM Plex Sans" pitchFamily="34" charset="-122"/>
                <a:cs typeface="IBM Plex Sans" pitchFamily="34" charset="-120"/>
              </a:rPr>
              <a:t>Policy context for the anomaly summaries</a:t>
            </a:r>
            <a:endParaRPr lang="en-US" sz="3300" dirty="0"/>
          </a:p>
        </p:txBody>
      </p:sp>
      <p:sp>
        <p:nvSpPr>
          <p:cNvPr id="4" name="Shape 2"/>
          <p:cNvSpPr/>
          <p:nvPr/>
        </p:nvSpPr>
        <p:spPr>
          <a:xfrm>
            <a:off x="815975" y="2088654"/>
            <a:ext cx="2540000" cy="1636812"/>
          </a:xfrm>
          <a:prstGeom prst="roundRect">
            <a:avLst>
              <a:gd name="adj" fmla="val 6013"/>
            </a:avLst>
          </a:prstGeom>
          <a:solidFill>
            <a:srgbClr val="1B3350"/>
          </a:solidFill>
          <a:ln w="6350">
            <a:solidFill>
              <a:srgbClr val="2E4A6B"/>
            </a:solidFill>
            <a:prstDash val="solid"/>
          </a:ln>
        </p:spPr>
      </p:sp>
      <p:sp>
        <p:nvSpPr>
          <p:cNvPr id="5" name="Text 3"/>
          <p:cNvSpPr/>
          <p:nvPr/>
        </p:nvSpPr>
        <p:spPr>
          <a:xfrm>
            <a:off x="1009650" y="2282329"/>
            <a:ext cx="22172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B8A6"/>
                </a:solidFill>
                <a:latin typeface="JetBrains Mono" pitchFamily="34" charset="0"/>
                <a:ea typeface="JetBrains Mono" pitchFamily="34" charset="-122"/>
                <a:cs typeface="JetBrains Mono" pitchFamily="34" charset="-120"/>
              </a:rPr>
              <a:t>1</a:t>
            </a:r>
            <a:endParaRPr lang="en-US" sz="1600" dirty="0"/>
          </a:p>
        </p:txBody>
      </p:sp>
      <p:sp>
        <p:nvSpPr>
          <p:cNvPr id="6" name="Text 4"/>
          <p:cNvSpPr/>
          <p:nvPr/>
        </p:nvSpPr>
        <p:spPr>
          <a:xfrm>
            <a:off x="1009650" y="2630289"/>
            <a:ext cx="2217230" cy="24636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F5F6F4"/>
                </a:solidFill>
                <a:latin typeface="IBM Plex Sans" pitchFamily="34" charset="0"/>
                <a:ea typeface="IBM Plex Sans" pitchFamily="34" charset="-122"/>
                <a:cs typeface="IBM Plex Sans" pitchFamily="34" charset="-120"/>
              </a:rPr>
              <a:t>Anomaly model</a:t>
            </a:r>
            <a:endParaRPr lang="en-US" sz="1450" dirty="0"/>
          </a:p>
        </p:txBody>
      </p:sp>
      <p:sp>
        <p:nvSpPr>
          <p:cNvPr id="7" name="Text 5"/>
          <p:cNvSpPr/>
          <p:nvPr/>
        </p:nvSpPr>
        <p:spPr>
          <a:xfrm>
            <a:off x="1009650" y="2914749"/>
            <a:ext cx="221723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4D0DE"/>
                </a:solidFill>
                <a:latin typeface="IBM Plex Sans" pitchFamily="34" charset="0"/>
                <a:ea typeface="IBM Plex Sans" pitchFamily="34" charset="-122"/>
                <a:cs typeface="IBM Plex Sans" pitchFamily="34" charset="-120"/>
              </a:rPr>
              <a:t>Flags a provider and ranks the features that made it unusual.</a:t>
            </a:r>
            <a:endParaRPr lang="en-US" sz="1200" dirty="0"/>
          </a:p>
        </p:txBody>
      </p:sp>
      <p:sp>
        <p:nvSpPr>
          <p:cNvPr id="8" name="Shape 6"/>
          <p:cNvSpPr/>
          <p:nvPr/>
        </p:nvSpPr>
        <p:spPr>
          <a:xfrm>
            <a:off x="3489325" y="2088654"/>
            <a:ext cx="2540000" cy="1636812"/>
          </a:xfrm>
          <a:prstGeom prst="roundRect">
            <a:avLst>
              <a:gd name="adj" fmla="val 6013"/>
            </a:avLst>
          </a:prstGeom>
          <a:solidFill>
            <a:srgbClr val="1B3350"/>
          </a:solidFill>
          <a:ln w="6350">
            <a:solidFill>
              <a:srgbClr val="2E4A6B"/>
            </a:solidFill>
            <a:prstDash val="solid"/>
          </a:ln>
        </p:spPr>
      </p:sp>
      <p:sp>
        <p:nvSpPr>
          <p:cNvPr id="9" name="Text 7"/>
          <p:cNvSpPr/>
          <p:nvPr/>
        </p:nvSpPr>
        <p:spPr>
          <a:xfrm>
            <a:off x="3683000" y="2282329"/>
            <a:ext cx="22172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B8A6"/>
                </a:solidFill>
                <a:latin typeface="JetBrains Mono" pitchFamily="34" charset="0"/>
                <a:ea typeface="JetBrains Mono" pitchFamily="34" charset="-122"/>
                <a:cs typeface="JetBrains Mono" pitchFamily="34" charset="-120"/>
              </a:rPr>
              <a:t>2</a:t>
            </a:r>
            <a:endParaRPr lang="en-US" sz="1600" dirty="0"/>
          </a:p>
        </p:txBody>
      </p:sp>
      <p:sp>
        <p:nvSpPr>
          <p:cNvPr id="10" name="Text 8"/>
          <p:cNvSpPr/>
          <p:nvPr/>
        </p:nvSpPr>
        <p:spPr>
          <a:xfrm>
            <a:off x="3683000" y="2630289"/>
            <a:ext cx="2217230" cy="24636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F5F6F4"/>
                </a:solidFill>
                <a:latin typeface="IBM Plex Sans" pitchFamily="34" charset="0"/>
                <a:ea typeface="IBM Plex Sans" pitchFamily="34" charset="-122"/>
                <a:cs typeface="IBM Plex Sans" pitchFamily="34" charset="-120"/>
              </a:rPr>
              <a:t>Knowledge base lookup</a:t>
            </a:r>
            <a:endParaRPr lang="en-US" sz="1450" dirty="0"/>
          </a:p>
        </p:txBody>
      </p:sp>
      <p:sp>
        <p:nvSpPr>
          <p:cNvPr id="11" name="Text 9"/>
          <p:cNvSpPr/>
          <p:nvPr/>
        </p:nvSpPr>
        <p:spPr>
          <a:xfrm>
            <a:off x="3683000" y="2914749"/>
            <a:ext cx="221723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4D0DE"/>
                </a:solidFill>
                <a:latin typeface="IBM Plex Sans" pitchFamily="34" charset="0"/>
                <a:ea typeface="IBM Plex Sans" pitchFamily="34" charset="-122"/>
                <a:cs typeface="IBM Plex Sans" pitchFamily="34" charset="-120"/>
              </a:rPr>
              <a:t>For those codes: the rules, the policy quotes, and this provider's findings.</a:t>
            </a:r>
            <a:endParaRPr lang="en-US" sz="1200" dirty="0"/>
          </a:p>
        </p:txBody>
      </p:sp>
      <p:sp>
        <p:nvSpPr>
          <p:cNvPr id="12" name="Shape 10"/>
          <p:cNvSpPr/>
          <p:nvPr/>
        </p:nvSpPr>
        <p:spPr>
          <a:xfrm>
            <a:off x="6162675" y="2088654"/>
            <a:ext cx="2540000" cy="1636812"/>
          </a:xfrm>
          <a:prstGeom prst="roundRect">
            <a:avLst>
              <a:gd name="adj" fmla="val 6013"/>
            </a:avLst>
          </a:prstGeom>
          <a:solidFill>
            <a:srgbClr val="1B3350"/>
          </a:solidFill>
          <a:ln w="6350">
            <a:solidFill>
              <a:srgbClr val="2E4A6B"/>
            </a:solidFill>
            <a:prstDash val="solid"/>
          </a:ln>
        </p:spPr>
      </p:sp>
      <p:sp>
        <p:nvSpPr>
          <p:cNvPr id="13" name="Text 11"/>
          <p:cNvSpPr/>
          <p:nvPr/>
        </p:nvSpPr>
        <p:spPr>
          <a:xfrm>
            <a:off x="6356350" y="2282329"/>
            <a:ext cx="22172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B8A6"/>
                </a:solidFill>
                <a:latin typeface="JetBrains Mono" pitchFamily="34" charset="0"/>
                <a:ea typeface="JetBrains Mono" pitchFamily="34" charset="-122"/>
                <a:cs typeface="JetBrains Mono" pitchFamily="34" charset="-120"/>
              </a:rPr>
              <a:t>3</a:t>
            </a:r>
            <a:endParaRPr lang="en-US" sz="1600" dirty="0"/>
          </a:p>
        </p:txBody>
      </p:sp>
      <p:sp>
        <p:nvSpPr>
          <p:cNvPr id="14" name="Text 12"/>
          <p:cNvSpPr/>
          <p:nvPr/>
        </p:nvSpPr>
        <p:spPr>
          <a:xfrm>
            <a:off x="6356350" y="2630289"/>
            <a:ext cx="2217230" cy="24636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F5F6F4"/>
                </a:solidFill>
                <a:latin typeface="IBM Plex Sans" pitchFamily="34" charset="0"/>
                <a:ea typeface="IBM Plex Sans" pitchFamily="34" charset="-122"/>
                <a:cs typeface="IBM Plex Sans" pitchFamily="34" charset="-120"/>
              </a:rPr>
              <a:t>Summary LLM</a:t>
            </a:r>
            <a:endParaRPr lang="en-US" sz="1450" dirty="0"/>
          </a:p>
        </p:txBody>
      </p:sp>
      <p:sp>
        <p:nvSpPr>
          <p:cNvPr id="15" name="Text 13"/>
          <p:cNvSpPr/>
          <p:nvPr/>
        </p:nvSpPr>
        <p:spPr>
          <a:xfrm>
            <a:off x="6356350" y="2914749"/>
            <a:ext cx="221723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4D0DE"/>
                </a:solidFill>
                <a:latin typeface="IBM Plex Sans" pitchFamily="34" charset="0"/>
                <a:ea typeface="IBM Plex Sans" pitchFamily="34" charset="-122"/>
                <a:cs typeface="IBM Plex Sans" pitchFamily="34" charset="-120"/>
              </a:rPr>
              <a:t>Gets the top features plus that policy context, and may cite only the rules it was given.</a:t>
            </a:r>
            <a:endParaRPr lang="en-US" sz="1200" dirty="0"/>
          </a:p>
        </p:txBody>
      </p:sp>
      <p:sp>
        <p:nvSpPr>
          <p:cNvPr id="16" name="Shape 14"/>
          <p:cNvSpPr/>
          <p:nvPr/>
        </p:nvSpPr>
        <p:spPr>
          <a:xfrm>
            <a:off x="8836025" y="2088654"/>
            <a:ext cx="2540000" cy="1636812"/>
          </a:xfrm>
          <a:prstGeom prst="roundRect">
            <a:avLst>
              <a:gd name="adj" fmla="val 6013"/>
            </a:avLst>
          </a:prstGeom>
          <a:solidFill>
            <a:srgbClr val="1B3350"/>
          </a:solidFill>
          <a:ln w="6350">
            <a:solidFill>
              <a:srgbClr val="2E4A6B"/>
            </a:solidFill>
            <a:prstDash val="solid"/>
          </a:ln>
        </p:spPr>
      </p:sp>
      <p:sp>
        <p:nvSpPr>
          <p:cNvPr id="17" name="Text 15"/>
          <p:cNvSpPr/>
          <p:nvPr/>
        </p:nvSpPr>
        <p:spPr>
          <a:xfrm>
            <a:off x="9029700" y="2282329"/>
            <a:ext cx="22172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B8A6"/>
                </a:solidFill>
                <a:latin typeface="JetBrains Mono" pitchFamily="34" charset="0"/>
                <a:ea typeface="JetBrains Mono" pitchFamily="34" charset="-122"/>
                <a:cs typeface="JetBrains Mono" pitchFamily="34" charset="-120"/>
              </a:rPr>
              <a:t>4</a:t>
            </a:r>
            <a:endParaRPr lang="en-US" sz="1600" dirty="0"/>
          </a:p>
        </p:txBody>
      </p:sp>
      <p:sp>
        <p:nvSpPr>
          <p:cNvPr id="18" name="Text 16"/>
          <p:cNvSpPr/>
          <p:nvPr/>
        </p:nvSpPr>
        <p:spPr>
          <a:xfrm>
            <a:off x="9029700" y="2630289"/>
            <a:ext cx="2217230" cy="246360"/>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F5F6F4"/>
                </a:solidFill>
                <a:latin typeface="IBM Plex Sans" pitchFamily="34" charset="0"/>
                <a:ea typeface="IBM Plex Sans" pitchFamily="34" charset="-122"/>
                <a:cs typeface="IBM Plex Sans" pitchFamily="34" charset="-120"/>
              </a:rPr>
              <a:t>Investigator</a:t>
            </a:r>
            <a:endParaRPr lang="en-US" sz="1450" dirty="0"/>
          </a:p>
        </p:txBody>
      </p:sp>
      <p:sp>
        <p:nvSpPr>
          <p:cNvPr id="19" name="Text 17"/>
          <p:cNvSpPr/>
          <p:nvPr/>
        </p:nvSpPr>
        <p:spPr>
          <a:xfrm>
            <a:off x="9029700" y="2914749"/>
            <a:ext cx="221723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4D0DE"/>
                </a:solidFill>
                <a:latin typeface="IBM Plex Sans" pitchFamily="34" charset="0"/>
                <a:ea typeface="IBM Plex Sans" pitchFamily="34" charset="-122"/>
                <a:cs typeface="IBM Plex Sans" pitchFamily="34" charset="-120"/>
              </a:rPr>
              <a:t>Reads what is unusual and what policy says about it, each with its source.</a:t>
            </a:r>
            <a:endParaRPr lang="en-US" sz="1200" dirty="0"/>
          </a:p>
        </p:txBody>
      </p:sp>
      <p:sp>
        <p:nvSpPr>
          <p:cNvPr id="20" name="Text 18"/>
          <p:cNvSpPr/>
          <p:nvPr/>
        </p:nvSpPr>
        <p:spPr>
          <a:xfrm>
            <a:off x="812800" y="4203799"/>
            <a:ext cx="53108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FB8A6"/>
                </a:solidFill>
                <a:latin typeface="IBM Plex Sans" pitchFamily="34" charset="0"/>
                <a:ea typeface="IBM Plex Sans" pitchFamily="34" charset="-122"/>
                <a:cs typeface="IBM Plex Sans" pitchFamily="34" charset="-120"/>
              </a:rPr>
              <a:t>Why</a:t>
            </a:r>
            <a:endParaRPr lang="en-US" sz="1600" dirty="0"/>
          </a:p>
        </p:txBody>
      </p:sp>
      <p:sp>
        <p:nvSpPr>
          <p:cNvPr id="21" name="Text 19"/>
          <p:cNvSpPr/>
          <p:nvPr/>
        </p:nvSpPr>
        <p:spPr>
          <a:xfrm>
            <a:off x="812800" y="4523780"/>
            <a:ext cx="531088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D0DE"/>
                </a:solidFill>
                <a:latin typeface="IBM Plex Sans" pitchFamily="34" charset="0"/>
                <a:ea typeface="IBM Plex Sans" pitchFamily="34" charset="-122"/>
                <a:cs typeface="IBM Plex Sans" pitchFamily="34" charset="-120"/>
              </a:rPr>
              <a:t>Today a summary can say a provider bills far more of a code than peers. With the knowledge base it can add the limit, the quote and the page, and separate "unusual" from "against policy".</a:t>
            </a:r>
            <a:endParaRPr lang="en-US" sz="1300" dirty="0"/>
          </a:p>
        </p:txBody>
      </p:sp>
      <p:sp>
        <p:nvSpPr>
          <p:cNvPr id="22" name="Text 20"/>
          <p:cNvSpPr/>
          <p:nvPr/>
        </p:nvSpPr>
        <p:spPr>
          <a:xfrm>
            <a:off x="6223000" y="4203799"/>
            <a:ext cx="53108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FB8A6"/>
                </a:solidFill>
                <a:latin typeface="IBM Plex Sans" pitchFamily="34" charset="0"/>
                <a:ea typeface="IBM Plex Sans" pitchFamily="34" charset="-122"/>
                <a:cs typeface="IBM Plex Sans" pitchFamily="34" charset="-120"/>
              </a:rPr>
              <a:t>Guardrails</a:t>
            </a:r>
            <a:endParaRPr lang="en-US" sz="1600" dirty="0"/>
          </a:p>
        </p:txBody>
      </p:sp>
      <p:sp>
        <p:nvSpPr>
          <p:cNvPr id="23" name="Text 21"/>
          <p:cNvSpPr/>
          <p:nvPr/>
        </p:nvSpPr>
        <p:spPr>
          <a:xfrm>
            <a:off x="6223000" y="4523780"/>
            <a:ext cx="531088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D0DE"/>
                </a:solidFill>
                <a:latin typeface="IBM Plex Sans" pitchFamily="34" charset="0"/>
                <a:ea typeface="IBM Plex Sans" pitchFamily="34" charset="-122"/>
                <a:cs typeface="IBM Plex Sans" pitchFamily="34" charset="-120"/>
              </a:rPr>
              <a:t>The knowledge base stays the authority. Every rule the summary cites is checked against it after generation. No policy claim without a quote.</a:t>
            </a:r>
            <a:endParaRPr lang="en-US" sz="1300" dirty="0"/>
          </a:p>
        </p:txBody>
      </p:sp>
      <p:sp>
        <p:nvSpPr>
          <p:cNvPr id="24" name="Text 22"/>
          <p:cNvSpPr/>
          <p:nvPr/>
        </p:nvSpPr>
        <p:spPr>
          <a:xfrm>
            <a:off x="812800" y="56921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A283"/>
                </a:solidFill>
                <a:latin typeface="JetBrains Mono" pitchFamily="34" charset="0"/>
                <a:ea typeface="JetBrains Mono" pitchFamily="34" charset="-122"/>
                <a:cs typeface="JetBrains Mono" pitchFamily="34" charset="-120"/>
              </a:rPr>
              <a:t>Planned, not built. Needs: provider and code keys shared by both pipelines.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PROVEN · FOUNDATIONS</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Built to last, and built to be measured</a:t>
            </a:r>
            <a:endParaRPr lang="en-US" sz="3300" dirty="0"/>
          </a:p>
        </p:txBody>
      </p:sp>
      <p:sp>
        <p:nvSpPr>
          <p:cNvPr id="4" name="Shape 2"/>
          <p:cNvSpPr/>
          <p:nvPr/>
        </p:nvSpPr>
        <p:spPr>
          <a:xfrm>
            <a:off x="815975" y="2030413"/>
            <a:ext cx="5149850" cy="2863354"/>
          </a:xfrm>
          <a:prstGeom prst="roundRect">
            <a:avLst>
              <a:gd name="adj" fmla="val 3437"/>
            </a:avLst>
          </a:prstGeom>
          <a:solidFill>
            <a:srgbClr val="FFFFFF"/>
          </a:solidFill>
          <a:ln w="6350">
            <a:solidFill>
              <a:srgbClr val="E3E6E4"/>
            </a:solidFill>
            <a:prstDash val="solid"/>
          </a:ln>
        </p:spPr>
      </p:sp>
      <p:sp>
        <p:nvSpPr>
          <p:cNvPr id="5" name="Text 3"/>
          <p:cNvSpPr/>
          <p:nvPr/>
        </p:nvSpPr>
        <p:spPr>
          <a:xfrm>
            <a:off x="1073150" y="2287588"/>
            <a:ext cx="477456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6B"/>
                </a:solidFill>
                <a:latin typeface="IBM Plex Sans" pitchFamily="34" charset="0"/>
                <a:ea typeface="IBM Plex Sans" pitchFamily="34" charset="-122"/>
                <a:cs typeface="IBM Plex Sans" pitchFamily="34" charset="-120"/>
              </a:rPr>
              <a:t>Modular &amp; easy to change</a:t>
            </a:r>
            <a:endParaRPr lang="en-US" sz="1700" dirty="0"/>
          </a:p>
        </p:txBody>
      </p:sp>
      <p:sp>
        <p:nvSpPr>
          <p:cNvPr id="6" name="Text 4"/>
          <p:cNvSpPr/>
          <p:nvPr/>
        </p:nvSpPr>
        <p:spPr>
          <a:xfrm>
            <a:off x="1289050" y="2648248"/>
            <a:ext cx="4552188" cy="2013744"/>
          </a:xfrm>
          <a:prstGeom prst="rect">
            <a:avLst/>
          </a:prstGeom>
          <a:noFill/>
          <a:ln/>
        </p:spPr>
        <p:txBody>
          <a:bodyPr wrap="square" lIns="0" tIns="0" rIns="0" bIns="0" rtlCol="0" anchor="t">
            <a:normAutofit/>
          </a:bodyPr>
          <a:lstStyle/>
          <a:p>
            <a:pPr algn="l" marL="205740" indent="-169037">
              <a:lnSpc>
                <a:spcPts val="1958"/>
              </a:lnSpc>
              <a:buSzPct val="100000"/>
              <a:buChar char="•"/>
            </a:pPr>
            <a:r>
              <a:rPr lang="en-US" sz="1350" dirty="0">
                <a:solidFill>
                  <a:srgbClr val="55627A"/>
                </a:solidFill>
                <a:latin typeface="IBM Plex Sans" pitchFamily="34" charset="0"/>
                <a:ea typeface="IBM Plex Sans" pitchFamily="34" charset="-122"/>
                <a:cs typeface="IBM Plex Sans" pitchFamily="34" charset="-120"/>
              </a:rPr>
              <a:t>One tangled PoC script became focused modules with single jobs.</a:t>
            </a:r>
            <a:endParaRPr lang="en-US" sz="1350" dirty="0"/>
          </a:p>
          <a:p>
            <a:pPr algn="l" marL="205740" indent="-169037">
              <a:lnSpc>
                <a:spcPts val="1958"/>
              </a:lnSpc>
              <a:buSzPct val="100000"/>
              <a:buChar char="•"/>
            </a:pPr>
            <a:r>
              <a:rPr lang="en-US" sz="1350" dirty="0">
                <a:solidFill>
                  <a:srgbClr val="55627A"/>
                </a:solidFill>
                <a:latin typeface="IBM Plex Sans" pitchFamily="34" charset="0"/>
                <a:ea typeface="IBM Plex Sans" pitchFamily="34" charset="-122"/>
                <a:cs typeface="IBM Plex Sans" pitchFamily="34" charset="-120"/>
              </a:rPr>
              <a:t>Every table name, column, and switch lives in </a:t>
            </a:r>
            <a:r>
              <a:rPr lang="en-US" sz="1350" b="1" dirty="0">
                <a:solidFill>
                  <a:srgbClr val="55627A"/>
                </a:solidFill>
                <a:latin typeface="IBM Plex Sans" pitchFamily="34" charset="0"/>
                <a:ea typeface="IBM Plex Sans" pitchFamily="34" charset="-122"/>
                <a:cs typeface="IBM Plex Sans" pitchFamily="34" charset="-120"/>
              </a:rPr>
              <a:t>one config</a:t>
            </a:r>
            <a:r>
              <a:rPr lang="en-US" sz="1350" dirty="0">
                <a:solidFill>
                  <a:srgbClr val="55627A"/>
                </a:solidFill>
                <a:latin typeface="IBM Plex Sans" pitchFamily="34" charset="0"/>
                <a:ea typeface="IBM Plex Sans" pitchFamily="34" charset="-122"/>
                <a:cs typeface="IBM Plex Sans" pitchFamily="34" charset="-120"/>
              </a:rPr>
              <a:t>.</a:t>
            </a:r>
            <a:endParaRPr lang="en-US" sz="1350" dirty="0"/>
          </a:p>
          <a:p>
            <a:pPr algn="l" marL="205740" indent="-169037">
              <a:lnSpc>
                <a:spcPts val="1958"/>
              </a:lnSpc>
              <a:buSzPct val="100000"/>
              <a:buChar char="•"/>
            </a:pPr>
            <a:r>
              <a:rPr lang="en-US" sz="1350" dirty="0">
                <a:solidFill>
                  <a:srgbClr val="55627A"/>
                </a:solidFill>
                <a:latin typeface="IBM Plex Sans" pitchFamily="34" charset="0"/>
                <a:ea typeface="IBM Plex Sans" pitchFamily="34" charset="-122"/>
                <a:cs typeface="IBM Plex Sans" pitchFamily="34" charset="-120"/>
              </a:rPr>
              <a:t>The rule schema and grammar are defined once; everything reads from them.</a:t>
            </a:r>
            <a:endParaRPr lang="en-US" sz="1350" dirty="0"/>
          </a:p>
          <a:p>
            <a:pPr algn="l" marL="205740" indent="-169037">
              <a:lnSpc>
                <a:spcPts val="1958"/>
              </a:lnSpc>
              <a:buSzPct val="100000"/>
              <a:buChar char="•"/>
            </a:pPr>
            <a:r>
              <a:rPr lang="en-US" sz="1350" dirty="0">
                <a:solidFill>
                  <a:srgbClr val="55627A"/>
                </a:solidFill>
                <a:latin typeface="IBM Plex Sans" pitchFamily="34" charset="0"/>
                <a:ea typeface="IBM Plex Sans" pitchFamily="34" charset="-122"/>
                <a:cs typeface="IBM Plex Sans" pitchFamily="34" charset="-120"/>
              </a:rPr>
              <a:t>Notebooks numbered in the order you run them, with one guide.</a:t>
            </a:r>
            <a:endParaRPr lang="en-US" sz="1350" dirty="0"/>
          </a:p>
        </p:txBody>
      </p:sp>
      <p:sp>
        <p:nvSpPr>
          <p:cNvPr id="7" name="Shape 5"/>
          <p:cNvSpPr/>
          <p:nvPr/>
        </p:nvSpPr>
        <p:spPr>
          <a:xfrm>
            <a:off x="6226175" y="2030413"/>
            <a:ext cx="5149850" cy="2863354"/>
          </a:xfrm>
          <a:prstGeom prst="roundRect">
            <a:avLst>
              <a:gd name="adj" fmla="val 3437"/>
            </a:avLst>
          </a:prstGeom>
          <a:solidFill>
            <a:srgbClr val="FFFFFF"/>
          </a:solidFill>
          <a:ln w="6350">
            <a:solidFill>
              <a:srgbClr val="E3E6E4"/>
            </a:solidFill>
            <a:prstDash val="solid"/>
          </a:ln>
        </p:spPr>
      </p:sp>
      <p:sp>
        <p:nvSpPr>
          <p:cNvPr id="8" name="Text 6"/>
          <p:cNvSpPr/>
          <p:nvPr/>
        </p:nvSpPr>
        <p:spPr>
          <a:xfrm>
            <a:off x="6483350" y="2287588"/>
            <a:ext cx="477456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6B"/>
                </a:solidFill>
                <a:latin typeface="IBM Plex Sans" pitchFamily="34" charset="0"/>
                <a:ea typeface="IBM Plex Sans" pitchFamily="34" charset="-122"/>
                <a:cs typeface="IBM Plex Sans" pitchFamily="34" charset="-120"/>
              </a:rPr>
              <a:t>Proven &amp; safe to extend</a:t>
            </a:r>
            <a:endParaRPr lang="en-US" sz="1700" dirty="0"/>
          </a:p>
        </p:txBody>
      </p:sp>
      <p:sp>
        <p:nvSpPr>
          <p:cNvPr id="9" name="Text 7"/>
          <p:cNvSpPr/>
          <p:nvPr/>
        </p:nvSpPr>
        <p:spPr>
          <a:xfrm>
            <a:off x="6699250" y="2648248"/>
            <a:ext cx="4552188" cy="1516658"/>
          </a:xfrm>
          <a:prstGeom prst="rect">
            <a:avLst/>
          </a:prstGeom>
          <a:noFill/>
          <a:ln/>
        </p:spPr>
        <p:txBody>
          <a:bodyPr wrap="square" lIns="0" tIns="0" rIns="0" bIns="0" rtlCol="0" anchor="t">
            <a:normAutofit/>
          </a:bodyPr>
          <a:lstStyle/>
          <a:p>
            <a:pPr algn="l" marL="205740" indent="-169037">
              <a:lnSpc>
                <a:spcPts val="1958"/>
              </a:lnSpc>
              <a:buSzPct val="100000"/>
              <a:buChar char="•"/>
            </a:pPr>
            <a:r>
              <a:rPr lang="en-US" sz="1350" b="1" dirty="0">
                <a:solidFill>
                  <a:srgbClr val="55627A"/>
                </a:solidFill>
                <a:latin typeface="IBM Plex Sans" pitchFamily="34" charset="0"/>
                <a:ea typeface="IBM Plex Sans" pitchFamily="34" charset="-122"/>
                <a:cs typeface="IBM Plex Sans" pitchFamily="34" charset="-120"/>
              </a:rPr>
              <a:t>148 automated tests</a:t>
            </a:r>
            <a:r>
              <a:rPr lang="en-US" sz="1350" dirty="0">
                <a:solidFill>
                  <a:srgbClr val="55627A"/>
                </a:solidFill>
                <a:latin typeface="IBM Plex Sans" pitchFamily="34" charset="0"/>
                <a:ea typeface="IBM Plex Sans" pitchFamily="34" charset="-122"/>
                <a:cs typeface="IBM Plex Sans" pitchFamily="34" charset="-120"/>
              </a:rPr>
              <a:t> (was 59). Compiler tests run the generated SQL on synthetic claims.</a:t>
            </a:r>
            <a:endParaRPr lang="en-US" sz="1350" dirty="0"/>
          </a:p>
          <a:p>
            <a:pPr algn="l" marL="205740" indent="-169037">
              <a:lnSpc>
                <a:spcPts val="1958"/>
              </a:lnSpc>
              <a:buSzPct val="100000"/>
              <a:buChar char="•"/>
            </a:pPr>
            <a:r>
              <a:rPr lang="en-US" sz="1350" b="1" dirty="0">
                <a:solidFill>
                  <a:srgbClr val="55627A"/>
                </a:solidFill>
                <a:latin typeface="IBM Plex Sans" pitchFamily="34" charset="0"/>
                <a:ea typeface="IBM Plex Sans" pitchFamily="34" charset="-122"/>
                <a:cs typeface="IBM Plex Sans" pitchFamily="34" charset="-120"/>
              </a:rPr>
              <a:t>Every notebook, end to end.</a:t>
            </a:r>
            <a:r>
              <a:rPr lang="en-US" sz="1350" dirty="0">
                <a:solidFill>
                  <a:srgbClr val="55627A"/>
                </a:solidFill>
                <a:latin typeface="IBM Plex Sans" pitchFamily="34" charset="0"/>
                <a:ea typeface="IBM Plex Sans" pitchFamily="34" charset="-122"/>
                <a:cs typeface="IBM Plex Sans" pitchFamily="34" charset="-120"/>
              </a:rPr>
              <a:t> Planted violations are found; a legitimate bypass is not.</a:t>
            </a:r>
            <a:endParaRPr lang="en-US" sz="1350" dirty="0"/>
          </a:p>
          <a:p>
            <a:pPr algn="l" marL="205740" indent="-169037">
              <a:lnSpc>
                <a:spcPts val="1958"/>
              </a:lnSpc>
              <a:buSzPct val="100000"/>
              <a:buChar char="•"/>
            </a:pPr>
            <a:r>
              <a:rPr lang="en-US" sz="1350" b="1" dirty="0">
                <a:solidFill>
                  <a:srgbClr val="55627A"/>
                </a:solidFill>
                <a:latin typeface="IBM Plex Sans" pitchFamily="34" charset="0"/>
                <a:ea typeface="IBM Plex Sans" pitchFamily="34" charset="-122"/>
                <a:cs typeface="IBM Plex Sans" pitchFamily="34" charset="-120"/>
              </a:rPr>
              <a:t>Fails loud:</a:t>
            </a:r>
            <a:r>
              <a:rPr lang="en-US" sz="1350" dirty="0">
                <a:solidFill>
                  <a:srgbClr val="55627A"/>
                </a:solidFill>
                <a:latin typeface="IBM Plex Sans" pitchFamily="34" charset="0"/>
                <a:ea typeface="IBM Plex Sans" pitchFamily="34" charset="-122"/>
                <a:cs typeface="IBM Plex Sans" pitchFamily="34" charset="-120"/>
              </a:rPr>
              <a:t> a missing quarter, a bad edit row, a dead model or a stale approval stops the build or says so.</a:t>
            </a:r>
            <a:endParaRPr lang="en-US" sz="1350" dirty="0"/>
          </a:p>
        </p:txBody>
      </p:sp>
      <p:sp>
        <p:nvSpPr>
          <p:cNvPr id="10" name="Shape 8"/>
          <p:cNvSpPr/>
          <p:nvPr/>
        </p:nvSpPr>
        <p:spPr>
          <a:xfrm>
            <a:off x="831850" y="5313759"/>
            <a:ext cx="0" cy="591741"/>
          </a:xfrm>
          <a:prstGeom prst="line">
            <a:avLst/>
          </a:prstGeom>
          <a:noFill/>
          <a:ln w="38100">
            <a:solidFill>
              <a:srgbClr val="1F7A6B"/>
            </a:solidFill>
            <a:prstDash val="solid"/>
          </a:ln>
        </p:spPr>
      </p:sp>
      <p:sp>
        <p:nvSpPr>
          <p:cNvPr id="11" name="Text 9"/>
          <p:cNvSpPr/>
          <p:nvPr/>
        </p:nvSpPr>
        <p:spPr>
          <a:xfrm>
            <a:off x="1054100" y="5351859"/>
            <a:ext cx="10634853"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4273D"/>
                </a:solidFill>
                <a:latin typeface="IBM Plex Sans" pitchFamily="34" charset="0"/>
                <a:ea typeface="IBM Plex Sans" pitchFamily="34" charset="-122"/>
                <a:cs typeface="IBM Plex Sans" pitchFamily="34" charset="-120"/>
              </a:rPr>
              <a:t>Honest status:</a:t>
            </a:r>
            <a:r>
              <a:rPr lang="en-US" sz="1450" dirty="0">
                <a:solidFill>
                  <a:srgbClr val="14273D"/>
                </a:solidFill>
                <a:latin typeface="IBM Plex Sans" pitchFamily="34" charset="0"/>
                <a:ea typeface="IBM Plex Sans" pitchFamily="34" charset="-122"/>
                <a:cs typeface="IBM Plex Sans" pitchFamily="34" charset="-120"/>
              </a:rPr>
              <a:t> quality is instrumented, not yet measured. Precision and recall appear only after reviewers score a sample, and every quality gate reads "not yet" until then.</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NEXT · ROADMAP</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What comes next</a:t>
            </a:r>
            <a:endParaRPr lang="en-US" sz="3300" dirty="0"/>
          </a:p>
        </p:txBody>
      </p:sp>
      <p:sp>
        <p:nvSpPr>
          <p:cNvPr id="4" name="Shape 2"/>
          <p:cNvSpPr/>
          <p:nvPr/>
        </p:nvSpPr>
        <p:spPr>
          <a:xfrm>
            <a:off x="815975" y="2157016"/>
            <a:ext cx="3397250" cy="2867918"/>
          </a:xfrm>
          <a:prstGeom prst="roundRect">
            <a:avLst>
              <a:gd name="adj" fmla="val 3432"/>
            </a:avLst>
          </a:prstGeom>
          <a:solidFill>
            <a:srgbClr val="FFFFFF"/>
          </a:solidFill>
          <a:ln w="6350">
            <a:solidFill>
              <a:srgbClr val="E3E6E4"/>
            </a:solidFill>
            <a:prstDash val="solid"/>
          </a:ln>
        </p:spPr>
      </p:sp>
      <p:sp>
        <p:nvSpPr>
          <p:cNvPr id="5" name="Text 3"/>
          <p:cNvSpPr/>
          <p:nvPr/>
        </p:nvSpPr>
        <p:spPr>
          <a:xfrm>
            <a:off x="1047750" y="2388791"/>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B"/>
                </a:solidFill>
                <a:latin typeface="IBM Plex Sans" pitchFamily="34" charset="0"/>
                <a:ea typeface="IBM Plex Sans" pitchFamily="34" charset="-122"/>
                <a:cs typeface="IBM Plex Sans" pitchFamily="34" charset="-120"/>
              </a:rPr>
              <a:t>Now</a:t>
            </a:r>
            <a:endParaRPr lang="en-US" sz="1600" dirty="0"/>
          </a:p>
        </p:txBody>
      </p:sp>
      <p:sp>
        <p:nvSpPr>
          <p:cNvPr id="6" name="Text 4"/>
          <p:cNvSpPr/>
          <p:nvPr/>
        </p:nvSpPr>
        <p:spPr>
          <a:xfrm>
            <a:off x="1238250" y="2721471"/>
            <a:ext cx="2825496" cy="1636713"/>
          </a:xfrm>
          <a:prstGeom prst="rect">
            <a:avLst/>
          </a:prstGeom>
          <a:noFill/>
          <a:ln/>
        </p:spPr>
        <p:txBody>
          <a:bodyPr wrap="square" lIns="0" tIns="0" rIns="0" bIns="0" rtlCol="0" anchor="t">
            <a:normAutofit/>
          </a:bodyPr>
          <a:lstStyle/>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First model run on Chapter 19; a reviewer scores a sample.</a:t>
            </a:r>
            <a:endParaRPr lang="en-US" sz="1250" dirty="0"/>
          </a:p>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Confirm two open questions: CMS deletion-date meaning; re-signing the 21 seed rules.</a:t>
            </a:r>
            <a:endParaRPr lang="en-US" sz="1250" dirty="0"/>
          </a:p>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Schedule the federal-edit notebook monthly.</a:t>
            </a:r>
            <a:endParaRPr lang="en-US" sz="1250" dirty="0"/>
          </a:p>
        </p:txBody>
      </p:sp>
      <p:sp>
        <p:nvSpPr>
          <p:cNvPr id="7" name="Shape 5"/>
          <p:cNvSpPr/>
          <p:nvPr/>
        </p:nvSpPr>
        <p:spPr>
          <a:xfrm>
            <a:off x="4397375" y="2157016"/>
            <a:ext cx="3397250" cy="2867918"/>
          </a:xfrm>
          <a:prstGeom prst="roundRect">
            <a:avLst>
              <a:gd name="adj" fmla="val 3432"/>
            </a:avLst>
          </a:prstGeom>
          <a:solidFill>
            <a:srgbClr val="FFFFFF"/>
          </a:solidFill>
          <a:ln w="6350">
            <a:solidFill>
              <a:srgbClr val="E3E6E4"/>
            </a:solidFill>
            <a:prstDash val="solid"/>
          </a:ln>
        </p:spPr>
      </p:sp>
      <p:sp>
        <p:nvSpPr>
          <p:cNvPr id="8" name="Text 6"/>
          <p:cNvSpPr/>
          <p:nvPr/>
        </p:nvSpPr>
        <p:spPr>
          <a:xfrm>
            <a:off x="4629150" y="2388791"/>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52E"/>
                </a:solidFill>
                <a:latin typeface="IBM Plex Sans" pitchFamily="34" charset="0"/>
                <a:ea typeface="IBM Plex Sans" pitchFamily="34" charset="-122"/>
                <a:cs typeface="IBM Plex Sans" pitchFamily="34" charset="-120"/>
              </a:rPr>
              <a:t>Next</a:t>
            </a:r>
            <a:endParaRPr lang="en-US" sz="1600" dirty="0"/>
          </a:p>
        </p:txBody>
      </p:sp>
      <p:sp>
        <p:nvSpPr>
          <p:cNvPr id="9" name="Text 7"/>
          <p:cNvSpPr/>
          <p:nvPr/>
        </p:nvSpPr>
        <p:spPr>
          <a:xfrm>
            <a:off x="4819650" y="2721471"/>
            <a:ext cx="2825496" cy="2097088"/>
          </a:xfrm>
          <a:prstGeom prst="rect">
            <a:avLst/>
          </a:prstGeom>
          <a:noFill/>
          <a:ln/>
        </p:spPr>
        <p:txBody>
          <a:bodyPr wrap="square" lIns="0" tIns="0" rIns="0" bIns="0" rtlCol="0" anchor="t">
            <a:normAutofit/>
          </a:bodyPr>
          <a:lstStyle/>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Policy context in the anomaly summaries.</a:t>
            </a:r>
            <a:endParaRPr lang="en-US" sz="1250" dirty="0"/>
          </a:p>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More chapters, in the order the grammar can handle them.</a:t>
            </a:r>
            <a:endParaRPr lang="en-US" sz="1250" dirty="0"/>
          </a:p>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Grammar: age, EPSDT and place-of-service conditions; modifier-required; a signed category-to-code map (B2 Matrix, fee schedule).</a:t>
            </a:r>
            <a:endParaRPr lang="en-US" sz="1250" dirty="0"/>
          </a:p>
        </p:txBody>
      </p:sp>
      <p:sp>
        <p:nvSpPr>
          <p:cNvPr id="10" name="Shape 8"/>
          <p:cNvSpPr/>
          <p:nvPr/>
        </p:nvSpPr>
        <p:spPr>
          <a:xfrm>
            <a:off x="7978775" y="2157016"/>
            <a:ext cx="3397250" cy="2867918"/>
          </a:xfrm>
          <a:prstGeom prst="roundRect">
            <a:avLst>
              <a:gd name="adj" fmla="val 3432"/>
            </a:avLst>
          </a:prstGeom>
          <a:solidFill>
            <a:srgbClr val="FFFFFF"/>
          </a:solidFill>
          <a:ln w="6350">
            <a:solidFill>
              <a:srgbClr val="E3E6E4"/>
            </a:solidFill>
            <a:prstDash val="solid"/>
          </a:ln>
        </p:spPr>
      </p:sp>
      <p:sp>
        <p:nvSpPr>
          <p:cNvPr id="11" name="Text 9"/>
          <p:cNvSpPr/>
          <p:nvPr/>
        </p:nvSpPr>
        <p:spPr>
          <a:xfrm>
            <a:off x="8210550" y="2388791"/>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5627A"/>
                </a:solidFill>
                <a:latin typeface="IBM Plex Sans" pitchFamily="34" charset="0"/>
                <a:ea typeface="IBM Plex Sans" pitchFamily="34" charset="-122"/>
                <a:cs typeface="IBM Plex Sans" pitchFamily="34" charset="-120"/>
              </a:rPr>
              <a:t>Later</a:t>
            </a:r>
            <a:endParaRPr lang="en-US" sz="1600" dirty="0"/>
          </a:p>
        </p:txBody>
      </p:sp>
      <p:sp>
        <p:nvSpPr>
          <p:cNvPr id="12" name="Text 10"/>
          <p:cNvSpPr/>
          <p:nvPr/>
        </p:nvSpPr>
        <p:spPr>
          <a:xfrm>
            <a:off x="8401050" y="2721471"/>
            <a:ext cx="2825496" cy="1636713"/>
          </a:xfrm>
          <a:prstGeom prst="rect">
            <a:avLst/>
          </a:prstGeom>
          <a:noFill/>
          <a:ln/>
        </p:spPr>
        <p:txBody>
          <a:bodyPr wrap="square" lIns="0" tIns="0" rIns="0" bIns="0" rtlCol="0" anchor="t">
            <a:normAutofit/>
          </a:bodyPr>
          <a:lstStyle/>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Other authorities: AMPM, fee schedule, A.A.C., once we confirm AHCCCS adopts them.</a:t>
            </a:r>
            <a:endParaRPr lang="en-US" sz="1250" dirty="0"/>
          </a:p>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Semantic search and policy Q&amp;A over the manual.</a:t>
            </a:r>
            <a:endParaRPr lang="en-US" sz="1250" dirty="0"/>
          </a:p>
          <a:p>
            <a:pPr algn="l" marL="190500" indent="-161925">
              <a:lnSpc>
                <a:spcPts val="1813"/>
              </a:lnSpc>
              <a:buSzPct val="100000"/>
              <a:buChar char="•"/>
            </a:pPr>
            <a:r>
              <a:rPr lang="en-US" sz="1250" dirty="0">
                <a:solidFill>
                  <a:srgbClr val="55627A"/>
                </a:solidFill>
                <a:latin typeface="IBM Plex Sans" pitchFamily="34" charset="0"/>
                <a:ea typeface="IBM Plex Sans" pitchFamily="34" charset="-122"/>
                <a:cs typeface="IBM Plex Sans" pitchFamily="34" charset="-120"/>
              </a:rPr>
              <a:t>A contradiction register reviewed with AHCCCS.</a:t>
            </a:r>
            <a:endParaRPr lang="en-US" sz="1250" dirty="0"/>
          </a:p>
        </p:txBody>
      </p:sp>
      <p:sp>
        <p:nvSpPr>
          <p:cNvPr id="13" name="Shape 11"/>
          <p:cNvSpPr/>
          <p:nvPr/>
        </p:nvSpPr>
        <p:spPr>
          <a:xfrm>
            <a:off x="831850" y="5571530"/>
            <a:ext cx="0" cy="333970"/>
          </a:xfrm>
          <a:prstGeom prst="line">
            <a:avLst/>
          </a:prstGeom>
          <a:noFill/>
          <a:ln w="38100">
            <a:solidFill>
              <a:srgbClr val="1F7A6B"/>
            </a:solidFill>
            <a:prstDash val="solid"/>
          </a:ln>
        </p:spPr>
      </p:sp>
      <p:sp>
        <p:nvSpPr>
          <p:cNvPr id="14" name="Text 12"/>
          <p:cNvSpPr/>
          <p:nvPr/>
        </p:nvSpPr>
        <p:spPr>
          <a:xfrm>
            <a:off x="1054100" y="5609630"/>
            <a:ext cx="10634853"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4273D"/>
                </a:solidFill>
                <a:latin typeface="IBM Plex Sans" pitchFamily="34" charset="0"/>
                <a:ea typeface="IBM Plex Sans" pitchFamily="34" charset="-122"/>
                <a:cs typeface="IBM Plex Sans" pitchFamily="34" charset="-120"/>
              </a:rPr>
              <a:t>The principle:</a:t>
            </a:r>
            <a:r>
              <a:rPr lang="en-US" sz="1450" dirty="0">
                <a:solidFill>
                  <a:srgbClr val="14273D"/>
                </a:solidFill>
                <a:latin typeface="IBM Plex Sans" pitchFamily="34" charset="0"/>
                <a:ea typeface="IBM Plex Sans" pitchFamily="34" charset="-122"/>
                <a:cs typeface="IBM Plex Sans" pitchFamily="34" charset="-120"/>
              </a:rPr>
              <a:t> we measure before we widen, and we say what a workaround costs while it is in place.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Base MVP</dc:title>
  <dc:subject>PptxGenJS Presentation</dc:subject>
  <dc:creator>PptxGenJS</dc:creator>
  <cp:lastModifiedBy>PptxGenJS</cp:lastModifiedBy>
  <cp:revision>1</cp:revision>
  <dcterms:created xsi:type="dcterms:W3CDTF">2026-09-29T18:04:44Z</dcterms:created>
  <dcterms:modified xsi:type="dcterms:W3CDTF">2026-09-29T18:04:44Z</dcterms:modified>
</cp:coreProperties>
</file>