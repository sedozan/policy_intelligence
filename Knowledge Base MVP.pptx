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PoC got us in the room. This deck is the honest account of what it takes to point the idea at 17 million real claims and defend every flag to an auditor. Three words carry the deck: correct, defensible, scalable. The fourth thing, which is the reason it took the month, is honesty instrumentation: the system tells us when it is not working instead of looking like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demo was scoped by a hand-picked code list, which is fine for a controlled demo and useless for a real system. Now the scope comes from the claims themselves. Land it: "We stopped choosing what to look at and let the money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four. Point at the grid: four separate ways the federal layer was quietly wrong, each settled by reading the CMS guidance rather than guessing. The modifier card is the newest: LT on both lines used to bypass the edit; CMS says it must not, and our finding now points at the line CMS actually denies.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work is not "call an LLM on a PDF." Each card is a semantic decision with a wrong answer that would have produced bad flags: pairs split across providers, PA suppressing findings, age-scoped rules firing on adults, annual limits reset on the wrong date. Land it: the difference between a demo and a system is in these details, and each one is pinned by a test that runs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column is the point: two of the errors were an outside reviewer's, three were ours. We are not claiming we were right; we are claiming we check. Every fact the detectors depend on has a citation we can show an auditor, and several of them were corrected this month because we went back to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We assumed the claim form would tell practitioner, outpatient and DME apart; the data said all three sit on form A. The fix wasn't a better mapping — the field doesn't carry the information. What we did instead is documented as a workaround with a known false-negative cost, and the next slide on open decisions shows how we'll measure that cost before choosing.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"so an AI decided what our policy means?" — no, and here is the mechanism, not a promise. Four independent gates, each deterministic or human. The model touches exactly one of them and cannot get past the other three. Use the law-office line; it lands with compliance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rule answers "which rule are you, and where did you come from?" down to the page and document version. The identity now also includes who the rule applies to and from when — an outside review showed that a changed scope with the same predicate used to inherit the old approval.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trust slide for a compliance audience. Two things are new since the last version: an approval without a reviewer name does nothing, and an approval made against an older PDF is parked rather than silently carried forward. Both came out of an external review that showed the gate could be walked around. It can't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WITH BRACKETS. Every bracket on this slide is filled from the run summary of extract_chapters (proposals, grounded, dropped, drafts by source) and the review log (approved count, reviewer). [M] must be greater than zero — if the model found nothing, the run did not work and this deck is not ready. The scale story is the architecture: every chapter is one notebook run, and re-running touches only sections whose text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engineers: this is the proven loop from the provider-explainability notebook, lifted line for line, with two deliberate differences — no deterministic fallback when the model fails (a failure is recorded, not hidden), and the final channel must parse as our grammar or it is refused. Expect an hour, not seconds; a run that finishes in seconds is the alarm.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WITH BRACKETS. Fill the right card from the end-of-run summary: elapsed time, "model calls, failures", "drafts by source", and the dropped count. Tell the left card straight; it is the most credible thing in the deck because it is unflattering. The lesson is general: any fallback that keeps a pipeline green must announce itself loudly or it will hide the one thing you most needed to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"is it overfit to the chapters we started with?" honestly: the plumbing is not, the grammar is — by design, and we know exactly which chapters need what. Chapter assignments in the table are expected profiles; the profiler run confirms them. The point is that "scale to 29 chapters" is not one problem, it is five, and we have named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dollar-weighted gap is the OIG story made quantitative: we can show a number, not a promise. The third card is new — an outside review pointed out that aggregate findings had no contributing line IDs, which breaks the audit trail. They carry them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invited two different AI systems to attack the package twice each and treated every finding as a claim to verify, not an instruction. Eleven were real and are fixed. Four were overstated and we said why. Two of the reviewers' own proposals had bugs that would have made the system worse. The discipline is the point: nothing gets in because a reviewer said so, and nothing stays out because we were attached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to leadership: the month produced a foundation, not just features, so the pace goes up from here. The test count more than doubled, and the kind of test changed — we run the SQL now, because reading it wasn't enough. Land it: "We paid down the demo's shortcuts so the next 27 chapters don't cost what the first two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WITH BRACKETS. Left card fills from preflight_ncci (section 4 for edition disagreement, section 3 for quarter coverage) and from a hand-scored sample of the Ch. 19 drafts — score at least 30, and be honest about the number; a precision figure nobody can reproduce is worse than none. Right card is Phase 2 in the order the evidence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honest sentence. The PoC answered "can we?" The MVP answers "is it correct, can we defend it, will it scale — and will we know when it breaks?" Invite the hard questions; every one of them has a slide behind 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A"/>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50" kern="0" dirty="0">
                <a:solidFill>
                  <a:srgbClr val="5FB8A6"/>
                </a:solidFill>
                <a:latin typeface="JetBrains Mono" pitchFamily="34" charset="0"/>
                <a:ea typeface="JetBrains Mono" pitchFamily="34" charset="-122"/>
                <a:cs typeface="JetBrains Mono" pitchFamily="34" charset="-120"/>
              </a:rPr>
              <a:t>POLICY INTELLIGENCE ENGINE · SEDO</a:t>
            </a:r>
            <a:endParaRPr lang="en-US" sz="1400" dirty="0"/>
          </a:p>
        </p:txBody>
      </p:sp>
      <p:sp>
        <p:nvSpPr>
          <p:cNvPr id="3" name="Text 1"/>
          <p:cNvSpPr/>
          <p:nvPr/>
        </p:nvSpPr>
        <p:spPr>
          <a:xfrm>
            <a:off x="812800" y="2397919"/>
            <a:ext cx="10883392" cy="802580"/>
          </a:xfrm>
          <a:prstGeom prst="rect">
            <a:avLst/>
          </a:prstGeom>
          <a:noFill/>
          <a:ln/>
        </p:spPr>
        <p:txBody>
          <a:bodyPr wrap="square" lIns="0" tIns="0" rIns="0" bIns="0" rtlCol="0" anchor="t">
            <a:normAutofit/>
          </a:bodyPr>
          <a:lstStyle/>
          <a:p>
            <a:pPr algn="l" indent="0" marL="0">
              <a:lnSpc>
                <a:spcPts val="6120"/>
              </a:lnSpc>
              <a:buNone/>
            </a:pPr>
            <a:r>
              <a:rPr lang="en-US" sz="6000" b="1" dirty="0">
                <a:solidFill>
                  <a:srgbClr val="F5F6F4"/>
                </a:solidFill>
                <a:latin typeface="IBM Plex Sans" pitchFamily="34" charset="0"/>
                <a:ea typeface="IBM Plex Sans" pitchFamily="34" charset="-122"/>
                <a:cs typeface="IBM Plex Sans" pitchFamily="34" charset="-120"/>
              </a:rPr>
              <a:t>Knowledge Base MVP</a:t>
            </a:r>
            <a:endParaRPr lang="en-US" sz="6000" dirty="0"/>
          </a:p>
        </p:txBody>
      </p:sp>
      <p:sp>
        <p:nvSpPr>
          <p:cNvPr id="4" name="Text 2"/>
          <p:cNvSpPr/>
          <p:nvPr/>
        </p:nvSpPr>
        <p:spPr>
          <a:xfrm>
            <a:off x="812800" y="3352899"/>
            <a:ext cx="9810750" cy="75168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AEBACB"/>
                </a:solidFill>
                <a:latin typeface="IBM Plex Sans" pitchFamily="34" charset="0"/>
                <a:ea typeface="IBM Plex Sans" pitchFamily="34" charset="-122"/>
                <a:cs typeface="IBM Plex Sans" pitchFamily="34" charset="-120"/>
              </a:rPr>
              <a:t>The PoC proved it could work. The MVP makes it real — correct, defensible, and honest about where the line is.</a:t>
            </a:r>
            <a:endParaRPr lang="en-US" sz="2200" dirty="0"/>
          </a:p>
        </p:txBody>
      </p:sp>
      <p:sp>
        <p:nvSpPr>
          <p:cNvPr id="5" name="Text 3"/>
          <p:cNvSpPr/>
          <p:nvPr/>
        </p:nvSpPr>
        <p:spPr>
          <a:xfrm>
            <a:off x="812800" y="5415359"/>
            <a:ext cx="1717675"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5FB8A6"/>
                </a:solidFill>
                <a:latin typeface="JetBrains Mono" pitchFamily="34" charset="0"/>
                <a:ea typeface="JetBrains Mono" pitchFamily="34" charset="-122"/>
                <a:cs typeface="JetBrains Mono" pitchFamily="34" charset="-120"/>
              </a:rPr>
              <a:t>17M</a:t>
            </a:r>
            <a:endParaRPr lang="en-US" sz="2200" dirty="0"/>
          </a:p>
        </p:txBody>
      </p:sp>
      <p:sp>
        <p:nvSpPr>
          <p:cNvPr id="6" name="Text 4"/>
          <p:cNvSpPr/>
          <p:nvPr/>
        </p:nvSpPr>
        <p:spPr>
          <a:xfrm>
            <a:off x="812800" y="5831880"/>
            <a:ext cx="17176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595AB"/>
                </a:solidFill>
                <a:latin typeface="IBM Plex Sans" pitchFamily="34" charset="0"/>
                <a:ea typeface="IBM Plex Sans" pitchFamily="34" charset="-122"/>
                <a:cs typeface="IBM Plex Sans" pitchFamily="34" charset="-120"/>
              </a:rPr>
              <a:t>paid claim lines in scope</a:t>
            </a:r>
            <a:endParaRPr lang="en-US" sz="1200" dirty="0"/>
          </a:p>
        </p:txBody>
      </p:sp>
      <p:sp>
        <p:nvSpPr>
          <p:cNvPr id="7" name="Text 5"/>
          <p:cNvSpPr/>
          <p:nvPr/>
        </p:nvSpPr>
        <p:spPr>
          <a:xfrm>
            <a:off x="2835275" y="5415359"/>
            <a:ext cx="2140787"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5FB8A6"/>
                </a:solidFill>
                <a:latin typeface="JetBrains Mono" pitchFamily="34" charset="0"/>
                <a:ea typeface="JetBrains Mono" pitchFamily="34" charset="-122"/>
                <a:cs typeface="JetBrains Mono" pitchFamily="34" charset="-120"/>
              </a:rPr>
              <a:t>29</a:t>
            </a:r>
            <a:endParaRPr lang="en-US" sz="2200" dirty="0"/>
          </a:p>
        </p:txBody>
      </p:sp>
      <p:sp>
        <p:nvSpPr>
          <p:cNvPr id="8" name="Text 6"/>
          <p:cNvSpPr/>
          <p:nvPr/>
        </p:nvSpPr>
        <p:spPr>
          <a:xfrm>
            <a:off x="2835275" y="5831880"/>
            <a:ext cx="21407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595AB"/>
                </a:solidFill>
                <a:latin typeface="IBM Plex Sans" pitchFamily="34" charset="0"/>
                <a:ea typeface="IBM Plex Sans" pitchFamily="34" charset="-122"/>
                <a:cs typeface="IBM Plex Sans" pitchFamily="34" charset="-120"/>
              </a:rPr>
              <a:t>manual chapters, 6 in the MVP</a:t>
            </a:r>
            <a:endParaRPr lang="en-US" sz="1200" dirty="0"/>
          </a:p>
        </p:txBody>
      </p:sp>
      <p:sp>
        <p:nvSpPr>
          <p:cNvPr id="9" name="Text 7"/>
          <p:cNvSpPr/>
          <p:nvPr/>
        </p:nvSpPr>
        <p:spPr>
          <a:xfrm>
            <a:off x="5269309" y="5415359"/>
            <a:ext cx="2556927"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5FB8A6"/>
                </a:solidFill>
                <a:latin typeface="JetBrains Mono" pitchFamily="34" charset="0"/>
                <a:ea typeface="JetBrains Mono" pitchFamily="34" charset="-122"/>
                <a:cs typeface="JetBrains Mono" pitchFamily="34" charset="-120"/>
              </a:rPr>
              <a:t>4</a:t>
            </a:r>
            <a:endParaRPr lang="en-US" sz="2200" dirty="0"/>
          </a:p>
        </p:txBody>
      </p:sp>
      <p:sp>
        <p:nvSpPr>
          <p:cNvPr id="10" name="Text 8"/>
          <p:cNvSpPr/>
          <p:nvPr/>
        </p:nvSpPr>
        <p:spPr>
          <a:xfrm>
            <a:off x="5269309" y="5831880"/>
            <a:ext cx="255692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595AB"/>
                </a:solidFill>
                <a:latin typeface="IBM Plex Sans" pitchFamily="34" charset="0"/>
                <a:ea typeface="IBM Plex Sans" pitchFamily="34" charset="-122"/>
                <a:cs typeface="IBM Plex Sans" pitchFamily="34" charset="-120"/>
              </a:rPr>
              <a:t>gates between a sentence and a flag</a:t>
            </a:r>
            <a:endParaRPr lang="en-US" sz="1200" dirty="0"/>
          </a:p>
        </p:txBody>
      </p:sp>
      <p:sp>
        <p:nvSpPr>
          <p:cNvPr id="11" name="Text 9"/>
          <p:cNvSpPr/>
          <p:nvPr/>
        </p:nvSpPr>
        <p:spPr>
          <a:xfrm>
            <a:off x="8107363" y="5415359"/>
            <a:ext cx="2197506"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5FB8A6"/>
                </a:solidFill>
                <a:latin typeface="JetBrains Mono" pitchFamily="34" charset="0"/>
                <a:ea typeface="JetBrains Mono" pitchFamily="34" charset="-122"/>
                <a:cs typeface="JetBrains Mono" pitchFamily="34" charset="-120"/>
              </a:rPr>
              <a:t>59</a:t>
            </a:r>
            <a:endParaRPr lang="en-US" sz="2200" dirty="0"/>
          </a:p>
        </p:txBody>
      </p:sp>
      <p:sp>
        <p:nvSpPr>
          <p:cNvPr id="12" name="Text 10"/>
          <p:cNvSpPr/>
          <p:nvPr/>
        </p:nvSpPr>
        <p:spPr>
          <a:xfrm>
            <a:off x="8107363" y="5831880"/>
            <a:ext cx="21975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595AB"/>
                </a:solidFill>
                <a:latin typeface="IBM Plex Sans" pitchFamily="34" charset="0"/>
                <a:ea typeface="IBM Plex Sans" pitchFamily="34" charset="-122"/>
                <a:cs typeface="IBM Plex Sans" pitchFamily="34" charset="-120"/>
              </a:rPr>
              <a:t>automated tests, SQL executed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CORRECT · 01 — SCOPE</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Scoped to what AHCCCS actually pays</a:t>
            </a:r>
            <a:endParaRPr lang="en-US" sz="3300" dirty="0"/>
          </a:p>
        </p:txBody>
      </p:sp>
      <p:sp>
        <p:nvSpPr>
          <p:cNvPr id="4" name="Shape 2"/>
          <p:cNvSpPr/>
          <p:nvPr/>
        </p:nvSpPr>
        <p:spPr>
          <a:xfrm>
            <a:off x="815975" y="2578001"/>
            <a:ext cx="5149850" cy="1732657"/>
          </a:xfrm>
          <a:prstGeom prst="roundRect">
            <a:avLst>
              <a:gd name="adj" fmla="val 5681"/>
            </a:avLst>
          </a:prstGeom>
          <a:solidFill>
            <a:srgbClr val="FFFFFF"/>
          </a:solidFill>
          <a:ln w="6350">
            <a:solidFill>
              <a:srgbClr val="E3E6E4"/>
            </a:solidFill>
            <a:prstDash val="solid"/>
          </a:ln>
        </p:spPr>
      </p:sp>
      <p:sp>
        <p:nvSpPr>
          <p:cNvPr id="5" name="Text 3"/>
          <p:cNvSpPr/>
          <p:nvPr/>
        </p:nvSpPr>
        <p:spPr>
          <a:xfrm>
            <a:off x="1098550" y="2860576"/>
            <a:ext cx="4722241" cy="229791"/>
          </a:xfrm>
          <a:prstGeom prst="rect">
            <a:avLst/>
          </a:prstGeom>
          <a:noFill/>
          <a:ln/>
        </p:spPr>
        <p:txBody>
          <a:bodyPr wrap="square" lIns="0" tIns="0" rIns="0" bIns="0" rtlCol="0" anchor="t">
            <a:normAutofit/>
          </a:bodyPr>
          <a:lstStyle/>
          <a:p>
            <a:pPr algn="l" indent="0" marL="0">
              <a:lnSpc>
                <a:spcPts val="1610"/>
              </a:lnSpc>
              <a:buNone/>
            </a:pPr>
            <a:r>
              <a:rPr lang="en-US" sz="1150" spc="50" kern="0" dirty="0">
                <a:solidFill>
                  <a:srgbClr val="B4552E"/>
                </a:solidFill>
                <a:latin typeface="JetBrains Mono" pitchFamily="34" charset="0"/>
                <a:ea typeface="JetBrains Mono" pitchFamily="34" charset="-122"/>
                <a:cs typeface="JetBrains Mono" pitchFamily="34" charset="-120"/>
              </a:rPr>
              <a:t>WAS</a:t>
            </a:r>
            <a:endParaRPr lang="en-US" sz="1150" dirty="0"/>
          </a:p>
        </p:txBody>
      </p:sp>
      <p:sp>
        <p:nvSpPr>
          <p:cNvPr id="6" name="Text 4"/>
          <p:cNvSpPr/>
          <p:nvPr/>
        </p:nvSpPr>
        <p:spPr>
          <a:xfrm>
            <a:off x="1098550" y="3153866"/>
            <a:ext cx="4722241" cy="608211"/>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55627A"/>
                </a:solidFill>
                <a:latin typeface="IBM Plex Sans" pitchFamily="34" charset="0"/>
                <a:ea typeface="IBM Plex Sans" pitchFamily="34" charset="-122"/>
                <a:cs typeface="IBM Plex Sans" pitchFamily="34" charset="-120"/>
              </a:rPr>
              <a:t>A hardcoded list of ~23 codes. Demo queries capped at 5 rows.</a:t>
            </a:r>
            <a:endParaRPr lang="en-US" sz="1700" dirty="0"/>
          </a:p>
        </p:txBody>
      </p:sp>
      <p:sp>
        <p:nvSpPr>
          <p:cNvPr id="7" name="Shape 5"/>
          <p:cNvSpPr/>
          <p:nvPr/>
        </p:nvSpPr>
        <p:spPr>
          <a:xfrm>
            <a:off x="6226175" y="2578001"/>
            <a:ext cx="5149850" cy="1732657"/>
          </a:xfrm>
          <a:prstGeom prst="roundRect">
            <a:avLst>
              <a:gd name="adj" fmla="val 5681"/>
            </a:avLst>
          </a:prstGeom>
          <a:solidFill>
            <a:srgbClr val="FFFFFF"/>
          </a:solidFill>
          <a:ln w="6350">
            <a:solidFill>
              <a:srgbClr val="E3E6E4"/>
            </a:solidFill>
            <a:prstDash val="solid"/>
          </a:ln>
        </p:spPr>
      </p:sp>
      <p:sp>
        <p:nvSpPr>
          <p:cNvPr id="8" name="Text 6"/>
          <p:cNvSpPr/>
          <p:nvPr/>
        </p:nvSpPr>
        <p:spPr>
          <a:xfrm>
            <a:off x="6508750" y="2860576"/>
            <a:ext cx="4722241" cy="229791"/>
          </a:xfrm>
          <a:prstGeom prst="rect">
            <a:avLst/>
          </a:prstGeom>
          <a:noFill/>
          <a:ln/>
        </p:spPr>
        <p:txBody>
          <a:bodyPr wrap="square" lIns="0" tIns="0" rIns="0" bIns="0" rtlCol="0" anchor="t">
            <a:normAutofit/>
          </a:bodyPr>
          <a:lstStyle/>
          <a:p>
            <a:pPr algn="l" indent="0" marL="0">
              <a:lnSpc>
                <a:spcPts val="1610"/>
              </a:lnSpc>
              <a:buNone/>
            </a:pPr>
            <a:r>
              <a:rPr lang="en-US" sz="1150" spc="50" kern="0" dirty="0">
                <a:solidFill>
                  <a:srgbClr val="1F7A6B"/>
                </a:solidFill>
                <a:latin typeface="JetBrains Mono" pitchFamily="34" charset="0"/>
                <a:ea typeface="JetBrains Mono" pitchFamily="34" charset="-122"/>
                <a:cs typeface="JetBrains Mono" pitchFamily="34" charset="-120"/>
              </a:rPr>
              <a:t>NOW</a:t>
            </a:r>
            <a:endParaRPr lang="en-US" sz="1150" dirty="0"/>
          </a:p>
        </p:txBody>
      </p:sp>
      <p:sp>
        <p:nvSpPr>
          <p:cNvPr id="9" name="Text 7"/>
          <p:cNvSpPr/>
          <p:nvPr/>
        </p:nvSpPr>
        <p:spPr>
          <a:xfrm>
            <a:off x="6508750" y="3153866"/>
            <a:ext cx="4722241" cy="899616"/>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14273D"/>
                </a:solidFill>
                <a:latin typeface="IBM Plex Sans" pitchFamily="34" charset="0"/>
                <a:ea typeface="IBM Plex Sans" pitchFamily="34" charset="-122"/>
                <a:cs typeface="IBM Plex Sans" pitchFamily="34" charset="-120"/>
              </a:rPr>
              <a:t>The knowledge base scopes itself to every code actually paid across ~17M claim lines. Rules exist only where they can fire.</a:t>
            </a:r>
            <a:endParaRPr lang="en-US" sz="1700" dirty="0"/>
          </a:p>
        </p:txBody>
      </p:sp>
      <p:sp>
        <p:nvSpPr>
          <p:cNvPr id="10" name="Shape 8"/>
          <p:cNvSpPr/>
          <p:nvPr/>
        </p:nvSpPr>
        <p:spPr>
          <a:xfrm>
            <a:off x="831850" y="5278239"/>
            <a:ext cx="0" cy="627261"/>
          </a:xfrm>
          <a:prstGeom prst="line">
            <a:avLst/>
          </a:prstGeom>
          <a:noFill/>
          <a:ln w="38100">
            <a:solidFill>
              <a:srgbClr val="1F7A6B"/>
            </a:solidFill>
            <a:prstDash val="solid"/>
          </a:ln>
        </p:spPr>
      </p:sp>
      <p:sp>
        <p:nvSpPr>
          <p:cNvPr id="11" name="Text 9"/>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Why it matters:</a:t>
            </a:r>
            <a:r>
              <a:rPr lang="en-US" sz="1550" dirty="0">
                <a:solidFill>
                  <a:srgbClr val="14273D"/>
                </a:solidFill>
                <a:latin typeface="IBM Plex Sans" pitchFamily="34" charset="0"/>
                <a:ea typeface="IBM Plex Sans" pitchFamily="34" charset="-122"/>
                <a:cs typeface="IBM Plex Sans" pitchFamily="34" charset="-120"/>
              </a:rPr>
              <a:t> a rule for a code AHCCCS never pays is noise — it inflates the count and can never produce a finding. This is what makes the coverage-gap question answerable at all.</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CORRECT · 02 — FEDERAL FLOOR (NCCI)</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Correctness fixes to the federal edits</a:t>
            </a:r>
            <a:endParaRPr lang="en-US" sz="3300" dirty="0"/>
          </a:p>
        </p:txBody>
      </p:sp>
      <p:sp>
        <p:nvSpPr>
          <p:cNvPr id="4" name="Shape 2"/>
          <p:cNvSpPr/>
          <p:nvPr/>
        </p:nvSpPr>
        <p:spPr>
          <a:xfrm>
            <a:off x="815975" y="1874540"/>
            <a:ext cx="5187950" cy="1477665"/>
          </a:xfrm>
          <a:prstGeom prst="roundRect">
            <a:avLst>
              <a:gd name="adj" fmla="val 6661"/>
            </a:avLst>
          </a:prstGeom>
          <a:solidFill>
            <a:srgbClr val="FFFFFF"/>
          </a:solidFill>
          <a:ln w="6350">
            <a:solidFill>
              <a:srgbClr val="E3E6E4"/>
            </a:solidFill>
            <a:prstDash val="solid"/>
          </a:ln>
        </p:spPr>
      </p:sp>
      <p:sp>
        <p:nvSpPr>
          <p:cNvPr id="5" name="Text 3"/>
          <p:cNvSpPr/>
          <p:nvPr/>
        </p:nvSpPr>
        <p:spPr>
          <a:xfrm>
            <a:off x="1047750" y="2106315"/>
            <a:ext cx="4866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Time windows</a:t>
            </a:r>
            <a:endParaRPr lang="en-US" sz="1600" dirty="0"/>
          </a:p>
        </p:txBody>
      </p:sp>
      <p:sp>
        <p:nvSpPr>
          <p:cNvPr id="6" name="Text 4"/>
          <p:cNvSpPr/>
          <p:nvPr/>
        </p:nvSpPr>
        <p:spPr>
          <a:xfrm>
            <a:off x="1047750" y="2426295"/>
            <a:ext cx="4866132"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Each edit fires only between its real effective and deletion dates, deletion day inclusive. Before: one hardcoded date, deleted edits still firing.</a:t>
            </a:r>
            <a:endParaRPr lang="en-US" sz="1350" dirty="0"/>
          </a:p>
        </p:txBody>
      </p:sp>
      <p:sp>
        <p:nvSpPr>
          <p:cNvPr id="7" name="Shape 5"/>
          <p:cNvSpPr/>
          <p:nvPr/>
        </p:nvSpPr>
        <p:spPr>
          <a:xfrm>
            <a:off x="6188075" y="1874540"/>
            <a:ext cx="5187950" cy="1477665"/>
          </a:xfrm>
          <a:prstGeom prst="roundRect">
            <a:avLst>
              <a:gd name="adj" fmla="val 6661"/>
            </a:avLst>
          </a:prstGeom>
          <a:solidFill>
            <a:srgbClr val="FFFFFF"/>
          </a:solidFill>
          <a:ln w="6350">
            <a:solidFill>
              <a:srgbClr val="E3E6E4"/>
            </a:solidFill>
            <a:prstDash val="solid"/>
          </a:ln>
        </p:spPr>
      </p:sp>
      <p:sp>
        <p:nvSpPr>
          <p:cNvPr id="8" name="Text 6"/>
          <p:cNvSpPr/>
          <p:nvPr/>
        </p:nvSpPr>
        <p:spPr>
          <a:xfrm>
            <a:off x="6419850" y="2106315"/>
            <a:ext cx="4866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Reconstructed across quarters</a:t>
            </a:r>
            <a:endParaRPr lang="en-US" sz="1600" dirty="0"/>
          </a:p>
        </p:txBody>
      </p:sp>
      <p:sp>
        <p:nvSpPr>
          <p:cNvPr id="9" name="Text 7"/>
          <p:cNvSpPr/>
          <p:nvPr/>
        </p:nvSpPr>
        <p:spPr>
          <a:xfrm>
            <a:off x="6419850" y="2426295"/>
            <a:ext cx="4866132"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Unit limits rebuilt quarter by quarter and retired when CMS removes them. A missing quarter now stops the build instead of being papered over.</a:t>
            </a:r>
            <a:endParaRPr lang="en-US" sz="1350" dirty="0"/>
          </a:p>
        </p:txBody>
      </p:sp>
      <p:sp>
        <p:nvSpPr>
          <p:cNvPr id="10" name="Shape 8"/>
          <p:cNvSpPr/>
          <p:nvPr/>
        </p:nvSpPr>
        <p:spPr>
          <a:xfrm>
            <a:off x="815975" y="3536355"/>
            <a:ext cx="5187950" cy="1477665"/>
          </a:xfrm>
          <a:prstGeom prst="roundRect">
            <a:avLst>
              <a:gd name="adj" fmla="val 6661"/>
            </a:avLst>
          </a:prstGeom>
          <a:solidFill>
            <a:srgbClr val="FFFFFF"/>
          </a:solidFill>
          <a:ln w="6350">
            <a:solidFill>
              <a:srgbClr val="E3E6E4"/>
            </a:solidFill>
            <a:prstDash val="solid"/>
          </a:ln>
        </p:spPr>
      </p:sp>
      <p:sp>
        <p:nvSpPr>
          <p:cNvPr id="11" name="Text 9"/>
          <p:cNvSpPr/>
          <p:nvPr/>
        </p:nvSpPr>
        <p:spPr>
          <a:xfrm>
            <a:off x="1047750" y="3768130"/>
            <a:ext cx="4866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Unit adjudication</a:t>
            </a:r>
            <a:endParaRPr lang="en-US" sz="1600" dirty="0"/>
          </a:p>
        </p:txBody>
      </p:sp>
      <p:sp>
        <p:nvSpPr>
          <p:cNvPr id="12" name="Text 10"/>
          <p:cNvSpPr/>
          <p:nvPr/>
        </p:nvSpPr>
        <p:spPr>
          <a:xfrm>
            <a:off x="1047750" y="4088110"/>
            <a:ext cx="4866132"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Medicaid MUEs are claim-line edits, never summed across a day — straight from CMS's technical guidance. Per-line and per-day are distinct checks.</a:t>
            </a:r>
            <a:endParaRPr lang="en-US" sz="1350" dirty="0"/>
          </a:p>
        </p:txBody>
      </p:sp>
      <p:sp>
        <p:nvSpPr>
          <p:cNvPr id="13" name="Shape 11"/>
          <p:cNvSpPr/>
          <p:nvPr/>
        </p:nvSpPr>
        <p:spPr>
          <a:xfrm>
            <a:off x="6188075" y="3536355"/>
            <a:ext cx="5187950" cy="1477665"/>
          </a:xfrm>
          <a:prstGeom prst="roundRect">
            <a:avLst>
              <a:gd name="adj" fmla="val 6661"/>
            </a:avLst>
          </a:prstGeom>
          <a:solidFill>
            <a:srgbClr val="FFFFFF"/>
          </a:solidFill>
          <a:ln w="6350">
            <a:solidFill>
              <a:srgbClr val="E3E6E4"/>
            </a:solidFill>
            <a:prstDash val="solid"/>
          </a:ln>
        </p:spPr>
      </p:sp>
      <p:sp>
        <p:nvSpPr>
          <p:cNvPr id="14" name="Text 12"/>
          <p:cNvSpPr/>
          <p:nvPr/>
        </p:nvSpPr>
        <p:spPr>
          <a:xfrm>
            <a:off x="6419850" y="3768130"/>
            <a:ext cx="4866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Modifier bypass, the CMS way</a:t>
            </a:r>
            <a:endParaRPr lang="en-US" sz="1600" dirty="0"/>
          </a:p>
        </p:txBody>
      </p:sp>
      <p:sp>
        <p:nvSpPr>
          <p:cNvPr id="15" name="Text 13"/>
          <p:cNvSpPr/>
          <p:nvPr/>
        </p:nvSpPr>
        <p:spPr>
          <a:xfrm>
            <a:off x="6419850" y="4088110"/>
            <a:ext cx="4866132"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Full ~30-modifier set, only where a bypass is allowed — and CMS's exception: the same anatomic modifier on both lines does </a:t>
            </a:r>
            <a:r>
              <a:rPr lang="en-US" sz="1350" b="1" dirty="0">
                <a:solidFill>
                  <a:srgbClr val="55627A"/>
                </a:solidFill>
                <a:latin typeface="IBM Plex Sans" pitchFamily="34" charset="0"/>
                <a:ea typeface="IBM Plex Sans" pitchFamily="34" charset="-122"/>
                <a:cs typeface="IBM Plex Sans" pitchFamily="34" charset="-120"/>
              </a:rPr>
              <a:t>not</a:t>
            </a:r>
            <a:r>
              <a:rPr lang="en-US" sz="1350" dirty="0">
                <a:solidFill>
                  <a:srgbClr val="55627A"/>
                </a:solidFill>
                <a:latin typeface="IBM Plex Sans" pitchFamily="34" charset="0"/>
                <a:ea typeface="IBM Plex Sans" pitchFamily="34" charset="-122"/>
                <a:cs typeface="IBM Plex Sans" pitchFamily="34" charset="-120"/>
              </a:rPr>
              <a:t> bypass. The denied line is Column Two.</a:t>
            </a:r>
            <a:endParaRPr lang="en-US" sz="1350" dirty="0"/>
          </a:p>
        </p:txBody>
      </p:sp>
      <p:sp>
        <p:nvSpPr>
          <p:cNvPr id="16" name="Shape 14"/>
          <p:cNvSpPr/>
          <p:nvPr/>
        </p:nvSpPr>
        <p:spPr>
          <a:xfrm>
            <a:off x="831850" y="5278239"/>
            <a:ext cx="0" cy="627261"/>
          </a:xfrm>
          <a:prstGeom prst="line">
            <a:avLst/>
          </a:prstGeom>
          <a:noFill/>
          <a:ln w="38100">
            <a:solidFill>
              <a:srgbClr val="1F7A6B"/>
            </a:solidFill>
            <a:prstDash val="solid"/>
          </a:ln>
        </p:spPr>
      </p:sp>
      <p:sp>
        <p:nvSpPr>
          <p:cNvPr id="17" name="Text 15"/>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Why it matters:</a:t>
            </a:r>
            <a:r>
              <a:rPr lang="en-US" sz="1550" dirty="0">
                <a:solidFill>
                  <a:srgbClr val="14273D"/>
                </a:solidFill>
                <a:latin typeface="IBM Plex Sans" pitchFamily="34" charset="0"/>
                <a:ea typeface="IBM Plex Sans" pitchFamily="34" charset="-122"/>
                <a:cs typeface="IBM Plex Sans" pitchFamily="34" charset="-120"/>
              </a:rPr>
              <a:t> each of these was silently producing wrong flags — or missing real ones. In a fraud tool, both burn the investigator's time and the tool's credibility.</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CORRECT · 03 — SEMANTICS</a:t>
            </a:r>
            <a:endParaRPr lang="en-US" sz="1250" dirty="0"/>
          </a:p>
        </p:txBody>
      </p:sp>
      <p:sp>
        <p:nvSpPr>
          <p:cNvPr id="3" name="Text 1"/>
          <p:cNvSpPr/>
          <p:nvPr/>
        </p:nvSpPr>
        <p:spPr>
          <a:xfrm>
            <a:off x="812800" y="1149350"/>
            <a:ext cx="10883392" cy="947341"/>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Details that look small and decide whether a flag is right</a:t>
            </a:r>
            <a:endParaRPr lang="en-US" sz="3300" dirty="0"/>
          </a:p>
        </p:txBody>
      </p:sp>
      <p:sp>
        <p:nvSpPr>
          <p:cNvPr id="4" name="Shape 2"/>
          <p:cNvSpPr/>
          <p:nvPr/>
        </p:nvSpPr>
        <p:spPr>
          <a:xfrm>
            <a:off x="815975" y="2105025"/>
            <a:ext cx="5187950" cy="1477665"/>
          </a:xfrm>
          <a:prstGeom prst="roundRect">
            <a:avLst>
              <a:gd name="adj" fmla="val 6661"/>
            </a:avLst>
          </a:prstGeom>
          <a:solidFill>
            <a:srgbClr val="FFFFFF"/>
          </a:solidFill>
          <a:ln w="6350">
            <a:solidFill>
              <a:srgbClr val="E3E6E4"/>
            </a:solidFill>
            <a:prstDash val="solid"/>
          </a:ln>
        </p:spPr>
      </p:sp>
      <p:sp>
        <p:nvSpPr>
          <p:cNvPr id="5" name="Text 3"/>
          <p:cNvSpPr/>
          <p:nvPr/>
        </p:nvSpPr>
        <p:spPr>
          <a:xfrm>
            <a:off x="1047750" y="2336800"/>
            <a:ext cx="4866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Who is the pair scoped to?</a:t>
            </a:r>
            <a:endParaRPr lang="en-US" sz="1600" dirty="0"/>
          </a:p>
        </p:txBody>
      </p:sp>
      <p:sp>
        <p:nvSpPr>
          <p:cNvPr id="6" name="Text 4"/>
          <p:cNvSpPr/>
          <p:nvPr/>
        </p:nvSpPr>
        <p:spPr>
          <a:xfrm>
            <a:off x="1047750" y="2656780"/>
            <a:ext cx="4866132"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NCCI pairs are per provider. AHCCCS says "for the same member" — so two providers splitting a prohibited pair must still be caught. Scope is now an explicit field.</a:t>
            </a:r>
            <a:endParaRPr lang="en-US" sz="1350" dirty="0"/>
          </a:p>
        </p:txBody>
      </p:sp>
      <p:sp>
        <p:nvSpPr>
          <p:cNvPr id="7" name="Shape 5"/>
          <p:cNvSpPr/>
          <p:nvPr/>
        </p:nvSpPr>
        <p:spPr>
          <a:xfrm>
            <a:off x="6188075" y="2105025"/>
            <a:ext cx="5187950" cy="1477665"/>
          </a:xfrm>
          <a:prstGeom prst="roundRect">
            <a:avLst>
              <a:gd name="adj" fmla="val 6661"/>
            </a:avLst>
          </a:prstGeom>
          <a:solidFill>
            <a:srgbClr val="FFFFFF"/>
          </a:solidFill>
          <a:ln w="6350">
            <a:solidFill>
              <a:srgbClr val="E3E6E4"/>
            </a:solidFill>
            <a:prstDash val="solid"/>
          </a:ln>
        </p:spPr>
      </p:sp>
      <p:sp>
        <p:nvSpPr>
          <p:cNvPr id="8" name="Text 6"/>
          <p:cNvSpPr/>
          <p:nvPr/>
        </p:nvSpPr>
        <p:spPr>
          <a:xfrm>
            <a:off x="6419850" y="2336800"/>
            <a:ext cx="4866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Prior authorization: three outcomes</a:t>
            </a:r>
            <a:endParaRPr lang="en-US" sz="1600" dirty="0"/>
          </a:p>
        </p:txBody>
      </p:sp>
      <p:sp>
        <p:nvSpPr>
          <p:cNvPr id="9" name="Text 7"/>
          <p:cNvSpPr/>
          <p:nvPr/>
        </p:nvSpPr>
        <p:spPr>
          <a:xfrm>
            <a:off x="6419850" y="2656780"/>
            <a:ext cx="4866132"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Over the limit with a PA number → </a:t>
            </a:r>
            <a:r>
              <a:rPr lang="en-US" sz="1350" b="1" dirty="0">
                <a:solidFill>
                  <a:srgbClr val="55627A"/>
                </a:solidFill>
                <a:latin typeface="IBM Plex Sans" pitchFamily="34" charset="0"/>
                <a:ea typeface="IBM Plex Sans" pitchFamily="34" charset="-122"/>
                <a:cs typeface="IBM Plex Sans" pitchFamily="34" charset="-120"/>
              </a:rPr>
              <a:t>verify</a:t>
            </a:r>
            <a:r>
              <a:rPr lang="en-US" sz="1350" dirty="0">
                <a:solidFill>
                  <a:srgbClr val="55627A"/>
                </a:solidFill>
                <a:latin typeface="IBM Plex Sans" pitchFamily="34" charset="0"/>
                <a:ea typeface="IBM Plex Sans" pitchFamily="34" charset="-122"/>
                <a:cs typeface="IBM Plex Sans" pitchFamily="34" charset="-120"/>
              </a:rPr>
              <a:t>. Without one → </a:t>
            </a:r>
            <a:r>
              <a:rPr lang="en-US" sz="1350" b="1" dirty="0">
                <a:solidFill>
                  <a:srgbClr val="55627A"/>
                </a:solidFill>
                <a:latin typeface="IBM Plex Sans" pitchFamily="34" charset="0"/>
                <a:ea typeface="IBM Plex Sans" pitchFamily="34" charset="-122"/>
                <a:cs typeface="IBM Plex Sans" pitchFamily="34" charset="-120"/>
              </a:rPr>
              <a:t>candidate</a:t>
            </a:r>
            <a:r>
              <a:rPr lang="en-US" sz="1350" dirty="0">
                <a:solidFill>
                  <a:srgbClr val="55627A"/>
                </a:solidFill>
                <a:latin typeface="IBM Plex Sans" pitchFamily="34" charset="0"/>
                <a:ea typeface="IBM Plex Sans" pitchFamily="34" charset="-122"/>
                <a:cs typeface="IBM Plex Sans" pitchFamily="34" charset="-120"/>
              </a:rPr>
              <a:t>. A PA never silently suppresses a finding, and never touches an NCCI edit.</a:t>
            </a:r>
            <a:endParaRPr lang="en-US" sz="1350" dirty="0"/>
          </a:p>
        </p:txBody>
      </p:sp>
      <p:sp>
        <p:nvSpPr>
          <p:cNvPr id="10" name="Shape 8"/>
          <p:cNvSpPr/>
          <p:nvPr/>
        </p:nvSpPr>
        <p:spPr>
          <a:xfrm>
            <a:off x="815975" y="3766840"/>
            <a:ext cx="5187950" cy="1477665"/>
          </a:xfrm>
          <a:prstGeom prst="roundRect">
            <a:avLst>
              <a:gd name="adj" fmla="val 6661"/>
            </a:avLst>
          </a:prstGeom>
          <a:solidFill>
            <a:srgbClr val="FFFFFF"/>
          </a:solidFill>
          <a:ln w="6350">
            <a:solidFill>
              <a:srgbClr val="E3E6E4"/>
            </a:solidFill>
            <a:prstDash val="solid"/>
          </a:ln>
        </p:spPr>
      </p:sp>
      <p:sp>
        <p:nvSpPr>
          <p:cNvPr id="11" name="Text 9"/>
          <p:cNvSpPr/>
          <p:nvPr/>
        </p:nvSpPr>
        <p:spPr>
          <a:xfrm>
            <a:off x="1047750" y="3998615"/>
            <a:ext cx="4866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Rules with a population</a:t>
            </a:r>
            <a:endParaRPr lang="en-US" sz="1600" dirty="0"/>
          </a:p>
        </p:txBody>
      </p:sp>
      <p:sp>
        <p:nvSpPr>
          <p:cNvPr id="12" name="Text 10"/>
          <p:cNvSpPr/>
          <p:nvPr/>
        </p:nvSpPr>
        <p:spPr>
          <a:xfrm>
            <a:off x="1047750" y="4318595"/>
            <a:ext cx="4866132"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"Members under 21" cannot compile against every member. Until the grammar carries conditions, such a rule is a reviewed lead, not a detector.</a:t>
            </a:r>
            <a:endParaRPr lang="en-US" sz="1350" dirty="0"/>
          </a:p>
        </p:txBody>
      </p:sp>
      <p:sp>
        <p:nvSpPr>
          <p:cNvPr id="13" name="Shape 11"/>
          <p:cNvSpPr/>
          <p:nvPr/>
        </p:nvSpPr>
        <p:spPr>
          <a:xfrm>
            <a:off x="6188075" y="3766840"/>
            <a:ext cx="5187950" cy="1477665"/>
          </a:xfrm>
          <a:prstGeom prst="roundRect">
            <a:avLst>
              <a:gd name="adj" fmla="val 6661"/>
            </a:avLst>
          </a:prstGeom>
          <a:solidFill>
            <a:srgbClr val="FFFFFF"/>
          </a:solidFill>
          <a:ln w="6350">
            <a:solidFill>
              <a:srgbClr val="E3E6E4"/>
            </a:solidFill>
            <a:prstDash val="solid"/>
          </a:ln>
        </p:spPr>
      </p:sp>
      <p:sp>
        <p:nvSpPr>
          <p:cNvPr id="14" name="Text 12"/>
          <p:cNvSpPr/>
          <p:nvPr/>
        </p:nvSpPr>
        <p:spPr>
          <a:xfrm>
            <a:off x="6419850" y="3998615"/>
            <a:ext cx="4866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Annual limits reset in October</a:t>
            </a:r>
            <a:endParaRPr lang="en-US" sz="1600" dirty="0"/>
          </a:p>
        </p:txBody>
      </p:sp>
      <p:sp>
        <p:nvSpPr>
          <p:cNvPr id="15" name="Text 13"/>
          <p:cNvSpPr/>
          <p:nvPr/>
        </p:nvSpPr>
        <p:spPr>
          <a:xfrm>
            <a:off x="6419850" y="4318595"/>
            <a:ext cx="4866132"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AHCCCS's contract year is Oct 1 – Sep 30, not the calendar or state fiscal year. One reviewer got this wrong; the manual settled it.</a:t>
            </a:r>
            <a:endParaRPr lang="en-US" sz="1350" dirty="0"/>
          </a:p>
        </p:txBody>
      </p:sp>
      <p:sp>
        <p:nvSpPr>
          <p:cNvPr id="16" name="Shape 14"/>
          <p:cNvSpPr/>
          <p:nvPr/>
        </p:nvSpPr>
        <p:spPr>
          <a:xfrm>
            <a:off x="831850" y="5278239"/>
            <a:ext cx="0" cy="627261"/>
          </a:xfrm>
          <a:prstGeom prst="line">
            <a:avLst/>
          </a:prstGeom>
          <a:noFill/>
          <a:ln w="38100">
            <a:solidFill>
              <a:srgbClr val="1F7A6B"/>
            </a:solidFill>
            <a:prstDash val="solid"/>
          </a:ln>
        </p:spPr>
      </p:sp>
      <p:sp>
        <p:nvSpPr>
          <p:cNvPr id="17" name="Text 15"/>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Why it matters:</a:t>
            </a:r>
            <a:r>
              <a:rPr lang="en-US" sz="1550" dirty="0">
                <a:solidFill>
                  <a:srgbClr val="14273D"/>
                </a:solidFill>
                <a:latin typeface="IBM Plex Sans" pitchFamily="34" charset="0"/>
                <a:ea typeface="IBM Plex Sans" pitchFamily="34" charset="-122"/>
                <a:cs typeface="IBM Plex Sans" pitchFamily="34" charset="-120"/>
              </a:rPr>
              <a:t> every one of these was a false-positive or false-negative path. Each is now a test that </a:t>
            </a:r>
            <a:r>
              <a:rPr lang="en-US" sz="1550" i="1" dirty="0">
                <a:solidFill>
                  <a:srgbClr val="14273D"/>
                </a:solidFill>
                <a:latin typeface="IBM Plex Sans" pitchFamily="34" charset="0"/>
                <a:ea typeface="IBM Plex Sans" pitchFamily="34" charset="-122"/>
                <a:cs typeface="IBM Plex Sans" pitchFamily="34" charset="-120"/>
              </a:rPr>
              <a:t>executes</a:t>
            </a:r>
            <a:r>
              <a:rPr lang="en-US" sz="1550" dirty="0">
                <a:solidFill>
                  <a:srgbClr val="14273D"/>
                </a:solidFill>
                <a:latin typeface="IBM Plex Sans" pitchFamily="34" charset="0"/>
                <a:ea typeface="IBM Plex Sans" pitchFamily="34" charset="-122"/>
                <a:cs typeface="IBM Plex Sans" pitchFamily="34" charset="-120"/>
              </a:rPr>
              <a:t> the generated SQL against synthetic claims — string inspection is how the first one slipped through.</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CORRECT · 04 — PRIMARY SOURCES</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Settled by the document, not by an opinion</a:t>
            </a:r>
            <a:endParaRPr lang="en-US" sz="3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766689"/>
          <a:ext cx="10566400" cy="3342481"/>
        </p:xfrm>
        <a:graphic>
          <a:graphicData uri="http://schemas.openxmlformats.org/drawingml/2006/table">
            <a:tbl>
              <a:tblPr/>
              <a:tblGrid>
                <a:gridCol w="5494528"/>
                <a:gridCol w="2747264"/>
                <a:gridCol w="2324608"/>
              </a:tblGrid>
              <a:tr h="443210">
                <a:tc>
                  <a:txBody>
                    <a:bodyPr/>
                    <a:lstStyle/>
                    <a:p>
                      <a:pPr indent="0" marL="0">
                        <a:lnSpc>
                          <a:spcPts val="1890"/>
                        </a:lnSpc>
                        <a:buNone/>
                      </a:pPr>
                      <a:r>
                        <a:rPr lang="en-US" sz="1350" b="1" dirty="0">
                          <a:solidFill>
                            <a:srgbClr val="F5F6F4"/>
                          </a:solidFill>
                          <a:latin typeface="IBM Plex Sans" pitchFamily="34" charset="0"/>
                          <a:ea typeface="IBM Plex Sans" pitchFamily="34" charset="-122"/>
                          <a:cs typeface="IBM Plex Sans" pitchFamily="34" charset="-120"/>
                        </a:rPr>
                        <a:t>Fact the system depends on</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12233A"/>
                    </a:solidFill>
                  </a:tcPr>
                </a:tc>
                <a:tc>
                  <a:txBody>
                    <a:bodyPr/>
                    <a:lstStyle/>
                    <a:p>
                      <a:pPr indent="0" marL="0">
                        <a:lnSpc>
                          <a:spcPts val="1890"/>
                        </a:lnSpc>
                        <a:buNone/>
                      </a:pPr>
                      <a:r>
                        <a:rPr lang="en-US" sz="1350" b="1" dirty="0">
                          <a:solidFill>
                            <a:srgbClr val="F5F6F4"/>
                          </a:solidFill>
                          <a:latin typeface="IBM Plex Sans" pitchFamily="34" charset="0"/>
                          <a:ea typeface="IBM Plex Sans" pitchFamily="34" charset="-122"/>
                          <a:cs typeface="IBM Plex Sans" pitchFamily="34" charset="-120"/>
                        </a:rPr>
                        <a:t>Verified against</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12233A"/>
                    </a:solidFill>
                  </a:tcPr>
                </a:tc>
                <a:tc>
                  <a:txBody>
                    <a:bodyPr/>
                    <a:lstStyle/>
                    <a:p>
                      <a:pPr indent="0" marL="0">
                        <a:lnSpc>
                          <a:spcPts val="1890"/>
                        </a:lnSpc>
                        <a:buNone/>
                      </a:pPr>
                      <a:r>
                        <a:rPr lang="en-US" sz="1350" b="1" dirty="0">
                          <a:solidFill>
                            <a:srgbClr val="F5F6F4"/>
                          </a:solidFill>
                          <a:latin typeface="IBM Plex Sans" pitchFamily="34" charset="0"/>
                          <a:ea typeface="IBM Plex Sans" pitchFamily="34" charset="-122"/>
                          <a:cs typeface="IBM Plex Sans" pitchFamily="34" charset="-120"/>
                        </a:rPr>
                        <a:t>Who had it wrong</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12233A"/>
                    </a:solidFill>
                  </a:tcPr>
                </a:tc>
              </a:tr>
              <a:tr h="443210">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Annual member limits reset on the contract year, Oct 1 – Sep 30</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AHCCCS FFS Ch. 10</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90"/>
                        </a:lnSpc>
                        <a:buNone/>
                      </a:pPr>
                      <a:r>
                        <a:rPr lang="en-US" sz="1350" dirty="0">
                          <a:solidFill>
                            <a:srgbClr val="B4552E"/>
                          </a:solidFill>
                          <a:latin typeface="IBM Plex Sans" pitchFamily="34" charset="0"/>
                          <a:ea typeface="IBM Plex Sans" pitchFamily="34" charset="-122"/>
                          <a:cs typeface="IBM Plex Sans" pitchFamily="34" charset="-120"/>
                        </a:rPr>
                        <a:t>Gemini (state fiscal year)</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r>
              <a:tr h="443210">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Medicaid MUEs are per claim line, not summed per day</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CMS NCCI guidance 2026</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90"/>
                        </a:lnSpc>
                        <a:buNone/>
                      </a:pPr>
                      <a:r>
                        <a:rPr lang="en-US" sz="1350" dirty="0">
                          <a:solidFill>
                            <a:srgbClr val="B4552E"/>
                          </a:solidFill>
                          <a:latin typeface="IBM Plex Sans" pitchFamily="34" charset="0"/>
                          <a:ea typeface="IBM Plex Sans" pitchFamily="34" charset="-122"/>
                          <a:cs typeface="IBM Plex Sans" pitchFamily="34" charset="-120"/>
                        </a:rPr>
                        <a:t>Gemini</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r>
              <a:tr h="443210">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Same anatomic modifier on both lines does not bypass a PTP edit</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CMS NCCI guidance 2026</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90"/>
                        </a:lnSpc>
                        <a:buNone/>
                      </a:pPr>
                      <a:r>
                        <a:rPr lang="en-US" sz="1350" dirty="0">
                          <a:solidFill>
                            <a:srgbClr val="B4552E"/>
                          </a:solidFill>
                          <a:latin typeface="IBM Plex Sans" pitchFamily="34" charset="0"/>
                          <a:ea typeface="IBM Plex Sans" pitchFamily="34" charset="-122"/>
                          <a:cs typeface="IBM Plex Sans" pitchFamily="34" charset="-120"/>
                        </a:rPr>
                        <a:t>Our own compiler</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r>
              <a:tr h="443210">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The Column Two code is the one denied</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CMS NCCI guidance 2026</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90"/>
                        </a:lnSpc>
                        <a:buNone/>
                      </a:pPr>
                      <a:r>
                        <a:rPr lang="en-US" sz="1350" dirty="0">
                          <a:solidFill>
                            <a:srgbClr val="B4552E"/>
                          </a:solidFill>
                          <a:latin typeface="IBM Plex Sans" pitchFamily="34" charset="0"/>
                          <a:ea typeface="IBM Plex Sans" pitchFamily="34" charset="-122"/>
                          <a:cs typeface="IBM Plex Sans" pitchFamily="34" charset="-120"/>
                        </a:rPr>
                        <a:t>Our own compiler</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r>
              <a:tr h="443210">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Prior authorization is not an NCCI bypass</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CMS NCCI guidance 2026</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r>
              <a:tr h="683220">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CHW codes: all three cannot be billed same day; PA covers "additional services"</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90"/>
                        </a:lnSpc>
                        <a:buNone/>
                      </a:pPr>
                      <a:r>
                        <a:rPr lang="en-US" sz="1350" dirty="0">
                          <a:solidFill>
                            <a:srgbClr val="14273D"/>
                          </a:solidFill>
                          <a:latin typeface="IBM Plex Sans" pitchFamily="34" charset="0"/>
                          <a:ea typeface="IBM Plex Sans" pitchFamily="34" charset="-122"/>
                          <a:cs typeface="IBM Plex Sans" pitchFamily="34" charset="-120"/>
                        </a:rPr>
                        <a:t>AHCCCS FFS Ch. 10, p. 9</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90"/>
                        </a:lnSpc>
                        <a:buNone/>
                      </a:pPr>
                      <a:r>
                        <a:rPr lang="en-US" sz="1350" dirty="0">
                          <a:solidFill>
                            <a:srgbClr val="B4552E"/>
                          </a:solidFill>
                          <a:latin typeface="IBM Plex Sans" pitchFamily="34" charset="0"/>
                          <a:ea typeface="IBM Plex Sans" pitchFamily="34" charset="-122"/>
                          <a:cs typeface="IBM Plex Sans" pitchFamily="34" charset="-120"/>
                        </a:rPr>
                        <a:t>Our seed (1 of 3 pairs)</a:t>
                      </a:r>
                      <a:endParaRPr lang="en-US" sz="135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r>
            </a:tbl>
          </a:graphicData>
        </a:graphic>
      </p:graphicFrame>
      <p:sp>
        <p:nvSpPr>
          <p:cNvPr id="5" name="Shape 2"/>
          <p:cNvSpPr/>
          <p:nvPr/>
        </p:nvSpPr>
        <p:spPr>
          <a:xfrm>
            <a:off x="831850" y="5278239"/>
            <a:ext cx="0" cy="627261"/>
          </a:xfrm>
          <a:prstGeom prst="line">
            <a:avLst/>
          </a:prstGeom>
          <a:noFill/>
          <a:ln w="38100">
            <a:solidFill>
              <a:srgbClr val="1F7A6B"/>
            </a:solidFill>
            <a:prstDash val="solid"/>
          </a:ln>
        </p:spPr>
      </p:sp>
      <p:sp>
        <p:nvSpPr>
          <p:cNvPr id="6" name="Text 3"/>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The rule:</a:t>
            </a:r>
            <a:r>
              <a:rPr lang="en-US" sz="1550" dirty="0">
                <a:solidFill>
                  <a:srgbClr val="14273D"/>
                </a:solidFill>
                <a:latin typeface="IBM Plex Sans" pitchFamily="34" charset="0"/>
                <a:ea typeface="IBM Plex Sans" pitchFamily="34" charset="-122"/>
                <a:cs typeface="IBM Plex Sans" pitchFamily="34" charset="-120"/>
              </a:rPr>
              <a:t> when two AI reviewers disagree — or agree — the manual and the CMS guidance are the referee. Every row here is a verbatim quote we can put on screen.</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CORRECT · 05 — ROUTING</a:t>
            </a:r>
            <a:endParaRPr lang="en-US" sz="1250" dirty="0"/>
          </a:p>
        </p:txBody>
      </p:sp>
      <p:sp>
        <p:nvSpPr>
          <p:cNvPr id="3" name="Text 1"/>
          <p:cNvSpPr/>
          <p:nvPr/>
        </p:nvSpPr>
        <p:spPr>
          <a:xfrm>
            <a:off x="812800" y="1149350"/>
            <a:ext cx="10883392" cy="947341"/>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We tested an assumption against the data — and it was wrong</a:t>
            </a:r>
            <a:endParaRPr lang="en-US" sz="3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2541389"/>
          <a:ext cx="5137150" cy="2254052"/>
        </p:xfrm>
        <a:graphic>
          <a:graphicData uri="http://schemas.openxmlformats.org/drawingml/2006/table">
            <a:tbl>
              <a:tblPr/>
              <a:tblGrid>
                <a:gridCol w="2260346"/>
                <a:gridCol w="2876804"/>
              </a:tblGrid>
              <a:tr h="499070">
                <a:tc>
                  <a:txBody>
                    <a:bodyPr/>
                    <a:lstStyle/>
                    <a:p>
                      <a:pPr indent="0" marL="0">
                        <a:lnSpc>
                          <a:spcPts val="2030"/>
                        </a:lnSpc>
                        <a:buNone/>
                      </a:pPr>
                      <a:r>
                        <a:rPr lang="en-US" sz="1450" b="1" dirty="0">
                          <a:solidFill>
                            <a:srgbClr val="F5F6F4"/>
                          </a:solidFill>
                          <a:latin typeface="IBM Plex Sans" pitchFamily="34" charset="0"/>
                          <a:ea typeface="IBM Plex Sans" pitchFamily="34" charset="-122"/>
                          <a:cs typeface="IBM Plex Sans" pitchFamily="34" charset="-120"/>
                        </a:rPr>
                        <a:t>NCCI edition</a:t>
                      </a:r>
                      <a:endParaRPr lang="en-US" sz="1450" dirty="0">
                        <a:latin typeface="IBM Plex Sans" charset="0"/>
                        <a:ea typeface="IBM Plex Sans" charset="0"/>
                        <a:cs typeface="IBM Plex Sans" charset="0"/>
                      </a:endParaRPr>
                    </a:p>
                  </a:txBody>
                  <a:tcPr marL="139700" marR="139700" marT="114300" marB="11430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12233A"/>
                    </a:solidFill>
                  </a:tcPr>
                </a:tc>
                <a:tc>
                  <a:txBody>
                    <a:bodyPr/>
                    <a:lstStyle/>
                    <a:p>
                      <a:pPr indent="0" marL="0">
                        <a:lnSpc>
                          <a:spcPts val="2030"/>
                        </a:lnSpc>
                        <a:buNone/>
                      </a:pPr>
                      <a:r>
                        <a:rPr lang="en-US" sz="1450" b="1" dirty="0">
                          <a:solidFill>
                            <a:srgbClr val="F5F6F4"/>
                          </a:solidFill>
                          <a:latin typeface="IBM Plex Sans" pitchFamily="34" charset="0"/>
                          <a:ea typeface="IBM Plex Sans" pitchFamily="34" charset="-122"/>
                          <a:cs typeface="IBM Plex Sans" pitchFamily="34" charset="-120"/>
                        </a:rPr>
                        <a:t>Where its codes actually land</a:t>
                      </a:r>
                      <a:endParaRPr lang="en-US" sz="1450" dirty="0">
                        <a:latin typeface="IBM Plex Sans" charset="0"/>
                        <a:ea typeface="IBM Plex Sans" charset="0"/>
                        <a:cs typeface="IBM Plex Sans" charset="0"/>
                      </a:endParaRPr>
                    </a:p>
                  </a:txBody>
                  <a:tcPr marL="139700" marR="139700" marT="114300" marB="11430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12233A"/>
                    </a:solidFill>
                  </a:tcPr>
                </a:tc>
              </a:tr>
              <a:tr h="756841">
                <a:tc>
                  <a:txBody>
                    <a:bodyPr/>
                    <a:lstStyle/>
                    <a:p>
                      <a:pPr indent="0" marL="0">
                        <a:lnSpc>
                          <a:spcPts val="2030"/>
                        </a:lnSpc>
                        <a:buNone/>
                      </a:pPr>
                      <a:r>
                        <a:rPr lang="en-US" sz="1450" dirty="0">
                          <a:solidFill>
                            <a:srgbClr val="14273D"/>
                          </a:solidFill>
                          <a:latin typeface="IBM Plex Sans" pitchFamily="34" charset="0"/>
                          <a:ea typeface="IBM Plex Sans" pitchFamily="34" charset="-122"/>
                          <a:cs typeface="IBM Plex Sans" pitchFamily="34" charset="-120"/>
                        </a:rPr>
                        <a:t>DME</a:t>
                      </a:r>
                      <a:endParaRPr lang="en-US" sz="1450" dirty="0">
                        <a:latin typeface="IBM Plex Sans" charset="0"/>
                        <a:ea typeface="IBM Plex Sans" charset="0"/>
                        <a:cs typeface="IBM Plex Sans" charset="0"/>
                      </a:endParaRPr>
                    </a:p>
                  </a:txBody>
                  <a:tcPr marL="139700" marR="139700" marT="114300" marB="11430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2030"/>
                        </a:lnSpc>
                        <a:buNone/>
                      </a:pPr>
                      <a:r>
                        <a:rPr lang="en-US" sz="1450" dirty="0">
                          <a:solidFill>
                            <a:srgbClr val="14273D"/>
                          </a:solidFill>
                          <a:latin typeface="IBM Plex Sans" pitchFamily="34" charset="0"/>
                          <a:ea typeface="IBM Plex Sans" pitchFamily="34" charset="-122"/>
                          <a:cs typeface="IBM Plex Sans" pitchFamily="34" charset="-120"/>
                        </a:rPr>
                        <a:t>form A — 162k lines (same as practitioner)</a:t>
                      </a:r>
                      <a:endParaRPr lang="en-US" sz="1450" dirty="0">
                        <a:latin typeface="IBM Plex Sans" charset="0"/>
                        <a:ea typeface="IBM Plex Sans" charset="0"/>
                        <a:cs typeface="IBM Plex Sans" charset="0"/>
                      </a:endParaRPr>
                    </a:p>
                  </a:txBody>
                  <a:tcPr marL="139700" marR="139700" marT="114300" marB="11430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r>
              <a:tr h="499070">
                <a:tc>
                  <a:txBody>
                    <a:bodyPr/>
                    <a:lstStyle/>
                    <a:p>
                      <a:pPr indent="0" marL="0">
                        <a:lnSpc>
                          <a:spcPts val="2030"/>
                        </a:lnSpc>
                        <a:buNone/>
                      </a:pPr>
                      <a:r>
                        <a:rPr lang="en-US" sz="1450" dirty="0">
                          <a:solidFill>
                            <a:srgbClr val="14273D"/>
                          </a:solidFill>
                          <a:latin typeface="IBM Plex Sans" pitchFamily="34" charset="0"/>
                          <a:ea typeface="IBM Plex Sans" pitchFamily="34" charset="-122"/>
                          <a:cs typeface="IBM Plex Sans" pitchFamily="34" charset="-120"/>
                        </a:rPr>
                        <a:t>Outpatient</a:t>
                      </a:r>
                      <a:endParaRPr lang="en-US" sz="1450" dirty="0">
                        <a:latin typeface="IBM Plex Sans" charset="0"/>
                        <a:ea typeface="IBM Plex Sans" charset="0"/>
                        <a:cs typeface="IBM Plex Sans" charset="0"/>
                      </a:endParaRPr>
                    </a:p>
                  </a:txBody>
                  <a:tcPr marL="139700" marR="139700" marT="114300" marB="11430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2030"/>
                        </a:lnSpc>
                        <a:buNone/>
                      </a:pPr>
                      <a:r>
                        <a:rPr lang="en-US" sz="1450" dirty="0">
                          <a:solidFill>
                            <a:srgbClr val="14273D"/>
                          </a:solidFill>
                          <a:latin typeface="IBM Plex Sans" pitchFamily="34" charset="0"/>
                          <a:ea typeface="IBM Plex Sans" pitchFamily="34" charset="-122"/>
                          <a:cs typeface="IBM Plex Sans" pitchFamily="34" charset="-120"/>
                        </a:rPr>
                        <a:t>96% on A, 4% on D</a:t>
                      </a:r>
                      <a:endParaRPr lang="en-US" sz="1450" dirty="0">
                        <a:latin typeface="IBM Plex Sans" charset="0"/>
                        <a:ea typeface="IBM Plex Sans" charset="0"/>
                        <a:cs typeface="IBM Plex Sans" charset="0"/>
                      </a:endParaRPr>
                    </a:p>
                  </a:txBody>
                  <a:tcPr marL="139700" marR="139700" marT="114300" marB="11430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r>
              <a:tr h="499070">
                <a:tc>
                  <a:txBody>
                    <a:bodyPr/>
                    <a:lstStyle/>
                    <a:p>
                      <a:pPr indent="0" marL="0">
                        <a:lnSpc>
                          <a:spcPts val="2030"/>
                        </a:lnSpc>
                        <a:buNone/>
                      </a:pPr>
                      <a:r>
                        <a:rPr lang="en-US" sz="1450" dirty="0">
                          <a:solidFill>
                            <a:srgbClr val="14273D"/>
                          </a:solidFill>
                          <a:latin typeface="IBM Plex Sans" pitchFamily="34" charset="0"/>
                          <a:ea typeface="IBM Plex Sans" pitchFamily="34" charset="-122"/>
                          <a:cs typeface="IBM Plex Sans" pitchFamily="34" charset="-120"/>
                        </a:rPr>
                        <a:t>We looked for form 'O'</a:t>
                      </a:r>
                      <a:endParaRPr lang="en-US" sz="1450" dirty="0">
                        <a:latin typeface="IBM Plex Sans" charset="0"/>
                        <a:ea typeface="IBM Plex Sans" charset="0"/>
                        <a:cs typeface="IBM Plex Sans" charset="0"/>
                      </a:endParaRPr>
                    </a:p>
                  </a:txBody>
                  <a:tcPr marL="139700" marR="139700" marT="114300" marB="11430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2030"/>
                        </a:lnSpc>
                        <a:buNone/>
                      </a:pPr>
                      <a:r>
                        <a:rPr lang="en-US" sz="1450" dirty="0">
                          <a:solidFill>
                            <a:srgbClr val="B4552E"/>
                          </a:solidFill>
                          <a:latin typeface="IBM Plex Sans" pitchFamily="34" charset="0"/>
                          <a:ea typeface="IBM Plex Sans" pitchFamily="34" charset="-122"/>
                          <a:cs typeface="IBM Plex Sans" pitchFamily="34" charset="-120"/>
                        </a:rPr>
                        <a:t>it does not exist</a:t>
                      </a:r>
                      <a:endParaRPr lang="en-US" sz="1450" dirty="0">
                        <a:latin typeface="IBM Plex Sans" charset="0"/>
                        <a:ea typeface="IBM Plex Sans" charset="0"/>
                        <a:cs typeface="IBM Plex Sans" charset="0"/>
                      </a:endParaRPr>
                    </a:p>
                  </a:txBody>
                  <a:tcPr marL="139700" marR="139700" marT="114300" marB="11430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r>
            </a:tbl>
          </a:graphicData>
        </a:graphic>
      </p:graphicFrame>
      <p:sp>
        <p:nvSpPr>
          <p:cNvPr id="5" name="Text 2"/>
          <p:cNvSpPr/>
          <p:nvPr/>
        </p:nvSpPr>
        <p:spPr>
          <a:xfrm>
            <a:off x="6254750" y="2698254"/>
            <a:ext cx="5278184" cy="848122"/>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14273D"/>
                </a:solidFill>
                <a:latin typeface="IBM Plex Sans" pitchFamily="34" charset="0"/>
                <a:ea typeface="IBM Plex Sans" pitchFamily="34" charset="-122"/>
                <a:cs typeface="IBM Plex Sans" pitchFamily="34" charset="-120"/>
              </a:rPr>
              <a:t>Claim form does not identify NCCI edition</a:t>
            </a:r>
            <a:r>
              <a:rPr lang="en-US" sz="1600" dirty="0">
                <a:solidFill>
                  <a:srgbClr val="14273D"/>
                </a:solidFill>
                <a:latin typeface="IBM Plex Sans" pitchFamily="34" charset="0"/>
                <a:ea typeface="IBM Plex Sans" pitchFamily="34" charset="-122"/>
                <a:cs typeface="IBM Plex Sans" pitchFamily="34" charset="-120"/>
              </a:rPr>
              <a:t> — all three editions land on the same form. CMS says editions apply by claim context, and our data cannot supply it.</a:t>
            </a:r>
            <a:endParaRPr lang="en-US" sz="1600" dirty="0"/>
          </a:p>
        </p:txBody>
      </p:sp>
      <p:sp>
        <p:nvSpPr>
          <p:cNvPr id="6" name="Text 3"/>
          <p:cNvSpPr/>
          <p:nvPr/>
        </p:nvSpPr>
        <p:spPr>
          <a:xfrm>
            <a:off x="6254750" y="3622576"/>
            <a:ext cx="5278184" cy="1054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55627A"/>
                </a:solidFill>
                <a:latin typeface="IBM Plex Sans" pitchFamily="34" charset="0"/>
                <a:ea typeface="IBM Plex Sans" pitchFamily="34" charset="-122"/>
                <a:cs typeface="IBM Plex Sans" pitchFamily="34" charset="-120"/>
              </a:rPr>
              <a:t>So detectors route by code, and a code in two editions collapses to the most permissive limit — a documented workaround with a known cost: it misses violations the stricter edition would catch.</a:t>
            </a:r>
            <a:endParaRPr lang="en-US" sz="1500" dirty="0"/>
          </a:p>
        </p:txBody>
      </p:sp>
      <p:sp>
        <p:nvSpPr>
          <p:cNvPr id="7" name="Shape 4"/>
          <p:cNvSpPr/>
          <p:nvPr/>
        </p:nvSpPr>
        <p:spPr>
          <a:xfrm>
            <a:off x="831850" y="5278239"/>
            <a:ext cx="0" cy="627261"/>
          </a:xfrm>
          <a:prstGeom prst="line">
            <a:avLst/>
          </a:prstGeom>
          <a:noFill/>
          <a:ln w="38100">
            <a:solidFill>
              <a:srgbClr val="1F7A6B"/>
            </a:solidFill>
            <a:prstDash val="solid"/>
          </a:ln>
        </p:spPr>
      </p:sp>
      <p:sp>
        <p:nvSpPr>
          <p:cNvPr id="8" name="Text 5"/>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Why it matters:</a:t>
            </a:r>
            <a:r>
              <a:rPr lang="en-US" sz="1550" dirty="0">
                <a:solidFill>
                  <a:srgbClr val="14273D"/>
                </a:solidFill>
                <a:latin typeface="IBM Plex Sans" pitchFamily="34" charset="0"/>
                <a:ea typeface="IBM Plex Sans" pitchFamily="34" charset="-122"/>
                <a:cs typeface="IBM Plex Sans" pitchFamily="34" charset="-120"/>
              </a:rPr>
              <a:t> this is how systems produce confident wrong answers. We caught it by querying the claims, and we labelled the workaround's cost instead of hiding it.</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3A"/>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5FB8A6"/>
                </a:solidFill>
                <a:latin typeface="JetBrains Mono" pitchFamily="34" charset="0"/>
                <a:ea typeface="JetBrains Mono" pitchFamily="34" charset="-122"/>
                <a:cs typeface="JetBrains Mono" pitchFamily="34" charset="-120"/>
              </a:rPr>
              <a:t>DEFENSIBLE · 06 — TRUST ARCHITECTURE</a:t>
            </a:r>
            <a:endParaRPr lang="en-US" sz="1250" dirty="0"/>
          </a:p>
        </p:txBody>
      </p:sp>
      <p:sp>
        <p:nvSpPr>
          <p:cNvPr id="3" name="Text 1"/>
          <p:cNvSpPr/>
          <p:nvPr/>
        </p:nvSpPr>
        <p:spPr>
          <a:xfrm>
            <a:off x="812800" y="1149350"/>
            <a:ext cx="10883392" cy="947341"/>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F5F6F4"/>
                </a:solidFill>
                <a:latin typeface="IBM Plex Sans" pitchFamily="34" charset="0"/>
                <a:ea typeface="IBM Plex Sans" pitchFamily="34" charset="-122"/>
                <a:cs typeface="IBM Plex Sans" pitchFamily="34" charset="-120"/>
              </a:rPr>
              <a:t>Four gates between a sentence in the manual and a flag on a claim</a:t>
            </a:r>
            <a:endParaRPr lang="en-US" sz="3300" dirty="0"/>
          </a:p>
        </p:txBody>
      </p:sp>
      <p:sp>
        <p:nvSpPr>
          <p:cNvPr id="4" name="Shape 2"/>
          <p:cNvSpPr/>
          <p:nvPr/>
        </p:nvSpPr>
        <p:spPr>
          <a:xfrm>
            <a:off x="815975" y="2330152"/>
            <a:ext cx="2520950" cy="2689225"/>
          </a:xfrm>
          <a:prstGeom prst="roundRect">
            <a:avLst>
              <a:gd name="adj" fmla="val 3904"/>
            </a:avLst>
          </a:prstGeom>
          <a:solidFill>
            <a:srgbClr val="1B3350"/>
          </a:solidFill>
          <a:ln w="6350">
            <a:solidFill>
              <a:srgbClr val="2E4A6B"/>
            </a:solidFill>
            <a:prstDash val="solid"/>
          </a:ln>
        </p:spPr>
      </p:sp>
      <p:sp>
        <p:nvSpPr>
          <p:cNvPr id="5" name="Text 3"/>
          <p:cNvSpPr/>
          <p:nvPr/>
        </p:nvSpPr>
        <p:spPr>
          <a:xfrm>
            <a:off x="1035050" y="2549227"/>
            <a:ext cx="2145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5FB8A6"/>
                </a:solidFill>
                <a:latin typeface="JetBrains Mono" pitchFamily="34" charset="0"/>
                <a:ea typeface="JetBrains Mono" pitchFamily="34" charset="-122"/>
                <a:cs typeface="JetBrains Mono" pitchFamily="34" charset="-120"/>
              </a:rPr>
              <a:t>1</a:t>
            </a:r>
            <a:endParaRPr lang="en-US" sz="2000" dirty="0"/>
          </a:p>
        </p:txBody>
      </p:sp>
      <p:sp>
        <p:nvSpPr>
          <p:cNvPr id="6" name="Text 4"/>
          <p:cNvSpPr/>
          <p:nvPr/>
        </p:nvSpPr>
        <p:spPr>
          <a:xfrm>
            <a:off x="1035050" y="2981027"/>
            <a:ext cx="214528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6F4"/>
                </a:solidFill>
                <a:latin typeface="IBM Plex Sans" pitchFamily="34" charset="0"/>
                <a:ea typeface="IBM Plex Sans" pitchFamily="34" charset="-122"/>
                <a:cs typeface="IBM Plex Sans" pitchFamily="34" charset="-120"/>
              </a:rPr>
              <a:t>Closed grammar</a:t>
            </a:r>
            <a:endParaRPr lang="en-US" sz="1500" dirty="0"/>
          </a:p>
        </p:txBody>
      </p:sp>
      <p:sp>
        <p:nvSpPr>
          <p:cNvPr id="7" name="Text 5"/>
          <p:cNvSpPr/>
          <p:nvPr/>
        </p:nvSpPr>
        <p:spPr>
          <a:xfrm>
            <a:off x="1035050" y="3285827"/>
            <a:ext cx="2145284" cy="882650"/>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C4D0DE"/>
                </a:solidFill>
                <a:latin typeface="IBM Plex Sans" pitchFamily="34" charset="0"/>
                <a:ea typeface="IBM Plex Sans" pitchFamily="34" charset="-122"/>
                <a:cs typeface="IBM Plex Sans" pitchFamily="34" charset="-120"/>
              </a:rPr>
              <a:t>The model can only propose into nine predicate types. Anything else is refused. No free-form rules, ever.</a:t>
            </a:r>
            <a:endParaRPr lang="en-US" sz="1250" dirty="0"/>
          </a:p>
        </p:txBody>
      </p:sp>
      <p:sp>
        <p:nvSpPr>
          <p:cNvPr id="8" name="Shape 6"/>
          <p:cNvSpPr/>
          <p:nvPr/>
        </p:nvSpPr>
        <p:spPr>
          <a:xfrm>
            <a:off x="3495675" y="2330152"/>
            <a:ext cx="2520950" cy="2689225"/>
          </a:xfrm>
          <a:prstGeom prst="roundRect">
            <a:avLst>
              <a:gd name="adj" fmla="val 3904"/>
            </a:avLst>
          </a:prstGeom>
          <a:solidFill>
            <a:srgbClr val="1B3350"/>
          </a:solidFill>
          <a:ln w="6350">
            <a:solidFill>
              <a:srgbClr val="2E4A6B"/>
            </a:solidFill>
            <a:prstDash val="solid"/>
          </a:ln>
        </p:spPr>
      </p:sp>
      <p:sp>
        <p:nvSpPr>
          <p:cNvPr id="9" name="Text 7"/>
          <p:cNvSpPr/>
          <p:nvPr/>
        </p:nvSpPr>
        <p:spPr>
          <a:xfrm>
            <a:off x="3714750" y="2549227"/>
            <a:ext cx="2145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5FB8A6"/>
                </a:solidFill>
                <a:latin typeface="JetBrains Mono" pitchFamily="34" charset="0"/>
                <a:ea typeface="JetBrains Mono" pitchFamily="34" charset="-122"/>
                <a:cs typeface="JetBrains Mono" pitchFamily="34" charset="-120"/>
              </a:rPr>
              <a:t>2</a:t>
            </a:r>
            <a:endParaRPr lang="en-US" sz="2000" dirty="0"/>
          </a:p>
        </p:txBody>
      </p:sp>
      <p:sp>
        <p:nvSpPr>
          <p:cNvPr id="10" name="Text 8"/>
          <p:cNvSpPr/>
          <p:nvPr/>
        </p:nvSpPr>
        <p:spPr>
          <a:xfrm>
            <a:off x="3714750" y="2981027"/>
            <a:ext cx="2145284"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6F4"/>
                </a:solidFill>
                <a:latin typeface="IBM Plex Sans" pitchFamily="34" charset="0"/>
                <a:ea typeface="IBM Plex Sans" pitchFamily="34" charset="-122"/>
                <a:cs typeface="IBM Plex Sans" pitchFamily="34" charset="-120"/>
              </a:rPr>
              <a:t>Deterministic grounding</a:t>
            </a:r>
            <a:endParaRPr lang="en-US" sz="1500" dirty="0"/>
          </a:p>
        </p:txBody>
      </p:sp>
      <p:sp>
        <p:nvSpPr>
          <p:cNvPr id="11" name="Text 9"/>
          <p:cNvSpPr/>
          <p:nvPr/>
        </p:nvSpPr>
        <p:spPr>
          <a:xfrm>
            <a:off x="3714750" y="3514427"/>
            <a:ext cx="2145284" cy="131127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C4D0DE"/>
                </a:solidFill>
                <a:latin typeface="IBM Plex Sans" pitchFamily="34" charset="0"/>
                <a:ea typeface="IBM Plex Sans" pitchFamily="34" charset="-122"/>
                <a:cs typeface="IBM Plex Sans" pitchFamily="34" charset="-120"/>
              </a:rPr>
              <a:t>Quote must exist in the section. Every code must exist. The number must be in the quoted sentence. A near-match that flips a "not" is refused.</a:t>
            </a:r>
            <a:endParaRPr lang="en-US" sz="1250" dirty="0"/>
          </a:p>
        </p:txBody>
      </p:sp>
      <p:sp>
        <p:nvSpPr>
          <p:cNvPr id="12" name="Shape 10"/>
          <p:cNvSpPr/>
          <p:nvPr/>
        </p:nvSpPr>
        <p:spPr>
          <a:xfrm>
            <a:off x="6175375" y="2330152"/>
            <a:ext cx="2520950" cy="2689225"/>
          </a:xfrm>
          <a:prstGeom prst="roundRect">
            <a:avLst>
              <a:gd name="adj" fmla="val 3904"/>
            </a:avLst>
          </a:prstGeom>
          <a:solidFill>
            <a:srgbClr val="1B3350"/>
          </a:solidFill>
          <a:ln w="6350">
            <a:solidFill>
              <a:srgbClr val="2E4A6B"/>
            </a:solidFill>
            <a:prstDash val="solid"/>
          </a:ln>
        </p:spPr>
      </p:sp>
      <p:sp>
        <p:nvSpPr>
          <p:cNvPr id="13" name="Text 11"/>
          <p:cNvSpPr/>
          <p:nvPr/>
        </p:nvSpPr>
        <p:spPr>
          <a:xfrm>
            <a:off x="6394450" y="2549227"/>
            <a:ext cx="2145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5FB8A6"/>
                </a:solidFill>
                <a:latin typeface="JetBrains Mono" pitchFamily="34" charset="0"/>
                <a:ea typeface="JetBrains Mono" pitchFamily="34" charset="-122"/>
                <a:cs typeface="JetBrains Mono" pitchFamily="34" charset="-120"/>
              </a:rPr>
              <a:t>3</a:t>
            </a:r>
            <a:endParaRPr lang="en-US" sz="2000" dirty="0"/>
          </a:p>
        </p:txBody>
      </p:sp>
      <p:sp>
        <p:nvSpPr>
          <p:cNvPr id="14" name="Text 12"/>
          <p:cNvSpPr/>
          <p:nvPr/>
        </p:nvSpPr>
        <p:spPr>
          <a:xfrm>
            <a:off x="6394450" y="2981027"/>
            <a:ext cx="2145284"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6F4"/>
                </a:solidFill>
                <a:latin typeface="IBM Plex Sans" pitchFamily="34" charset="0"/>
                <a:ea typeface="IBM Plex Sans" pitchFamily="34" charset="-122"/>
                <a:cs typeface="IBM Plex Sans" pitchFamily="34" charset="-120"/>
              </a:rPr>
              <a:t>Named human, versioned</a:t>
            </a:r>
            <a:endParaRPr lang="en-US" sz="1500" dirty="0"/>
          </a:p>
        </p:txBody>
      </p:sp>
      <p:sp>
        <p:nvSpPr>
          <p:cNvPr id="15" name="Text 13"/>
          <p:cNvSpPr/>
          <p:nvPr/>
        </p:nvSpPr>
        <p:spPr>
          <a:xfrm>
            <a:off x="6394450" y="3514427"/>
            <a:ext cx="2145284" cy="131127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C4D0DE"/>
                </a:solidFill>
                <a:latin typeface="IBM Plex Sans" pitchFamily="34" charset="0"/>
                <a:ea typeface="IBM Plex Sans" pitchFamily="34" charset="-122"/>
                <a:cs typeface="IBM Plex Sans" pitchFamily="34" charset="-120"/>
              </a:rPr>
              <a:t>Approval requires a reviewer's name and binds to the document version reviewed. A newer PDF sends the rule back to review.</a:t>
            </a:r>
            <a:endParaRPr lang="en-US" sz="1250" dirty="0"/>
          </a:p>
        </p:txBody>
      </p:sp>
      <p:sp>
        <p:nvSpPr>
          <p:cNvPr id="16" name="Shape 14"/>
          <p:cNvSpPr/>
          <p:nvPr/>
        </p:nvSpPr>
        <p:spPr>
          <a:xfrm>
            <a:off x="8855075" y="2330152"/>
            <a:ext cx="2520950" cy="2689225"/>
          </a:xfrm>
          <a:prstGeom prst="roundRect">
            <a:avLst>
              <a:gd name="adj" fmla="val 3904"/>
            </a:avLst>
          </a:prstGeom>
          <a:solidFill>
            <a:srgbClr val="1B3350"/>
          </a:solidFill>
          <a:ln w="6350">
            <a:solidFill>
              <a:srgbClr val="2E4A6B"/>
            </a:solidFill>
            <a:prstDash val="solid"/>
          </a:ln>
        </p:spPr>
      </p:sp>
      <p:sp>
        <p:nvSpPr>
          <p:cNvPr id="17" name="Text 15"/>
          <p:cNvSpPr/>
          <p:nvPr/>
        </p:nvSpPr>
        <p:spPr>
          <a:xfrm>
            <a:off x="9074150" y="2549227"/>
            <a:ext cx="2145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5FB8A6"/>
                </a:solidFill>
                <a:latin typeface="JetBrains Mono" pitchFamily="34" charset="0"/>
                <a:ea typeface="JetBrains Mono" pitchFamily="34" charset="-122"/>
                <a:cs typeface="JetBrains Mono" pitchFamily="34" charset="-120"/>
              </a:rPr>
              <a:t>4</a:t>
            </a:r>
            <a:endParaRPr lang="en-US" sz="2000" dirty="0"/>
          </a:p>
        </p:txBody>
      </p:sp>
      <p:sp>
        <p:nvSpPr>
          <p:cNvPr id="18" name="Text 16"/>
          <p:cNvSpPr/>
          <p:nvPr/>
        </p:nvSpPr>
        <p:spPr>
          <a:xfrm>
            <a:off x="9074150" y="2981027"/>
            <a:ext cx="214528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6F4"/>
                </a:solidFill>
                <a:latin typeface="IBM Plex Sans" pitchFamily="34" charset="0"/>
                <a:ea typeface="IBM Plex Sans" pitchFamily="34" charset="-122"/>
                <a:cs typeface="IBM Plex Sans" pitchFamily="34" charset="-120"/>
              </a:rPr>
              <a:t>Fixed SQL templates</a:t>
            </a:r>
            <a:endParaRPr lang="en-US" sz="1500" dirty="0"/>
          </a:p>
        </p:txBody>
      </p:sp>
      <p:sp>
        <p:nvSpPr>
          <p:cNvPr id="19" name="Text 17"/>
          <p:cNvSpPr/>
          <p:nvPr/>
        </p:nvSpPr>
        <p:spPr>
          <a:xfrm>
            <a:off x="9074150" y="3285827"/>
            <a:ext cx="2145284" cy="109696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C4D0DE"/>
                </a:solidFill>
                <a:latin typeface="IBM Plex Sans" pitchFamily="34" charset="0"/>
                <a:ea typeface="IBM Plex Sans" pitchFamily="34" charset="-122"/>
                <a:cs typeface="IBM Plex Sans" pitchFamily="34" charset="-120"/>
              </a:rPr>
              <a:t>Six compilers, each a reviewed template. The model never writes SQL and is never in the detection path.</a:t>
            </a:r>
            <a:endParaRPr lang="en-US" sz="1250" dirty="0"/>
          </a:p>
        </p:txBody>
      </p:sp>
      <p:sp>
        <p:nvSpPr>
          <p:cNvPr id="20" name="Shape 18"/>
          <p:cNvSpPr/>
          <p:nvPr/>
        </p:nvSpPr>
        <p:spPr>
          <a:xfrm>
            <a:off x="831850" y="5278239"/>
            <a:ext cx="0" cy="627261"/>
          </a:xfrm>
          <a:prstGeom prst="line">
            <a:avLst/>
          </a:prstGeom>
          <a:noFill/>
          <a:ln w="38100">
            <a:solidFill>
              <a:srgbClr val="5FB8A6"/>
            </a:solidFill>
            <a:prstDash val="solid"/>
          </a:ln>
        </p:spPr>
      </p:sp>
      <p:sp>
        <p:nvSpPr>
          <p:cNvPr id="21" name="Text 19"/>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F5F6F4"/>
                </a:solidFill>
                <a:latin typeface="IBM Plex Sans" pitchFamily="34" charset="0"/>
                <a:ea typeface="IBM Plex Sans" pitchFamily="34" charset="-122"/>
                <a:cs typeface="IBM Plex Sans" pitchFamily="34" charset="-120"/>
              </a:rPr>
              <a:t>The law-office model:</a:t>
            </a:r>
            <a:r>
              <a:rPr lang="en-US" sz="1550" dirty="0">
                <a:solidFill>
                  <a:srgbClr val="F5F6F4"/>
                </a:solidFill>
                <a:latin typeface="IBM Plex Sans" pitchFamily="34" charset="0"/>
                <a:ea typeface="IBM Plex Sans" pitchFamily="34" charset="-122"/>
                <a:cs typeface="IBM Plex Sans" pitchFamily="34" charset="-120"/>
              </a:rPr>
              <a:t> the model is a paralegal that drafts; grounding is the fact-checker against the source; a named attorney signs; the clerk files only what was signed.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DEFENSIBLE · 07 — PROVENANCE</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Every rule is uniquely identified and traceable</a:t>
            </a:r>
            <a:endParaRPr lang="en-US" sz="3300" dirty="0"/>
          </a:p>
        </p:txBody>
      </p:sp>
      <p:sp>
        <p:nvSpPr>
          <p:cNvPr id="4" name="Shape 2"/>
          <p:cNvSpPr/>
          <p:nvPr/>
        </p:nvSpPr>
        <p:spPr>
          <a:xfrm>
            <a:off x="815975" y="2307927"/>
            <a:ext cx="5149850" cy="2272804"/>
          </a:xfrm>
          <a:prstGeom prst="roundRect">
            <a:avLst>
              <a:gd name="adj" fmla="val 4331"/>
            </a:avLst>
          </a:prstGeom>
          <a:solidFill>
            <a:srgbClr val="FFFFFF"/>
          </a:solidFill>
          <a:ln w="6350">
            <a:solidFill>
              <a:srgbClr val="E3E6E4"/>
            </a:solidFill>
            <a:prstDash val="solid"/>
          </a:ln>
        </p:spPr>
      </p:sp>
      <p:sp>
        <p:nvSpPr>
          <p:cNvPr id="5" name="Text 3"/>
          <p:cNvSpPr/>
          <p:nvPr/>
        </p:nvSpPr>
        <p:spPr>
          <a:xfrm>
            <a:off x="1098550" y="2590502"/>
            <a:ext cx="4722241" cy="229791"/>
          </a:xfrm>
          <a:prstGeom prst="rect">
            <a:avLst/>
          </a:prstGeom>
          <a:noFill/>
          <a:ln/>
        </p:spPr>
        <p:txBody>
          <a:bodyPr wrap="square" lIns="0" tIns="0" rIns="0" bIns="0" rtlCol="0" anchor="t">
            <a:normAutofit/>
          </a:bodyPr>
          <a:lstStyle/>
          <a:p>
            <a:pPr algn="l" indent="0" marL="0">
              <a:lnSpc>
                <a:spcPts val="1610"/>
              </a:lnSpc>
              <a:buNone/>
            </a:pPr>
            <a:r>
              <a:rPr lang="en-US" sz="1150" spc="50" kern="0" dirty="0">
                <a:solidFill>
                  <a:srgbClr val="B4552E"/>
                </a:solidFill>
                <a:latin typeface="JetBrains Mono" pitchFamily="34" charset="0"/>
                <a:ea typeface="JetBrains Mono" pitchFamily="34" charset="-122"/>
                <a:cs typeface="JetBrains Mono" pitchFamily="34" charset="-120"/>
              </a:rPr>
              <a:t>WAS</a:t>
            </a:r>
            <a:endParaRPr lang="en-US" sz="1150" dirty="0"/>
          </a:p>
        </p:txBody>
      </p:sp>
      <p:sp>
        <p:nvSpPr>
          <p:cNvPr id="6" name="Text 4"/>
          <p:cNvSpPr/>
          <p:nvPr/>
        </p:nvSpPr>
        <p:spPr>
          <a:xfrm>
            <a:off x="1098550" y="2883793"/>
            <a:ext cx="4722241" cy="874018"/>
          </a:xfrm>
          <a:prstGeom prst="rect">
            <a:avLst/>
          </a:prstGeom>
          <a:noFill/>
          <a:ln/>
        </p:spPr>
        <p:txBody>
          <a:bodyPr wrap="square" lIns="0" tIns="0" rIns="0" bIns="0" rtlCol="0" anchor="t">
            <a:normAutofit/>
          </a:bodyPr>
          <a:lstStyle/>
          <a:p>
            <a:pPr algn="l" indent="0" marL="0">
              <a:lnSpc>
                <a:spcPts val="2228"/>
              </a:lnSpc>
              <a:buNone/>
            </a:pPr>
            <a:r>
              <a:rPr lang="en-US" sz="1650" dirty="0">
                <a:solidFill>
                  <a:srgbClr val="55627A"/>
                </a:solidFill>
                <a:latin typeface="IBM Plex Sans" pitchFamily="34" charset="0"/>
                <a:ea typeface="IBM Plex Sans" pitchFamily="34" charset="-122"/>
                <a:cs typeface="IBM Plex Sans" pitchFamily="34" charset="-120"/>
              </a:rPr>
              <a:t>Rule IDs collided — nine different rules shared one ID. The table couldn't be used as a reference.</a:t>
            </a:r>
            <a:endParaRPr lang="en-US" sz="1650" dirty="0"/>
          </a:p>
        </p:txBody>
      </p:sp>
      <p:sp>
        <p:nvSpPr>
          <p:cNvPr id="7" name="Shape 5"/>
          <p:cNvSpPr/>
          <p:nvPr/>
        </p:nvSpPr>
        <p:spPr>
          <a:xfrm>
            <a:off x="6226175" y="2307927"/>
            <a:ext cx="5149850" cy="2272804"/>
          </a:xfrm>
          <a:prstGeom prst="roundRect">
            <a:avLst>
              <a:gd name="adj" fmla="val 4331"/>
            </a:avLst>
          </a:prstGeom>
          <a:solidFill>
            <a:srgbClr val="FFFFFF"/>
          </a:solidFill>
          <a:ln w="6350">
            <a:solidFill>
              <a:srgbClr val="E3E6E4"/>
            </a:solidFill>
            <a:prstDash val="solid"/>
          </a:ln>
        </p:spPr>
      </p:sp>
      <p:sp>
        <p:nvSpPr>
          <p:cNvPr id="8" name="Text 6"/>
          <p:cNvSpPr/>
          <p:nvPr/>
        </p:nvSpPr>
        <p:spPr>
          <a:xfrm>
            <a:off x="6508750" y="2590502"/>
            <a:ext cx="4722241" cy="229791"/>
          </a:xfrm>
          <a:prstGeom prst="rect">
            <a:avLst/>
          </a:prstGeom>
          <a:noFill/>
          <a:ln/>
        </p:spPr>
        <p:txBody>
          <a:bodyPr wrap="square" lIns="0" tIns="0" rIns="0" bIns="0" rtlCol="0" anchor="t">
            <a:normAutofit/>
          </a:bodyPr>
          <a:lstStyle/>
          <a:p>
            <a:pPr algn="l" indent="0" marL="0">
              <a:lnSpc>
                <a:spcPts val="1610"/>
              </a:lnSpc>
              <a:buNone/>
            </a:pPr>
            <a:r>
              <a:rPr lang="en-US" sz="1150" spc="50" kern="0" dirty="0">
                <a:solidFill>
                  <a:srgbClr val="1F7A6B"/>
                </a:solidFill>
                <a:latin typeface="JetBrains Mono" pitchFamily="34" charset="0"/>
                <a:ea typeface="JetBrains Mono" pitchFamily="34" charset="-122"/>
                <a:cs typeface="JetBrains Mono" pitchFamily="34" charset="-120"/>
              </a:rPr>
              <a:t>NOW</a:t>
            </a:r>
            <a:endParaRPr lang="en-US" sz="1150" dirty="0"/>
          </a:p>
        </p:txBody>
      </p:sp>
      <p:sp>
        <p:nvSpPr>
          <p:cNvPr id="9" name="Text 7"/>
          <p:cNvSpPr/>
          <p:nvPr/>
        </p:nvSpPr>
        <p:spPr>
          <a:xfrm>
            <a:off x="6508750" y="2883793"/>
            <a:ext cx="4722241" cy="1439763"/>
          </a:xfrm>
          <a:prstGeom prst="rect">
            <a:avLst/>
          </a:prstGeom>
          <a:noFill/>
          <a:ln/>
        </p:spPr>
        <p:txBody>
          <a:bodyPr wrap="square" lIns="0" tIns="0" rIns="0" bIns="0" rtlCol="0" anchor="t">
            <a:normAutofit/>
          </a:bodyPr>
          <a:lstStyle/>
          <a:p>
            <a:pPr algn="l" indent="0" marL="0">
              <a:lnSpc>
                <a:spcPts val="2228"/>
              </a:lnSpc>
              <a:buNone/>
            </a:pPr>
            <a:r>
              <a:rPr lang="en-US" sz="1650" dirty="0">
                <a:solidFill>
                  <a:srgbClr val="14273D"/>
                </a:solidFill>
                <a:latin typeface="IBM Plex Sans" pitchFamily="34" charset="0"/>
                <a:ea typeface="IBM Plex Sans" pitchFamily="34" charset="-122"/>
                <a:cs typeface="IBM Plex Sans" pitchFamily="34" charset="-120"/>
              </a:rPr>
              <a:t>IDs derive from rule content — including population and effective date, so a scope change is a new rule. Every rule carries chapter, page, section, revision date, URL, and a hash of the document snapshot.</a:t>
            </a:r>
            <a:endParaRPr lang="en-US" sz="1650" dirty="0"/>
          </a:p>
        </p:txBody>
      </p:sp>
      <p:sp>
        <p:nvSpPr>
          <p:cNvPr id="10" name="Shape 8"/>
          <p:cNvSpPr/>
          <p:nvPr/>
        </p:nvSpPr>
        <p:spPr>
          <a:xfrm>
            <a:off x="831850" y="5278239"/>
            <a:ext cx="0" cy="627261"/>
          </a:xfrm>
          <a:prstGeom prst="line">
            <a:avLst/>
          </a:prstGeom>
          <a:noFill/>
          <a:ln w="38100">
            <a:solidFill>
              <a:srgbClr val="1F7A6B"/>
            </a:solidFill>
            <a:prstDash val="solid"/>
          </a:ln>
        </p:spPr>
      </p:sp>
      <p:sp>
        <p:nvSpPr>
          <p:cNvPr id="11" name="Text 9"/>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Why it matters:</a:t>
            </a:r>
            <a:r>
              <a:rPr lang="en-US" sz="1550" dirty="0">
                <a:solidFill>
                  <a:srgbClr val="14273D"/>
                </a:solidFill>
                <a:latin typeface="IBM Plex Sans" pitchFamily="34" charset="0"/>
                <a:ea typeface="IBM Plex Sans" pitchFamily="34" charset="-122"/>
                <a:cs typeface="IBM Plex Sans" pitchFamily="34" charset="-120"/>
              </a:rPr>
              <a:t> auditability is our differentiator. If an auditor points at any flag, we put the sentence from the manual on the screen next to it — and the exact version of the manual it came from.</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DEFENSIBLE · 08 — GOVERNANCE</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The human gate is now real — and logged</a:t>
            </a:r>
            <a:endParaRPr lang="en-US" sz="3300" dirty="0"/>
          </a:p>
        </p:txBody>
      </p:sp>
      <p:sp>
        <p:nvSpPr>
          <p:cNvPr id="4" name="Shape 2"/>
          <p:cNvSpPr/>
          <p:nvPr/>
        </p:nvSpPr>
        <p:spPr>
          <a:xfrm>
            <a:off x="815975" y="1879402"/>
            <a:ext cx="886619" cy="577850"/>
          </a:xfrm>
          <a:prstGeom prst="roundRect">
            <a:avLst>
              <a:gd name="adj" fmla="val 12637"/>
            </a:avLst>
          </a:prstGeom>
          <a:solidFill>
            <a:srgbClr val="FFFFFF"/>
          </a:solidFill>
          <a:ln w="6350">
            <a:solidFill>
              <a:srgbClr val="E3E6E4"/>
            </a:solidFill>
            <a:prstDash val="solid"/>
          </a:ln>
        </p:spPr>
      </p:sp>
      <p:sp>
        <p:nvSpPr>
          <p:cNvPr id="5" name="Text 3"/>
          <p:cNvSpPr/>
          <p:nvPr/>
        </p:nvSpPr>
        <p:spPr>
          <a:xfrm>
            <a:off x="1035050" y="2034977"/>
            <a:ext cx="49926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73D"/>
                </a:solidFill>
                <a:latin typeface="IBM Plex Sans" pitchFamily="34" charset="0"/>
                <a:ea typeface="IBM Plex Sans" pitchFamily="34" charset="-122"/>
                <a:cs typeface="IBM Plex Sans" pitchFamily="34" charset="-120"/>
              </a:rPr>
              <a:t>Draft</a:t>
            </a:r>
            <a:endParaRPr lang="en-US" sz="1500" dirty="0"/>
          </a:p>
        </p:txBody>
      </p:sp>
      <p:sp>
        <p:nvSpPr>
          <p:cNvPr id="6" name="Text 4"/>
          <p:cNvSpPr/>
          <p:nvPr/>
        </p:nvSpPr>
        <p:spPr>
          <a:xfrm>
            <a:off x="1832769" y="2017216"/>
            <a:ext cx="266700"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F7A6B"/>
                </a:solidFill>
                <a:latin typeface="IBM Plex Sans" pitchFamily="34" charset="0"/>
                <a:ea typeface="IBM Plex Sans" pitchFamily="34" charset="-122"/>
                <a:cs typeface="IBM Plex Sans" pitchFamily="34" charset="-120"/>
              </a:rPr>
              <a:t>→</a:t>
            </a:r>
            <a:endParaRPr lang="en-US" sz="1700" dirty="0"/>
          </a:p>
        </p:txBody>
      </p:sp>
      <p:sp>
        <p:nvSpPr>
          <p:cNvPr id="7" name="Shape 5"/>
          <p:cNvSpPr/>
          <p:nvPr/>
        </p:nvSpPr>
        <p:spPr>
          <a:xfrm>
            <a:off x="2178844" y="1879402"/>
            <a:ext cx="3015754" cy="577850"/>
          </a:xfrm>
          <a:prstGeom prst="roundRect">
            <a:avLst>
              <a:gd name="adj" fmla="val 12637"/>
            </a:avLst>
          </a:prstGeom>
          <a:solidFill>
            <a:srgbClr val="FFFFFF"/>
          </a:solidFill>
          <a:ln w="6350">
            <a:solidFill>
              <a:srgbClr val="E3E6E4"/>
            </a:solidFill>
            <a:prstDash val="solid"/>
          </a:ln>
        </p:spPr>
      </p:sp>
      <p:sp>
        <p:nvSpPr>
          <p:cNvPr id="8" name="Text 6"/>
          <p:cNvSpPr/>
          <p:nvPr/>
        </p:nvSpPr>
        <p:spPr>
          <a:xfrm>
            <a:off x="2397919" y="2034977"/>
            <a:ext cx="265493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73D"/>
                </a:solidFill>
                <a:latin typeface="IBM Plex Sans" pitchFamily="34" charset="0"/>
                <a:ea typeface="IBM Plex Sans" pitchFamily="34" charset="-122"/>
                <a:cs typeface="IBM Plex Sans" pitchFamily="34" charset="-120"/>
              </a:rPr>
              <a:t>Reviewed by a named person</a:t>
            </a:r>
            <a:endParaRPr lang="en-US" sz="1500" dirty="0"/>
          </a:p>
        </p:txBody>
      </p:sp>
      <p:sp>
        <p:nvSpPr>
          <p:cNvPr id="9" name="Text 7"/>
          <p:cNvSpPr/>
          <p:nvPr/>
        </p:nvSpPr>
        <p:spPr>
          <a:xfrm>
            <a:off x="5324773" y="2017216"/>
            <a:ext cx="266700"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F7A6B"/>
                </a:solidFill>
                <a:latin typeface="IBM Plex Sans" pitchFamily="34" charset="0"/>
                <a:ea typeface="IBM Plex Sans" pitchFamily="34" charset="-122"/>
                <a:cs typeface="IBM Plex Sans" pitchFamily="34" charset="-120"/>
              </a:rPr>
              <a:t>→</a:t>
            </a:r>
            <a:endParaRPr lang="en-US" sz="1700" dirty="0"/>
          </a:p>
        </p:txBody>
      </p:sp>
      <p:sp>
        <p:nvSpPr>
          <p:cNvPr id="10" name="Shape 8"/>
          <p:cNvSpPr/>
          <p:nvPr/>
        </p:nvSpPr>
        <p:spPr>
          <a:xfrm>
            <a:off x="5667673" y="1882577"/>
            <a:ext cx="3101380" cy="571500"/>
          </a:xfrm>
          <a:prstGeom prst="roundRect">
            <a:avLst>
              <a:gd name="adj" fmla="val 13333"/>
            </a:avLst>
          </a:prstGeom>
          <a:solidFill>
            <a:srgbClr val="1F7A6B"/>
          </a:solidFill>
          <a:ln/>
        </p:spPr>
      </p:sp>
      <p:sp>
        <p:nvSpPr>
          <p:cNvPr id="11" name="Text 9"/>
          <p:cNvSpPr/>
          <p:nvPr/>
        </p:nvSpPr>
        <p:spPr>
          <a:xfrm>
            <a:off x="5883573" y="2034977"/>
            <a:ext cx="274966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FFFFF"/>
                </a:solidFill>
                <a:latin typeface="IBM Plex Sans" pitchFamily="34" charset="0"/>
                <a:ea typeface="IBM Plex Sans" pitchFamily="34" charset="-122"/>
                <a:cs typeface="IBM Plex Sans" pitchFamily="34" charset="-120"/>
              </a:rPr>
              <a:t>Approved &amp; dated → compiles</a:t>
            </a:r>
            <a:endParaRPr lang="en-US" sz="1500" dirty="0"/>
          </a:p>
        </p:txBody>
      </p:sp>
      <p:sp>
        <p:nvSpPr>
          <p:cNvPr id="12" name="Text 10"/>
          <p:cNvSpPr/>
          <p:nvPr/>
        </p:nvSpPr>
        <p:spPr>
          <a:xfrm>
            <a:off x="1066800" y="2726333"/>
            <a:ext cx="10621772" cy="2311400"/>
          </a:xfrm>
          <a:prstGeom prst="rect">
            <a:avLst/>
          </a:prstGeom>
          <a:noFill/>
          <a:ln/>
        </p:spPr>
        <p:txBody>
          <a:bodyPr wrap="square" lIns="0" tIns="0" rIns="0" bIns="0" rtlCol="0" anchor="t">
            <a:normAutofit/>
          </a:bodyPr>
          <a:lstStyle/>
          <a:p>
            <a:pPr algn="l" marL="342900" indent="-342900">
              <a:lnSpc>
                <a:spcPts val="2250"/>
              </a:lnSpc>
              <a:buSzPct val="100000"/>
              <a:buChar char="•"/>
            </a:pPr>
            <a:r>
              <a:rPr lang="en-US" sz="1500" dirty="0">
                <a:solidFill>
                  <a:srgbClr val="14273D"/>
                </a:solidFill>
                <a:latin typeface="IBM Plex Sans" pitchFamily="34" charset="0"/>
                <a:ea typeface="IBM Plex Sans" pitchFamily="34" charset="-122"/>
                <a:cs typeface="IBM Plex Sans" pitchFamily="34" charset="-120"/>
              </a:rPr>
              <a:t>An unsigned decision is not applied. A decision made on an older version of the manual is parked for re-review. The log records what was </a:t>
            </a:r>
            <a:r>
              <a:rPr lang="en-US" sz="1500" i="1" dirty="0">
                <a:solidFill>
                  <a:srgbClr val="14273D"/>
                </a:solidFill>
                <a:latin typeface="IBM Plex Sans" pitchFamily="34" charset="0"/>
                <a:ea typeface="IBM Plex Sans" pitchFamily="34" charset="-122"/>
                <a:cs typeface="IBM Plex Sans" pitchFamily="34" charset="-120"/>
              </a:rPr>
              <a:t>attempted</a:t>
            </a:r>
            <a:r>
              <a:rPr lang="en-US" sz="1500" dirty="0">
                <a:solidFill>
                  <a:srgbClr val="14273D"/>
                </a:solidFill>
                <a:latin typeface="IBM Plex Sans" pitchFamily="34" charset="0"/>
                <a:ea typeface="IBM Plex Sans" pitchFamily="34" charset="-122"/>
                <a:cs typeface="IBM Plex Sans" pitchFamily="34" charset="-120"/>
              </a:rPr>
              <a:t> and what </a:t>
            </a:r>
            <a:r>
              <a:rPr lang="en-US" sz="1500" i="1" dirty="0">
                <a:solidFill>
                  <a:srgbClr val="14273D"/>
                </a:solidFill>
                <a:latin typeface="IBM Plex Sans" pitchFamily="34" charset="0"/>
                <a:ea typeface="IBM Plex Sans" pitchFamily="34" charset="-122"/>
                <a:cs typeface="IBM Plex Sans" pitchFamily="34" charset="-120"/>
              </a:rPr>
              <a:t>took effect</a:t>
            </a:r>
            <a:r>
              <a:rPr lang="en-US" sz="1500" dirty="0">
                <a:solidFill>
                  <a:srgbClr val="14273D"/>
                </a:solidFill>
                <a:latin typeface="IBM Plex Sans" pitchFamily="34" charset="0"/>
                <a:ea typeface="IBM Plex Sans" pitchFamily="34" charset="-122"/>
                <a:cs typeface="IBM Plex Sans" pitchFamily="34" charset="-120"/>
              </a:rPr>
              <a:t>.</a:t>
            </a:r>
            <a:endParaRPr lang="en-US" sz="1500" dirty="0"/>
          </a:p>
          <a:p>
            <a:pPr algn="l" marL="342900" indent="-342900">
              <a:lnSpc>
                <a:spcPts val="2250"/>
              </a:lnSpc>
              <a:buSzPct val="100000"/>
              <a:buChar char="•"/>
            </a:pPr>
            <a:r>
              <a:rPr lang="en-US" sz="1500" dirty="0">
                <a:solidFill>
                  <a:srgbClr val="14273D"/>
                </a:solidFill>
                <a:latin typeface="IBM Plex Sans" pitchFamily="34" charset="0"/>
                <a:ea typeface="IBM Plex Sans" pitchFamily="34" charset="-122"/>
                <a:cs typeface="IBM Plex Sans" pitchFamily="34" charset="-120"/>
              </a:rPr>
              <a:t>A reviewer's fix must correct the executable predicate, not just the prose — and everything derived from it is re-derived, so nothing stale rides along.</a:t>
            </a:r>
            <a:endParaRPr lang="en-US" sz="1500" dirty="0"/>
          </a:p>
          <a:p>
            <a:pPr algn="l" marL="342900" indent="-342900">
              <a:lnSpc>
                <a:spcPts val="2250"/>
              </a:lnSpc>
              <a:buSzPct val="100000"/>
              <a:buChar char="•"/>
            </a:pPr>
            <a:r>
              <a:rPr lang="en-US" sz="1500" dirty="0">
                <a:solidFill>
                  <a:srgbClr val="14273D"/>
                </a:solidFill>
                <a:latin typeface="IBM Plex Sans" pitchFamily="34" charset="0"/>
                <a:ea typeface="IBM Plex Sans" pitchFamily="34" charset="-122"/>
                <a:cs typeface="IBM Plex Sans" pitchFamily="34" charset="-120"/>
              </a:rPr>
              <a:t>State rules live in a reviewed table, not in code: </a:t>
            </a:r>
            <a:r>
              <a:rPr lang="en-US" sz="1500" b="1" dirty="0">
                <a:solidFill>
                  <a:srgbClr val="14273D"/>
                </a:solidFill>
                <a:latin typeface="IBM Plex Sans" pitchFamily="34" charset="0"/>
                <a:ea typeface="IBM Plex Sans" pitchFamily="34" charset="-122"/>
                <a:cs typeface="IBM Plex Sans" pitchFamily="34" charset="-120"/>
              </a:rPr>
              <a:t>adding a chapter means adding reviewed rows, not editing the pipeline.</a:t>
            </a:r>
            <a:endParaRPr lang="en-US" sz="1500" dirty="0"/>
          </a:p>
          <a:p>
            <a:pPr algn="l" marL="342900" indent="-342900">
              <a:lnSpc>
                <a:spcPts val="2250"/>
              </a:lnSpc>
              <a:buSzPct val="100000"/>
              <a:buChar char="•"/>
            </a:pPr>
            <a:r>
              <a:rPr lang="en-US" sz="1500" dirty="0">
                <a:solidFill>
                  <a:srgbClr val="14273D"/>
                </a:solidFill>
                <a:latin typeface="IBM Plex Sans" pitchFamily="34" charset="0"/>
                <a:ea typeface="IBM Plex Sans" pitchFamily="34" charset="-122"/>
                <a:cs typeface="IBM Plex Sans" pitchFamily="34" charset="-120"/>
              </a:rPr>
              <a:t>Every vetted rule is kept — including the coverage findings that can't be automated. They are the OIG-differentiated product.</a:t>
            </a:r>
            <a:endParaRPr lang="en-US" sz="1500" dirty="0"/>
          </a:p>
        </p:txBody>
      </p:sp>
      <p:sp>
        <p:nvSpPr>
          <p:cNvPr id="13" name="Shape 11"/>
          <p:cNvSpPr/>
          <p:nvPr/>
        </p:nvSpPr>
        <p:spPr>
          <a:xfrm>
            <a:off x="831850" y="5278239"/>
            <a:ext cx="0" cy="627261"/>
          </a:xfrm>
          <a:prstGeom prst="line">
            <a:avLst/>
          </a:prstGeom>
          <a:noFill/>
          <a:ln w="38100">
            <a:solidFill>
              <a:srgbClr val="1F7A6B"/>
            </a:solidFill>
            <a:prstDash val="solid"/>
          </a:ln>
        </p:spPr>
      </p:sp>
      <p:sp>
        <p:nvSpPr>
          <p:cNvPr id="14" name="Text 12"/>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"So an AI decided what our policy means?"</a:t>
            </a:r>
            <a:r>
              <a:rPr lang="en-US" sz="1550" dirty="0">
                <a:solidFill>
                  <a:srgbClr val="14273D"/>
                </a:solidFill>
                <a:latin typeface="IBM Plex Sans" pitchFamily="34" charset="0"/>
                <a:ea typeface="IBM Plex Sans" pitchFamily="34" charset="-122"/>
                <a:cs typeface="IBM Plex Sans" pitchFamily="34" charset="-120"/>
              </a:rPr>
              <a:t> — No. An AI proposed it, a named person approved it on this date against this version of the manual, and here is the record.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3A"/>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5FB8A6"/>
                </a:solidFill>
                <a:latin typeface="JetBrains Mono" pitchFamily="34" charset="0"/>
                <a:ea typeface="JetBrains Mono" pitchFamily="34" charset="-122"/>
                <a:cs typeface="JetBrains Mono" pitchFamily="34" charset="-120"/>
              </a:rPr>
              <a:t>SCALABLE · 09 — EXTRACTION ENGINE</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F5F6F4"/>
                </a:solidFill>
                <a:latin typeface="IBM Plex Sans" pitchFamily="34" charset="0"/>
                <a:ea typeface="IBM Plex Sans" pitchFamily="34" charset="-122"/>
                <a:cs typeface="IBM Plex Sans" pitchFamily="34" charset="-120"/>
              </a:rPr>
              <a:t>PDF → reviewed rules, across 29 chapters</a:t>
            </a:r>
            <a:endParaRPr lang="en-US" sz="3300" dirty="0"/>
          </a:p>
        </p:txBody>
      </p:sp>
      <p:sp>
        <p:nvSpPr>
          <p:cNvPr id="4" name="Shape 2"/>
          <p:cNvSpPr/>
          <p:nvPr/>
        </p:nvSpPr>
        <p:spPr>
          <a:xfrm>
            <a:off x="815975" y="2222103"/>
            <a:ext cx="10560050" cy="714375"/>
          </a:xfrm>
          <a:prstGeom prst="roundRect">
            <a:avLst>
              <a:gd name="adj" fmla="val 12000"/>
            </a:avLst>
          </a:prstGeom>
          <a:solidFill>
            <a:srgbClr val="0E1C2E"/>
          </a:solidFill>
          <a:ln w="6350">
            <a:solidFill>
              <a:srgbClr val="2E4A6B"/>
            </a:solidFill>
            <a:prstDash val="solid"/>
          </a:ln>
        </p:spPr>
      </p:sp>
      <p:sp>
        <p:nvSpPr>
          <p:cNvPr id="5" name="Text 3"/>
          <p:cNvSpPr/>
          <p:nvPr/>
        </p:nvSpPr>
        <p:spPr>
          <a:xfrm>
            <a:off x="1073150" y="2441178"/>
            <a:ext cx="10347071" cy="301625"/>
          </a:xfrm>
          <a:prstGeom prst="rect">
            <a:avLst/>
          </a:prstGeom>
          <a:noFill/>
          <a:ln/>
        </p:spPr>
        <p:txBody>
          <a:bodyPr wrap="square" lIns="0" tIns="0" rIns="0" bIns="0" rtlCol="0" anchor="t">
            <a:normAutofit/>
          </a:bodyPr>
          <a:lstStyle/>
          <a:p>
            <a:pPr algn="l" indent="0" marL="0">
              <a:lnSpc>
                <a:spcPts val="2175"/>
              </a:lnSpc>
              <a:buNone/>
            </a:pPr>
            <a:r>
              <a:rPr lang="en-US" sz="1450" dirty="0">
                <a:solidFill>
                  <a:srgbClr val="C4D0DE"/>
                </a:solidFill>
                <a:latin typeface="JetBrains Mono" pitchFamily="34" charset="0"/>
                <a:ea typeface="JetBrains Mono" pitchFamily="34" charset="-122"/>
                <a:cs typeface="JetBrains Mono" pitchFamily="34" charset="-120"/>
              </a:rPr>
              <a:t>acquire › parse › segment › pre-filter › </a:t>
            </a:r>
            <a:r>
              <a:rPr lang="en-US" sz="1450" dirty="0">
                <a:solidFill>
                  <a:srgbClr val="5FB8A6"/>
                </a:solidFill>
                <a:latin typeface="JetBrains Mono" pitchFamily="34" charset="0"/>
                <a:ea typeface="JetBrains Mono" pitchFamily="34" charset="-122"/>
                <a:cs typeface="JetBrains Mono" pitchFamily="34" charset="-120"/>
              </a:rPr>
              <a:t>propose</a:t>
            </a:r>
            <a:r>
              <a:rPr lang="en-US" sz="1450" dirty="0">
                <a:solidFill>
                  <a:srgbClr val="C4D0DE"/>
                </a:solidFill>
                <a:latin typeface="JetBrains Mono" pitchFamily="34" charset="0"/>
                <a:ea typeface="JetBrains Mono" pitchFamily="34" charset="-122"/>
                <a:cs typeface="JetBrains Mono" pitchFamily="34" charset="-120"/>
              </a:rPr>
              <a:t> › </a:t>
            </a:r>
            <a:r>
              <a:rPr lang="en-US" sz="1450" dirty="0">
                <a:solidFill>
                  <a:srgbClr val="5FB8A6"/>
                </a:solidFill>
                <a:latin typeface="JetBrains Mono" pitchFamily="34" charset="0"/>
                <a:ea typeface="JetBrains Mono" pitchFamily="34" charset="-122"/>
                <a:cs typeface="JetBrains Mono" pitchFamily="34" charset="-120"/>
              </a:rPr>
              <a:t>ground</a:t>
            </a:r>
            <a:r>
              <a:rPr lang="en-US" sz="1450" dirty="0">
                <a:solidFill>
                  <a:srgbClr val="C4D0DE"/>
                </a:solidFill>
                <a:latin typeface="JetBrains Mono" pitchFamily="34" charset="0"/>
                <a:ea typeface="JetBrains Mono" pitchFamily="34" charset="-122"/>
                <a:cs typeface="JetBrains Mono" pitchFamily="34" charset="-120"/>
              </a:rPr>
              <a:t> › review › track-changes</a:t>
            </a:r>
            <a:endParaRPr lang="en-US" sz="1450" dirty="0"/>
          </a:p>
        </p:txBody>
      </p:sp>
      <p:sp>
        <p:nvSpPr>
          <p:cNvPr id="6" name="Text 4"/>
          <p:cNvSpPr/>
          <p:nvPr/>
        </p:nvSpPr>
        <p:spPr>
          <a:xfrm>
            <a:off x="812800" y="3548360"/>
            <a:ext cx="531088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5FB8A6"/>
                </a:solidFill>
                <a:latin typeface="IBM Plex Sans" pitchFamily="34" charset="0"/>
                <a:ea typeface="IBM Plex Sans" pitchFamily="34" charset="-122"/>
                <a:cs typeface="IBM Plex Sans" pitchFamily="34" charset="-120"/>
              </a:rPr>
              <a:t>Two extractors, one gate</a:t>
            </a:r>
            <a:endParaRPr lang="en-US" sz="1700" dirty="0"/>
          </a:p>
        </p:txBody>
      </p:sp>
      <p:sp>
        <p:nvSpPr>
          <p:cNvPr id="7" name="Text 5"/>
          <p:cNvSpPr/>
          <p:nvPr/>
        </p:nvSpPr>
        <p:spPr>
          <a:xfrm>
            <a:off x="812800" y="3896320"/>
            <a:ext cx="5310886" cy="798711"/>
          </a:xfrm>
          <a:prstGeom prst="rect">
            <a:avLst/>
          </a:prstGeom>
          <a:noFill/>
          <a:ln/>
        </p:spPr>
        <p:txBody>
          <a:bodyPr wrap="square" lIns="0" tIns="0" rIns="0" bIns="0" rtlCol="0" anchor="t">
            <a:normAutofit/>
          </a:bodyPr>
          <a:lstStyle/>
          <a:p>
            <a:pPr algn="l" indent="0" marL="0">
              <a:lnSpc>
                <a:spcPts val="2030"/>
              </a:lnSpc>
              <a:buNone/>
            </a:pPr>
            <a:r>
              <a:rPr lang="en-US" sz="1450" dirty="0">
                <a:solidFill>
                  <a:srgbClr val="C4D0DE"/>
                </a:solidFill>
                <a:latin typeface="IBM Plex Sans" pitchFamily="34" charset="0"/>
                <a:ea typeface="IBM Plex Sans" pitchFamily="34" charset="-122"/>
                <a:cs typeface="IBM Plex Sans" pitchFamily="34" charset="-120"/>
              </a:rPr>
              <a:t>A deterministic pattern extractor is the high-precision floor; the model is the reader. When both find the same rule it is corroborated. Both pass the same grounding gate.</a:t>
            </a:r>
            <a:endParaRPr lang="en-US" sz="1450" dirty="0"/>
          </a:p>
        </p:txBody>
      </p:sp>
      <p:sp>
        <p:nvSpPr>
          <p:cNvPr id="8" name="Text 6"/>
          <p:cNvSpPr/>
          <p:nvPr/>
        </p:nvSpPr>
        <p:spPr>
          <a:xfrm>
            <a:off x="6223000" y="3548360"/>
            <a:ext cx="531088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5FB8A6"/>
                </a:solidFill>
                <a:latin typeface="IBM Plex Sans" pitchFamily="34" charset="0"/>
                <a:ea typeface="IBM Plex Sans" pitchFamily="34" charset="-122"/>
                <a:cs typeface="IBM Plex Sans" pitchFamily="34" charset="-120"/>
              </a:rPr>
              <a:t>Measured on the run of [date]</a:t>
            </a:r>
            <a:endParaRPr lang="en-US" sz="1700" dirty="0"/>
          </a:p>
        </p:txBody>
      </p:sp>
      <p:sp>
        <p:nvSpPr>
          <p:cNvPr id="9" name="Text 7"/>
          <p:cNvSpPr/>
          <p:nvPr/>
        </p:nvSpPr>
        <p:spPr>
          <a:xfrm>
            <a:off x="6223000" y="3896320"/>
            <a:ext cx="5310886" cy="798711"/>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C4D0DE"/>
                </a:solidFill>
                <a:latin typeface="IBM Plex Sans" pitchFamily="34" charset="0"/>
                <a:ea typeface="IBM Plex Sans" pitchFamily="34" charset="-122"/>
                <a:cs typeface="IBM Plex Sans" pitchFamily="34" charset="-120"/>
              </a:rPr>
              <a:t>[N]</a:t>
            </a:r>
            <a:r>
              <a:rPr lang="en-US" sz="1450" dirty="0">
                <a:solidFill>
                  <a:srgbClr val="C4D0DE"/>
                </a:solidFill>
                <a:latin typeface="IBM Plex Sans" pitchFamily="34" charset="0"/>
                <a:ea typeface="IBM Plex Sans" pitchFamily="34" charset="-122"/>
                <a:cs typeface="IBM Plex Sans" pitchFamily="34" charset="-120"/>
              </a:rPr>
              <a:t> chapters · </a:t>
            </a:r>
            <a:r>
              <a:rPr lang="en-US" sz="1450" b="1" dirty="0">
                <a:solidFill>
                  <a:srgbClr val="C4D0DE"/>
                </a:solidFill>
                <a:latin typeface="IBM Plex Sans" pitchFamily="34" charset="0"/>
                <a:ea typeface="IBM Plex Sans" pitchFamily="34" charset="-122"/>
                <a:cs typeface="IBM Plex Sans" pitchFamily="34" charset="-120"/>
              </a:rPr>
              <a:t>[S]</a:t>
            </a:r>
            <a:r>
              <a:rPr lang="en-US" sz="1450" dirty="0">
                <a:solidFill>
                  <a:srgbClr val="C4D0DE"/>
                </a:solidFill>
                <a:latin typeface="IBM Plex Sans" pitchFamily="34" charset="0"/>
                <a:ea typeface="IBM Plex Sans" pitchFamily="34" charset="-122"/>
                <a:cs typeface="IBM Plex Sans" pitchFamily="34" charset="-120"/>
              </a:rPr>
              <a:t> candidate sections · </a:t>
            </a:r>
            <a:r>
              <a:rPr lang="en-US" sz="1450" b="1" dirty="0">
                <a:solidFill>
                  <a:srgbClr val="C4D0DE"/>
                </a:solidFill>
                <a:latin typeface="IBM Plex Sans" pitchFamily="34" charset="0"/>
                <a:ea typeface="IBM Plex Sans" pitchFamily="34" charset="-122"/>
                <a:cs typeface="IBM Plex Sans" pitchFamily="34" charset="-120"/>
              </a:rPr>
              <a:t>[P]</a:t>
            </a:r>
            <a:r>
              <a:rPr lang="en-US" sz="1450" dirty="0">
                <a:solidFill>
                  <a:srgbClr val="C4D0DE"/>
                </a:solidFill>
                <a:latin typeface="IBM Plex Sans" pitchFamily="34" charset="0"/>
                <a:ea typeface="IBM Plex Sans" pitchFamily="34" charset="-122"/>
                <a:cs typeface="IBM Plex Sans" pitchFamily="34" charset="-120"/>
              </a:rPr>
              <a:t> proposals → </a:t>
            </a:r>
            <a:r>
              <a:rPr lang="en-US" sz="1450" b="1" dirty="0">
                <a:solidFill>
                  <a:srgbClr val="C4D0DE"/>
                </a:solidFill>
                <a:latin typeface="IBM Plex Sans" pitchFamily="34" charset="0"/>
                <a:ea typeface="IBM Plex Sans" pitchFamily="34" charset="-122"/>
                <a:cs typeface="IBM Plex Sans" pitchFamily="34" charset="-120"/>
              </a:rPr>
              <a:t>[G]</a:t>
            </a:r>
            <a:r>
              <a:rPr lang="en-US" sz="1450" dirty="0">
                <a:solidFill>
                  <a:srgbClr val="C4D0DE"/>
                </a:solidFill>
                <a:latin typeface="IBM Plex Sans" pitchFamily="34" charset="0"/>
                <a:ea typeface="IBM Plex Sans" pitchFamily="34" charset="-122"/>
                <a:cs typeface="IBM Plex Sans" pitchFamily="34" charset="-120"/>
              </a:rPr>
              <a:t> grounded, </a:t>
            </a:r>
            <a:r>
              <a:rPr lang="en-US" sz="1450" b="1" dirty="0">
                <a:solidFill>
                  <a:srgbClr val="C4D0DE"/>
                </a:solidFill>
                <a:latin typeface="IBM Plex Sans" pitchFamily="34" charset="0"/>
                <a:ea typeface="IBM Plex Sans" pitchFamily="34" charset="-122"/>
                <a:cs typeface="IBM Plex Sans" pitchFamily="34" charset="-120"/>
              </a:rPr>
              <a:t>[R]</a:t>
            </a:r>
            <a:r>
              <a:rPr lang="en-US" sz="1450" dirty="0">
                <a:solidFill>
                  <a:srgbClr val="C4D0DE"/>
                </a:solidFill>
                <a:latin typeface="IBM Plex Sans" pitchFamily="34" charset="0"/>
                <a:ea typeface="IBM Plex Sans" pitchFamily="34" charset="-122"/>
                <a:cs typeface="IBM Plex Sans" pitchFamily="34" charset="-120"/>
              </a:rPr>
              <a:t> refused · </a:t>
            </a:r>
            <a:r>
              <a:rPr lang="en-US" sz="1450" b="1" dirty="0">
                <a:solidFill>
                  <a:srgbClr val="C4D0DE"/>
                </a:solidFill>
                <a:latin typeface="IBM Plex Sans" pitchFamily="34" charset="0"/>
                <a:ea typeface="IBM Plex Sans" pitchFamily="34" charset="-122"/>
                <a:cs typeface="IBM Plex Sans" pitchFamily="34" charset="-120"/>
              </a:rPr>
              <a:t>[D]</a:t>
            </a:r>
            <a:r>
              <a:rPr lang="en-US" sz="1450" dirty="0">
                <a:solidFill>
                  <a:srgbClr val="C4D0DE"/>
                </a:solidFill>
                <a:latin typeface="IBM Plex Sans" pitchFamily="34" charset="0"/>
                <a:ea typeface="IBM Plex Sans" pitchFamily="34" charset="-122"/>
                <a:cs typeface="IBM Plex Sans" pitchFamily="34" charset="-120"/>
              </a:rPr>
              <a:t> drafts, of which </a:t>
            </a:r>
            <a:r>
              <a:rPr lang="en-US" sz="1450" b="1" dirty="0">
                <a:solidFill>
                  <a:srgbClr val="C4D0DE"/>
                </a:solidFill>
                <a:latin typeface="IBM Plex Sans" pitchFamily="34" charset="0"/>
                <a:ea typeface="IBM Plex Sans" pitchFamily="34" charset="-122"/>
                <a:cs typeface="IBM Plex Sans" pitchFamily="34" charset="-120"/>
              </a:rPr>
              <a:t>[M]</a:t>
            </a:r>
            <a:r>
              <a:rPr lang="en-US" sz="1450" dirty="0">
                <a:solidFill>
                  <a:srgbClr val="C4D0DE"/>
                </a:solidFill>
                <a:latin typeface="IBM Plex Sans" pitchFamily="34" charset="0"/>
                <a:ea typeface="IBM Plex Sans" pitchFamily="34" charset="-122"/>
                <a:cs typeface="IBM Plex Sans" pitchFamily="34" charset="-120"/>
              </a:rPr>
              <a:t> found by the model · </a:t>
            </a:r>
            <a:r>
              <a:rPr lang="en-US" sz="1450" b="1" dirty="0">
                <a:solidFill>
                  <a:srgbClr val="C4D0DE"/>
                </a:solidFill>
                <a:latin typeface="IBM Plex Sans" pitchFamily="34" charset="0"/>
                <a:ea typeface="IBM Plex Sans" pitchFamily="34" charset="-122"/>
                <a:cs typeface="IBM Plex Sans" pitchFamily="34" charset="-120"/>
              </a:rPr>
              <a:t>[A]</a:t>
            </a:r>
            <a:r>
              <a:rPr lang="en-US" sz="1450" dirty="0">
                <a:solidFill>
                  <a:srgbClr val="C4D0DE"/>
                </a:solidFill>
                <a:latin typeface="IBM Plex Sans" pitchFamily="34" charset="0"/>
                <a:ea typeface="IBM Plex Sans" pitchFamily="34" charset="-122"/>
                <a:cs typeface="IBM Plex Sans" pitchFamily="34" charset="-120"/>
              </a:rPr>
              <a:t> approved by </a:t>
            </a:r>
            <a:r>
              <a:rPr lang="en-US" sz="1450" b="1" dirty="0">
                <a:solidFill>
                  <a:srgbClr val="C4D0DE"/>
                </a:solidFill>
                <a:latin typeface="IBM Plex Sans" pitchFamily="34" charset="0"/>
                <a:ea typeface="IBM Plex Sans" pitchFamily="34" charset="-122"/>
                <a:cs typeface="IBM Plex Sans" pitchFamily="34" charset="-120"/>
              </a:rPr>
              <a:t>[reviewer]</a:t>
            </a:r>
            <a:r>
              <a:rPr lang="en-US" sz="1450" dirty="0">
                <a:solidFill>
                  <a:srgbClr val="C4D0DE"/>
                </a:solidFill>
                <a:latin typeface="IBM Plex Sans" pitchFamily="34" charset="0"/>
                <a:ea typeface="IBM Plex Sans" pitchFamily="34" charset="-122"/>
                <a:cs typeface="IBM Plex Sans" pitchFamily="34" charset="-120"/>
              </a:rPr>
              <a:t>.</a:t>
            </a:r>
            <a:endParaRPr lang="en-US" sz="1450" dirty="0"/>
          </a:p>
        </p:txBody>
      </p:sp>
      <p:sp>
        <p:nvSpPr>
          <p:cNvPr id="10" name="Shape 8"/>
          <p:cNvSpPr/>
          <p:nvPr/>
        </p:nvSpPr>
        <p:spPr>
          <a:xfrm>
            <a:off x="831850" y="5278239"/>
            <a:ext cx="0" cy="627261"/>
          </a:xfrm>
          <a:prstGeom prst="line">
            <a:avLst/>
          </a:prstGeom>
          <a:noFill/>
          <a:ln w="38100">
            <a:solidFill>
              <a:srgbClr val="5FB8A6"/>
            </a:solidFill>
            <a:prstDash val="solid"/>
          </a:ln>
        </p:spPr>
      </p:sp>
      <p:sp>
        <p:nvSpPr>
          <p:cNvPr id="11" name="Text 9"/>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F5F6F4"/>
                </a:solidFill>
                <a:latin typeface="IBM Plex Sans" pitchFamily="34" charset="0"/>
                <a:ea typeface="IBM Plex Sans" pitchFamily="34" charset="-122"/>
                <a:cs typeface="IBM Plex Sans" pitchFamily="34" charset="-120"/>
              </a:rPr>
              <a:t>Was:</a:t>
            </a:r>
            <a:r>
              <a:rPr lang="en-US" sz="1550" dirty="0">
                <a:solidFill>
                  <a:srgbClr val="F5F6F4"/>
                </a:solidFill>
                <a:latin typeface="IBM Plex Sans" pitchFamily="34" charset="0"/>
                <a:ea typeface="IBM Plex Sans" pitchFamily="34" charset="-122"/>
                <a:cs typeface="IBM Plex Sans" pitchFamily="34" charset="-120"/>
              </a:rPr>
              <a:t> two chapters transcribed by hand, no path to the other 27 and none to quarterly refreshes. </a:t>
            </a:r>
            <a:r>
              <a:rPr lang="en-US" sz="1550" b="1" dirty="0">
                <a:solidFill>
                  <a:srgbClr val="F5F6F4"/>
                </a:solidFill>
                <a:latin typeface="IBM Plex Sans" pitchFamily="34" charset="0"/>
                <a:ea typeface="IBM Plex Sans" pitchFamily="34" charset="-122"/>
                <a:cs typeface="IBM Plex Sans" pitchFamily="34" charset="-120"/>
              </a:rPr>
              <a:t>Now:</a:t>
            </a:r>
            <a:r>
              <a:rPr lang="en-US" sz="1550" dirty="0">
                <a:solidFill>
                  <a:srgbClr val="F5F6F4"/>
                </a:solidFill>
                <a:latin typeface="IBM Plex Sans" pitchFamily="34" charset="0"/>
                <a:ea typeface="IBM Plex Sans" pitchFamily="34" charset="-122"/>
                <a:cs typeface="IBM Plex Sans" pitchFamily="34" charset="-120"/>
              </a:rPr>
              <a:t> a run is a notebook, a refresh is a re-run, and only changed sections cost a model call.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SCALABLE · 10 — THE MODEL PATH</a:t>
            </a:r>
            <a:endParaRPr lang="en-US" sz="1250" dirty="0"/>
          </a:p>
        </p:txBody>
      </p:sp>
      <p:sp>
        <p:nvSpPr>
          <p:cNvPr id="3" name="Text 1"/>
          <p:cNvSpPr/>
          <p:nvPr/>
        </p:nvSpPr>
        <p:spPr>
          <a:xfrm>
            <a:off x="812800" y="1149350"/>
            <a:ext cx="10883392" cy="947341"/>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Same model, same loop as the anomaly-summarization pipeline</a:t>
            </a:r>
            <a:endParaRPr lang="en-US" sz="3300" dirty="0"/>
          </a:p>
        </p:txBody>
      </p:sp>
      <p:sp>
        <p:nvSpPr>
          <p:cNvPr id="4" name="Shape 2"/>
          <p:cNvSpPr/>
          <p:nvPr/>
        </p:nvSpPr>
        <p:spPr>
          <a:xfrm>
            <a:off x="815975" y="2191841"/>
            <a:ext cx="10560050" cy="901700"/>
          </a:xfrm>
          <a:prstGeom prst="roundRect">
            <a:avLst>
              <a:gd name="adj" fmla="val 9507"/>
            </a:avLst>
          </a:prstGeom>
          <a:solidFill>
            <a:srgbClr val="FFFFFF"/>
          </a:solidFill>
          <a:ln w="6350">
            <a:solidFill>
              <a:srgbClr val="E3E6E4"/>
            </a:solidFill>
            <a:prstDash val="solid"/>
          </a:ln>
        </p:spPr>
      </p:sp>
      <p:sp>
        <p:nvSpPr>
          <p:cNvPr id="5" name="Text 3"/>
          <p:cNvSpPr/>
          <p:nvPr/>
        </p:nvSpPr>
        <p:spPr>
          <a:xfrm>
            <a:off x="1073150" y="2385516"/>
            <a:ext cx="10347071" cy="539750"/>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14273D"/>
                </a:solidFill>
                <a:latin typeface="JetBrains Mono" pitchFamily="34" charset="0"/>
                <a:ea typeface="JetBrains Mono" pitchFamily="34" charset="-122"/>
                <a:cs typeface="JetBrains Mono" pitchFamily="34" charset="-120"/>
              </a:rPr>
              <a:t>gpt-oss-120b on Serverless GPU › chat template + reasoning effort › greedy decode › harmony parse › </a:t>
            </a:r>
            <a:r>
              <a:rPr lang="en-US" sz="1350" dirty="0">
                <a:solidFill>
                  <a:srgbClr val="1F7A6B"/>
                </a:solidFill>
                <a:latin typeface="JetBrains Mono" pitchFamily="34" charset="0"/>
                <a:ea typeface="JetBrains Mono" pitchFamily="34" charset="-122"/>
                <a:cs typeface="JetBrains Mono" pitchFamily="34" charset="-120"/>
              </a:rPr>
              <a:t>final channel only</a:t>
            </a:r>
            <a:r>
              <a:rPr lang="en-US" sz="1350" dirty="0">
                <a:solidFill>
                  <a:srgbClr val="14273D"/>
                </a:solidFill>
                <a:latin typeface="JetBrains Mono" pitchFamily="34" charset="0"/>
                <a:ea typeface="JetBrains Mono" pitchFamily="34" charset="-122"/>
                <a:cs typeface="JetBrains Mono" pitchFamily="34" charset="-120"/>
              </a:rPr>
              <a:t> › JSON grammar check</a:t>
            </a:r>
            <a:endParaRPr lang="en-US" sz="1350" dirty="0"/>
          </a:p>
        </p:txBody>
      </p:sp>
      <p:sp>
        <p:nvSpPr>
          <p:cNvPr id="6" name="Shape 4"/>
          <p:cNvSpPr/>
          <p:nvPr/>
        </p:nvSpPr>
        <p:spPr>
          <a:xfrm>
            <a:off x="815975" y="3217267"/>
            <a:ext cx="3397250" cy="1940421"/>
          </a:xfrm>
          <a:prstGeom prst="roundRect">
            <a:avLst>
              <a:gd name="adj" fmla="val 5072"/>
            </a:avLst>
          </a:prstGeom>
          <a:solidFill>
            <a:srgbClr val="FFFFFF"/>
          </a:solidFill>
          <a:ln w="6350">
            <a:solidFill>
              <a:srgbClr val="E3E6E4"/>
            </a:solidFill>
            <a:prstDash val="solid"/>
          </a:ln>
        </p:spPr>
      </p:sp>
      <p:sp>
        <p:nvSpPr>
          <p:cNvPr id="7" name="Text 5"/>
          <p:cNvSpPr/>
          <p:nvPr/>
        </p:nvSpPr>
        <p:spPr>
          <a:xfrm>
            <a:off x="1047750" y="3449042"/>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Reasoning is discarded</a:t>
            </a:r>
            <a:endParaRPr lang="en-US" sz="1600" dirty="0"/>
          </a:p>
        </p:txBody>
      </p:sp>
      <p:sp>
        <p:nvSpPr>
          <p:cNvPr id="8" name="Text 6"/>
          <p:cNvSpPr/>
          <p:nvPr/>
        </p:nvSpPr>
        <p:spPr>
          <a:xfrm>
            <a:off x="1047750" y="3769023"/>
            <a:ext cx="3021711"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The model's analysis channel never reaches a rule. Only the final answer is parsed, and only if it is our JSON.</a:t>
            </a:r>
            <a:endParaRPr lang="en-US" sz="1350" dirty="0"/>
          </a:p>
        </p:txBody>
      </p:sp>
      <p:sp>
        <p:nvSpPr>
          <p:cNvPr id="9" name="Shape 7"/>
          <p:cNvSpPr/>
          <p:nvPr/>
        </p:nvSpPr>
        <p:spPr>
          <a:xfrm>
            <a:off x="4397375" y="3217267"/>
            <a:ext cx="3397250" cy="1940421"/>
          </a:xfrm>
          <a:prstGeom prst="roundRect">
            <a:avLst>
              <a:gd name="adj" fmla="val 5072"/>
            </a:avLst>
          </a:prstGeom>
          <a:solidFill>
            <a:srgbClr val="FFFFFF"/>
          </a:solidFill>
          <a:ln w="6350">
            <a:solidFill>
              <a:srgbClr val="E3E6E4"/>
            </a:solidFill>
            <a:prstDash val="solid"/>
          </a:ln>
        </p:spPr>
      </p:sp>
      <p:sp>
        <p:nvSpPr>
          <p:cNvPr id="10" name="Text 8"/>
          <p:cNvSpPr/>
          <p:nvPr/>
        </p:nvSpPr>
        <p:spPr>
          <a:xfrm>
            <a:off x="4629150" y="3449042"/>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Truncation is a failure</a:t>
            </a:r>
            <a:endParaRPr lang="en-US" sz="1600" dirty="0"/>
          </a:p>
        </p:txBody>
      </p:sp>
      <p:sp>
        <p:nvSpPr>
          <p:cNvPr id="11" name="Text 9"/>
          <p:cNvSpPr/>
          <p:nvPr/>
        </p:nvSpPr>
        <p:spPr>
          <a:xfrm>
            <a:off x="4629150" y="3769023"/>
            <a:ext cx="3021711" cy="1182291"/>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Hit the token budget without an answer → retry once at 1.8×. Still nothing → recorded as a model failure, retried next run, never cached as "no rules".</a:t>
            </a:r>
            <a:endParaRPr lang="en-US" sz="1350" dirty="0"/>
          </a:p>
        </p:txBody>
      </p:sp>
      <p:sp>
        <p:nvSpPr>
          <p:cNvPr id="12" name="Shape 10"/>
          <p:cNvSpPr/>
          <p:nvPr/>
        </p:nvSpPr>
        <p:spPr>
          <a:xfrm>
            <a:off x="7978775" y="3217267"/>
            <a:ext cx="3397250" cy="1940421"/>
          </a:xfrm>
          <a:prstGeom prst="roundRect">
            <a:avLst>
              <a:gd name="adj" fmla="val 5072"/>
            </a:avLst>
          </a:prstGeom>
          <a:solidFill>
            <a:srgbClr val="FFFFFF"/>
          </a:solidFill>
          <a:ln w="6350">
            <a:solidFill>
              <a:srgbClr val="E3E6E4"/>
            </a:solidFill>
            <a:prstDash val="solid"/>
          </a:ln>
        </p:spPr>
      </p:sp>
      <p:sp>
        <p:nvSpPr>
          <p:cNvPr id="13" name="Text 11"/>
          <p:cNvSpPr/>
          <p:nvPr/>
        </p:nvSpPr>
        <p:spPr>
          <a:xfrm>
            <a:off x="8210550" y="3449042"/>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Checkpointed, deterministic</a:t>
            </a:r>
            <a:endParaRPr lang="en-US" sz="1600" dirty="0"/>
          </a:p>
        </p:txBody>
      </p:sp>
      <p:sp>
        <p:nvSpPr>
          <p:cNvPr id="14" name="Text 12"/>
          <p:cNvSpPr/>
          <p:nvPr/>
        </p:nvSpPr>
        <p:spPr>
          <a:xfrm>
            <a:off x="8210550" y="3769023"/>
            <a:ext cx="3021711" cy="950913"/>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Greedy decoding makes runs repeatable. Model outputs are flushed to Delta every 25 calls; a crash costs minutes, not the hour.</a:t>
            </a:r>
            <a:endParaRPr lang="en-US" sz="1350" dirty="0"/>
          </a:p>
        </p:txBody>
      </p:sp>
      <p:sp>
        <p:nvSpPr>
          <p:cNvPr id="15" name="Shape 13"/>
          <p:cNvSpPr/>
          <p:nvPr/>
        </p:nvSpPr>
        <p:spPr>
          <a:xfrm>
            <a:off x="831850" y="5278239"/>
            <a:ext cx="0" cy="627261"/>
          </a:xfrm>
          <a:prstGeom prst="line">
            <a:avLst/>
          </a:prstGeom>
          <a:noFill/>
          <a:ln w="38100">
            <a:solidFill>
              <a:srgbClr val="1F7A6B"/>
            </a:solidFill>
            <a:prstDash val="solid"/>
          </a:ln>
        </p:spPr>
      </p:sp>
      <p:sp>
        <p:nvSpPr>
          <p:cNvPr id="16" name="Text 14"/>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Cost of a run:</a:t>
            </a:r>
            <a:r>
              <a:rPr lang="en-US" sz="1550" dirty="0">
                <a:solidFill>
                  <a:srgbClr val="14273D"/>
                </a:solidFill>
                <a:latin typeface="IBM Plex Sans" pitchFamily="34" charset="0"/>
                <a:ea typeface="IBM Plex Sans" pitchFamily="34" charset="-122"/>
                <a:cs typeface="IBM Plex Sans" pitchFamily="34" charset="-120"/>
              </a:rPr>
              <a:t> one generate per candidate section — about an hour for the six MVP chapters. Sections whose text has not changed are served from cache for free.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C2E"/>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5FB8A6"/>
                </a:solidFill>
                <a:latin typeface="JetBrains Mono" pitchFamily="34" charset="0"/>
                <a:ea typeface="JetBrains Mono" pitchFamily="34" charset="-122"/>
                <a:cs typeface="JetBrains Mono" pitchFamily="34" charset="-120"/>
              </a:rPr>
              <a:t>SCALABLE · 11 — WHAT THE FIRST REAL RUN TAUGHT US</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F5F6F4"/>
                </a:solidFill>
                <a:latin typeface="IBM Plex Sans" pitchFamily="34" charset="0"/>
                <a:ea typeface="IBM Plex Sans" pitchFamily="34" charset="-122"/>
                <a:cs typeface="IBM Plex Sans" pitchFamily="34" charset="-120"/>
              </a:rPr>
              <a:t>A pipeline that can fail quietly, will</a:t>
            </a:r>
            <a:endParaRPr lang="en-US" sz="3300" dirty="0"/>
          </a:p>
        </p:txBody>
      </p:sp>
      <p:sp>
        <p:nvSpPr>
          <p:cNvPr id="4" name="Shape 2"/>
          <p:cNvSpPr/>
          <p:nvPr/>
        </p:nvSpPr>
        <p:spPr>
          <a:xfrm>
            <a:off x="815975" y="2249388"/>
            <a:ext cx="5149850" cy="2389882"/>
          </a:xfrm>
          <a:prstGeom prst="roundRect">
            <a:avLst>
              <a:gd name="adj" fmla="val 4118"/>
            </a:avLst>
          </a:prstGeom>
          <a:solidFill>
            <a:srgbClr val="1B3350"/>
          </a:solidFill>
          <a:ln w="6350">
            <a:solidFill>
              <a:srgbClr val="2E4A6B"/>
            </a:solidFill>
            <a:prstDash val="solid"/>
          </a:ln>
        </p:spPr>
      </p:sp>
      <p:sp>
        <p:nvSpPr>
          <p:cNvPr id="5" name="Text 3"/>
          <p:cNvSpPr/>
          <p:nvPr/>
        </p:nvSpPr>
        <p:spPr>
          <a:xfrm>
            <a:off x="1073150" y="2506563"/>
            <a:ext cx="4774565" cy="229791"/>
          </a:xfrm>
          <a:prstGeom prst="rect">
            <a:avLst/>
          </a:prstGeom>
          <a:noFill/>
          <a:ln/>
        </p:spPr>
        <p:txBody>
          <a:bodyPr wrap="square" lIns="0" tIns="0" rIns="0" bIns="0" rtlCol="0" anchor="t">
            <a:normAutofit/>
          </a:bodyPr>
          <a:lstStyle/>
          <a:p>
            <a:pPr algn="l" indent="0" marL="0">
              <a:lnSpc>
                <a:spcPts val="1610"/>
              </a:lnSpc>
              <a:buNone/>
            </a:pPr>
            <a:r>
              <a:rPr lang="en-US" sz="1150" spc="50" kern="0" dirty="0">
                <a:solidFill>
                  <a:srgbClr val="E0906A"/>
                </a:solidFill>
                <a:latin typeface="JetBrains Mono" pitchFamily="34" charset="0"/>
                <a:ea typeface="JetBrains Mono" pitchFamily="34" charset="-122"/>
                <a:cs typeface="JetBrains Mono" pitchFamily="34" charset="-120"/>
              </a:rPr>
              <a:t>THE RUN THAT LOOKED FINE</a:t>
            </a:r>
            <a:endParaRPr lang="en-US" sz="1150" dirty="0"/>
          </a:p>
        </p:txBody>
      </p:sp>
      <p:sp>
        <p:nvSpPr>
          <p:cNvPr id="6" name="Text 4"/>
          <p:cNvSpPr/>
          <p:nvPr/>
        </p:nvSpPr>
        <p:spPr>
          <a:xfrm>
            <a:off x="1073150" y="2799854"/>
            <a:ext cx="4774565" cy="1314252"/>
          </a:xfrm>
          <a:prstGeom prst="rect">
            <a:avLst/>
          </a:prstGeom>
          <a:noFill/>
          <a:ln/>
        </p:spPr>
        <p:txBody>
          <a:bodyPr wrap="square" lIns="0" tIns="0" rIns="0" bIns="0" rtlCol="0" anchor="t">
            <a:normAutofit/>
          </a:bodyPr>
          <a:lstStyle/>
          <a:p>
            <a:pPr algn="l" indent="0" marL="0">
              <a:lnSpc>
                <a:spcPts val="2030"/>
              </a:lnSpc>
              <a:buNone/>
            </a:pPr>
            <a:r>
              <a:rPr lang="en-US" sz="1450" dirty="0">
                <a:solidFill>
                  <a:srgbClr val="C4D0DE"/>
                </a:solidFill>
                <a:latin typeface="IBM Plex Sans" pitchFamily="34" charset="0"/>
                <a:ea typeface="IBM Plex Sans" pitchFamily="34" charset="-122"/>
                <a:cs typeface="IBM Plex Sans" pitchFamily="34" charset="-120"/>
              </a:rPr>
              <a:t>Finished in </a:t>
            </a:r>
            <a:r>
              <a:rPr lang="en-US" sz="1450" b="1" dirty="0">
                <a:solidFill>
                  <a:srgbClr val="C4D0DE"/>
                </a:solidFill>
                <a:latin typeface="IBM Plex Sans" pitchFamily="34" charset="0"/>
                <a:ea typeface="IBM Plex Sans" pitchFamily="34" charset="-122"/>
                <a:cs typeface="IBM Plex Sans" pitchFamily="34" charset="-120"/>
              </a:rPr>
              <a:t>16 seconds</a:t>
            </a:r>
            <a:r>
              <a:rPr lang="en-US" sz="1450" dirty="0">
                <a:solidFill>
                  <a:srgbClr val="C4D0DE"/>
                </a:solidFill>
                <a:latin typeface="IBM Plex Sans" pitchFamily="34" charset="0"/>
                <a:ea typeface="IBM Plex Sans" pitchFamily="34" charset="-122"/>
                <a:cs typeface="IBM Plex Sans" pitchFamily="34" charset="-120"/>
              </a:rPr>
              <a:t> with 7 drafts and a green summary. Every model call had failed; a fallback swallowed the error and the pattern extractor filled in. The 7 drafts all came from the two chapters the patterns were written from — a mirror, not an extraction.</a:t>
            </a:r>
            <a:endParaRPr lang="en-US" sz="1450" dirty="0"/>
          </a:p>
        </p:txBody>
      </p:sp>
      <p:sp>
        <p:nvSpPr>
          <p:cNvPr id="7" name="Shape 5"/>
          <p:cNvSpPr/>
          <p:nvPr/>
        </p:nvSpPr>
        <p:spPr>
          <a:xfrm>
            <a:off x="6226175" y="2249388"/>
            <a:ext cx="5149850" cy="2389882"/>
          </a:xfrm>
          <a:prstGeom prst="roundRect">
            <a:avLst>
              <a:gd name="adj" fmla="val 4118"/>
            </a:avLst>
          </a:prstGeom>
          <a:solidFill>
            <a:srgbClr val="1B3350"/>
          </a:solidFill>
          <a:ln w="6350">
            <a:solidFill>
              <a:srgbClr val="2E4A6B"/>
            </a:solidFill>
            <a:prstDash val="solid"/>
          </a:ln>
        </p:spPr>
      </p:sp>
      <p:sp>
        <p:nvSpPr>
          <p:cNvPr id="8" name="Text 6"/>
          <p:cNvSpPr/>
          <p:nvPr/>
        </p:nvSpPr>
        <p:spPr>
          <a:xfrm>
            <a:off x="6483350" y="2506563"/>
            <a:ext cx="4774565" cy="229791"/>
          </a:xfrm>
          <a:prstGeom prst="rect">
            <a:avLst/>
          </a:prstGeom>
          <a:noFill/>
          <a:ln/>
        </p:spPr>
        <p:txBody>
          <a:bodyPr wrap="square" lIns="0" tIns="0" rIns="0" bIns="0" rtlCol="0" anchor="t">
            <a:normAutofit/>
          </a:bodyPr>
          <a:lstStyle/>
          <a:p>
            <a:pPr algn="l" indent="0" marL="0">
              <a:lnSpc>
                <a:spcPts val="1610"/>
              </a:lnSpc>
              <a:buNone/>
            </a:pPr>
            <a:r>
              <a:rPr lang="en-US" sz="1150" spc="50" kern="0" dirty="0">
                <a:solidFill>
                  <a:srgbClr val="5FB8A6"/>
                </a:solidFill>
                <a:latin typeface="JetBrains Mono" pitchFamily="34" charset="0"/>
                <a:ea typeface="JetBrains Mono" pitchFamily="34" charset="-122"/>
                <a:cs typeface="JetBrains Mono" pitchFamily="34" charset="-120"/>
              </a:rPr>
              <a:t>THE RUN THAT WORKED — [DATE]</a:t>
            </a:r>
            <a:endParaRPr lang="en-US" sz="1150" dirty="0"/>
          </a:p>
        </p:txBody>
      </p:sp>
      <p:sp>
        <p:nvSpPr>
          <p:cNvPr id="9" name="Text 7"/>
          <p:cNvSpPr/>
          <p:nvPr/>
        </p:nvSpPr>
        <p:spPr>
          <a:xfrm>
            <a:off x="6483350" y="2799854"/>
            <a:ext cx="4774565" cy="798711"/>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C4D0DE"/>
                </a:solidFill>
                <a:latin typeface="IBM Plex Sans" pitchFamily="34" charset="0"/>
                <a:ea typeface="IBM Plex Sans" pitchFamily="34" charset="-122"/>
                <a:cs typeface="IBM Plex Sans" pitchFamily="34" charset="-120"/>
              </a:rPr>
              <a:t>[T] minutes</a:t>
            </a:r>
            <a:r>
              <a:rPr lang="en-US" sz="1450" dirty="0">
                <a:solidFill>
                  <a:srgbClr val="C4D0DE"/>
                </a:solidFill>
                <a:latin typeface="IBM Plex Sans" pitchFamily="34" charset="0"/>
                <a:ea typeface="IBM Plex Sans" pitchFamily="34" charset="-122"/>
                <a:cs typeface="IBM Plex Sans" pitchFamily="34" charset="-120"/>
              </a:rPr>
              <a:t> · </a:t>
            </a:r>
            <a:r>
              <a:rPr lang="en-US" sz="1450" b="1" dirty="0">
                <a:solidFill>
                  <a:srgbClr val="C4D0DE"/>
                </a:solidFill>
                <a:latin typeface="IBM Plex Sans" pitchFamily="34" charset="0"/>
                <a:ea typeface="IBM Plex Sans" pitchFamily="34" charset="-122"/>
                <a:cs typeface="IBM Plex Sans" pitchFamily="34" charset="-120"/>
              </a:rPr>
              <a:t>[C]</a:t>
            </a:r>
            <a:r>
              <a:rPr lang="en-US" sz="1450" dirty="0">
                <a:solidFill>
                  <a:srgbClr val="C4D0DE"/>
                </a:solidFill>
                <a:latin typeface="IBM Plex Sans" pitchFamily="34" charset="0"/>
                <a:ea typeface="IBM Plex Sans" pitchFamily="34" charset="-122"/>
                <a:cs typeface="IBM Plex Sans" pitchFamily="34" charset="-120"/>
              </a:rPr>
              <a:t> model calls, </a:t>
            </a:r>
            <a:r>
              <a:rPr lang="en-US" sz="1450" b="1" dirty="0">
                <a:solidFill>
                  <a:srgbClr val="C4D0DE"/>
                </a:solidFill>
                <a:latin typeface="IBM Plex Sans" pitchFamily="34" charset="0"/>
                <a:ea typeface="IBM Plex Sans" pitchFamily="34" charset="-122"/>
                <a:cs typeface="IBM Plex Sans" pitchFamily="34" charset="-120"/>
              </a:rPr>
              <a:t>[F]</a:t>
            </a:r>
            <a:r>
              <a:rPr lang="en-US" sz="1450" dirty="0">
                <a:solidFill>
                  <a:srgbClr val="C4D0DE"/>
                </a:solidFill>
                <a:latin typeface="IBM Plex Sans" pitchFamily="34" charset="0"/>
                <a:ea typeface="IBM Plex Sans" pitchFamily="34" charset="-122"/>
                <a:cs typeface="IBM Plex Sans" pitchFamily="34" charset="-120"/>
              </a:rPr>
              <a:t> failures, </a:t>
            </a:r>
            <a:r>
              <a:rPr lang="en-US" sz="1450" b="1" dirty="0">
                <a:solidFill>
                  <a:srgbClr val="C4D0DE"/>
                </a:solidFill>
                <a:latin typeface="IBM Plex Sans" pitchFamily="34" charset="0"/>
                <a:ea typeface="IBM Plex Sans" pitchFamily="34" charset="-122"/>
                <a:cs typeface="IBM Plex Sans" pitchFamily="34" charset="-120"/>
              </a:rPr>
              <a:t>[Rt]</a:t>
            </a:r>
            <a:r>
              <a:rPr lang="en-US" sz="1450" dirty="0">
                <a:solidFill>
                  <a:srgbClr val="C4D0DE"/>
                </a:solidFill>
                <a:latin typeface="IBM Plex Sans" pitchFamily="34" charset="0"/>
                <a:ea typeface="IBM Plex Sans" pitchFamily="34" charset="-122"/>
                <a:cs typeface="IBM Plex Sans" pitchFamily="34" charset="-120"/>
              </a:rPr>
              <a:t> retries · drafts by source: pattern </a:t>
            </a:r>
            <a:r>
              <a:rPr lang="en-US" sz="1450" b="1" dirty="0">
                <a:solidFill>
                  <a:srgbClr val="C4D0DE"/>
                </a:solidFill>
                <a:latin typeface="IBM Plex Sans" pitchFamily="34" charset="0"/>
                <a:ea typeface="IBM Plex Sans" pitchFamily="34" charset="-122"/>
                <a:cs typeface="IBM Plex Sans" pitchFamily="34" charset="-120"/>
              </a:rPr>
              <a:t>[a]</a:t>
            </a:r>
            <a:r>
              <a:rPr lang="en-US" sz="1450" dirty="0">
                <a:solidFill>
                  <a:srgbClr val="C4D0DE"/>
                </a:solidFill>
                <a:latin typeface="IBM Plex Sans" pitchFamily="34" charset="0"/>
                <a:ea typeface="IBM Plex Sans" pitchFamily="34" charset="-122"/>
                <a:cs typeface="IBM Plex Sans" pitchFamily="34" charset="-120"/>
              </a:rPr>
              <a:t>, model </a:t>
            </a:r>
            <a:r>
              <a:rPr lang="en-US" sz="1450" b="1" dirty="0">
                <a:solidFill>
                  <a:srgbClr val="C4D0DE"/>
                </a:solidFill>
                <a:latin typeface="IBM Plex Sans" pitchFamily="34" charset="0"/>
                <a:ea typeface="IBM Plex Sans" pitchFamily="34" charset="-122"/>
                <a:cs typeface="IBM Plex Sans" pitchFamily="34" charset="-120"/>
              </a:rPr>
              <a:t>[b]</a:t>
            </a:r>
            <a:r>
              <a:rPr lang="en-US" sz="1450" dirty="0">
                <a:solidFill>
                  <a:srgbClr val="C4D0DE"/>
                </a:solidFill>
                <a:latin typeface="IBM Plex Sans" pitchFamily="34" charset="0"/>
                <a:ea typeface="IBM Plex Sans" pitchFamily="34" charset="-122"/>
                <a:cs typeface="IBM Plex Sans" pitchFamily="34" charset="-120"/>
              </a:rPr>
              <a:t>, both </a:t>
            </a:r>
            <a:r>
              <a:rPr lang="en-US" sz="1450" b="1" dirty="0">
                <a:solidFill>
                  <a:srgbClr val="C4D0DE"/>
                </a:solidFill>
                <a:latin typeface="IBM Plex Sans" pitchFamily="34" charset="0"/>
                <a:ea typeface="IBM Plex Sans" pitchFamily="34" charset="-122"/>
                <a:cs typeface="IBM Plex Sans" pitchFamily="34" charset="-120"/>
              </a:rPr>
              <a:t>[c]</a:t>
            </a:r>
            <a:r>
              <a:rPr lang="en-US" sz="1450" dirty="0">
                <a:solidFill>
                  <a:srgbClr val="C4D0DE"/>
                </a:solidFill>
                <a:latin typeface="IBM Plex Sans" pitchFamily="34" charset="0"/>
                <a:ea typeface="IBM Plex Sans" pitchFamily="34" charset="-122"/>
                <a:cs typeface="IBM Plex Sans" pitchFamily="34" charset="-120"/>
              </a:rPr>
              <a:t> · </a:t>
            </a:r>
            <a:r>
              <a:rPr lang="en-US" sz="1450" b="1" dirty="0">
                <a:solidFill>
                  <a:srgbClr val="C4D0DE"/>
                </a:solidFill>
                <a:latin typeface="IBM Plex Sans" pitchFamily="34" charset="0"/>
                <a:ea typeface="IBM Plex Sans" pitchFamily="34" charset="-122"/>
                <a:cs typeface="IBM Plex Sans" pitchFamily="34" charset="-120"/>
              </a:rPr>
              <a:t>[R]</a:t>
            </a:r>
            <a:r>
              <a:rPr lang="en-US" sz="1450" dirty="0">
                <a:solidFill>
                  <a:srgbClr val="C4D0DE"/>
                </a:solidFill>
                <a:latin typeface="IBM Plex Sans" pitchFamily="34" charset="0"/>
                <a:ea typeface="IBM Plex Sans" pitchFamily="34" charset="-122"/>
                <a:cs typeface="IBM Plex Sans" pitchFamily="34" charset="-120"/>
              </a:rPr>
              <a:t> proposals refused by grounding.</a:t>
            </a:r>
            <a:endParaRPr lang="en-US" sz="1450" dirty="0"/>
          </a:p>
        </p:txBody>
      </p:sp>
      <p:sp>
        <p:nvSpPr>
          <p:cNvPr id="10" name="Text 8"/>
          <p:cNvSpPr/>
          <p:nvPr/>
        </p:nvSpPr>
        <p:spPr>
          <a:xfrm>
            <a:off x="6483350" y="3662065"/>
            <a:ext cx="4774565" cy="745430"/>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C4D0DE"/>
                </a:solidFill>
                <a:latin typeface="IBM Plex Sans" pitchFamily="34" charset="0"/>
                <a:ea typeface="IBM Plex Sans" pitchFamily="34" charset="-122"/>
                <a:cs typeface="IBM Plex Sans" pitchFamily="34" charset="-120"/>
              </a:rPr>
              <a:t>The model must answer a real call before any chapter is touched; failures are counted, never cached; a regex-only run cannot pass as an extraction again.</a:t>
            </a:r>
            <a:endParaRPr lang="en-US" sz="1350" dirty="0"/>
          </a:p>
        </p:txBody>
      </p:sp>
      <p:sp>
        <p:nvSpPr>
          <p:cNvPr id="11" name="Shape 9"/>
          <p:cNvSpPr/>
          <p:nvPr/>
        </p:nvSpPr>
        <p:spPr>
          <a:xfrm>
            <a:off x="831850" y="5278239"/>
            <a:ext cx="0" cy="627261"/>
          </a:xfrm>
          <a:prstGeom prst="line">
            <a:avLst/>
          </a:prstGeom>
          <a:noFill/>
          <a:ln w="38100">
            <a:solidFill>
              <a:srgbClr val="5FB8A6"/>
            </a:solidFill>
            <a:prstDash val="solid"/>
          </a:ln>
        </p:spPr>
      </p:sp>
      <p:sp>
        <p:nvSpPr>
          <p:cNvPr id="12" name="Text 10"/>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F5F6F4"/>
                </a:solidFill>
                <a:latin typeface="IBM Plex Sans" pitchFamily="34" charset="0"/>
                <a:ea typeface="IBM Plex Sans" pitchFamily="34" charset="-122"/>
                <a:cs typeface="IBM Plex Sans" pitchFamily="34" charset="-120"/>
              </a:rPr>
              <a:t>The measure that matters:</a:t>
            </a:r>
            <a:r>
              <a:rPr lang="en-US" sz="1550" dirty="0">
                <a:solidFill>
                  <a:srgbClr val="F5F6F4"/>
                </a:solidFill>
                <a:latin typeface="IBM Plex Sans" pitchFamily="34" charset="0"/>
                <a:ea typeface="IBM Plex Sans" pitchFamily="34" charset="-122"/>
                <a:cs typeface="IBM Plex Sans" pitchFamily="34" charset="-120"/>
              </a:rPr>
              <a:t> the first failure was caught because the run was suspiciously fast, not because the system said so. Now the system says so — and the right-hand column is the proof.</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38919"/>
          </a:xfrm>
          <a:prstGeom prst="rect">
            <a:avLst/>
          </a:prstGeom>
          <a:noFill/>
          <a:ln/>
        </p:spPr>
        <p:txBody>
          <a:bodyPr wrap="square" lIns="0" tIns="0" rIns="0" bIns="0" rtlCol="0" anchor="t">
            <a:normAutofit/>
          </a:bodyPr>
          <a:lstStyle/>
          <a:p>
            <a:pPr algn="l" indent="0" marL="0">
              <a:lnSpc>
                <a:spcPts val="1723"/>
              </a:lnSpc>
              <a:buNone/>
            </a:pPr>
            <a:r>
              <a:rPr lang="en-US" sz="1230" spc="100" kern="0" dirty="0">
                <a:solidFill>
                  <a:srgbClr val="1F7A6B"/>
                </a:solidFill>
                <a:latin typeface="JetBrains Mono" pitchFamily="34" charset="0"/>
                <a:ea typeface="JetBrains Mono" pitchFamily="34" charset="-122"/>
                <a:cs typeface="JetBrains Mono" pitchFamily="34" charset="-120"/>
              </a:rPr>
              <a:t>SCALABLE · 12 — THE MANUAL IS NOT ONE KIND OF DOCUMENT</a:t>
            </a:r>
            <a:endParaRPr lang="en-US" sz="1230" dirty="0"/>
          </a:p>
        </p:txBody>
      </p:sp>
      <p:sp>
        <p:nvSpPr>
          <p:cNvPr id="3" name="Text 1"/>
          <p:cNvSpPr/>
          <p:nvPr/>
        </p:nvSpPr>
        <p:spPr>
          <a:xfrm>
            <a:off x="812800" y="1140619"/>
            <a:ext cx="10883392" cy="911225"/>
          </a:xfrm>
          <a:prstGeom prst="rect">
            <a:avLst/>
          </a:prstGeom>
          <a:noFill/>
          <a:ln/>
        </p:spPr>
        <p:txBody>
          <a:bodyPr wrap="square" lIns="0" tIns="0" rIns="0" bIns="0" rtlCol="0" anchor="t">
            <a:normAutofit/>
          </a:bodyPr>
          <a:lstStyle/>
          <a:p>
            <a:pPr algn="l" indent="0" marL="0">
              <a:lnSpc>
                <a:spcPts val="3607"/>
              </a:lnSpc>
              <a:buNone/>
            </a:pPr>
            <a:r>
              <a:rPr lang="en-US" sz="3279" b="1" dirty="0">
                <a:solidFill>
                  <a:srgbClr val="14273D"/>
                </a:solidFill>
                <a:latin typeface="IBM Plex Sans" pitchFamily="34" charset="0"/>
                <a:ea typeface="IBM Plex Sans" pitchFamily="34" charset="-122"/>
                <a:cs typeface="IBM Plex Sans" pitchFamily="34" charset="-120"/>
              </a:rPr>
              <a:t>Five chapter profiles, five different capabilities needed</a:t>
            </a:r>
            <a:endParaRPr lang="en-US" sz="3279"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2026444"/>
          <a:ext cx="10566400" cy="3258840"/>
        </p:xfrm>
        <a:graphic>
          <a:graphicData uri="http://schemas.openxmlformats.org/drawingml/2006/table">
            <a:tbl>
              <a:tblPr/>
              <a:tblGrid>
                <a:gridCol w="2324608"/>
                <a:gridCol w="4015232"/>
                <a:gridCol w="4226560"/>
              </a:tblGrid>
              <a:tr h="464840">
                <a:tc>
                  <a:txBody>
                    <a:bodyPr/>
                    <a:lstStyle/>
                    <a:p>
                      <a:pPr indent="0" marL="0">
                        <a:lnSpc>
                          <a:spcPts val="1849"/>
                        </a:lnSpc>
                        <a:buNone/>
                      </a:pPr>
                      <a:r>
                        <a:rPr lang="en-US" sz="1320" b="1" dirty="0">
                          <a:solidFill>
                            <a:srgbClr val="F5F6F4"/>
                          </a:solidFill>
                          <a:latin typeface="IBM Plex Sans" pitchFamily="34" charset="0"/>
                          <a:ea typeface="IBM Plex Sans" pitchFamily="34" charset="-122"/>
                          <a:cs typeface="IBM Plex Sans" pitchFamily="34" charset="-120"/>
                        </a:rPr>
                        <a:t>Profile</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12233A"/>
                    </a:solidFill>
                  </a:tcPr>
                </a:tc>
                <a:tc>
                  <a:txBody>
                    <a:bodyPr/>
                    <a:lstStyle/>
                    <a:p>
                      <a:pPr indent="0" marL="0">
                        <a:lnSpc>
                          <a:spcPts val="1849"/>
                        </a:lnSpc>
                        <a:buNone/>
                      </a:pPr>
                      <a:r>
                        <a:rPr lang="en-US" sz="1320" b="1" dirty="0">
                          <a:solidFill>
                            <a:srgbClr val="F5F6F4"/>
                          </a:solidFill>
                          <a:latin typeface="IBM Plex Sans" pitchFamily="34" charset="0"/>
                          <a:ea typeface="IBM Plex Sans" pitchFamily="34" charset="-122"/>
                          <a:cs typeface="IBM Plex Sans" pitchFamily="34" charset="-120"/>
                        </a:rPr>
                        <a:t>What the text looks like</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12233A"/>
                    </a:solidFill>
                  </a:tcPr>
                </a:tc>
                <a:tc>
                  <a:txBody>
                    <a:bodyPr/>
                    <a:lstStyle/>
                    <a:p>
                      <a:pPr indent="0" marL="0">
                        <a:lnSpc>
                          <a:spcPts val="1849"/>
                        </a:lnSpc>
                        <a:buNone/>
                      </a:pPr>
                      <a:r>
                        <a:rPr lang="en-US" sz="1320" b="1" dirty="0">
                          <a:solidFill>
                            <a:srgbClr val="F5F6F4"/>
                          </a:solidFill>
                          <a:latin typeface="IBM Plex Sans" pitchFamily="34" charset="0"/>
                          <a:ea typeface="IBM Plex Sans" pitchFamily="34" charset="-122"/>
                          <a:cs typeface="IBM Plex Sans" pitchFamily="34" charset="-120"/>
                        </a:rPr>
                        <a:t>What it needs before rules can compile</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12233A"/>
                    </a:solidFill>
                  </a:tcPr>
                </a:tc>
              </a:tr>
              <a:tr h="464840">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Code-rich</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CPT/HCPCS codes with rules in prose (Ch. 10, 19)</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49"/>
                        </a:lnSpc>
                        <a:buNone/>
                      </a:pPr>
                      <a:r>
                        <a:rPr lang="en-US" sz="1320" dirty="0">
                          <a:solidFill>
                            <a:srgbClr val="1F7A6B"/>
                          </a:solidFill>
                          <a:latin typeface="IBM Plex Sans" pitchFamily="34" charset="0"/>
                          <a:ea typeface="IBM Plex Sans" pitchFamily="34" charset="-122"/>
                          <a:cs typeface="IBM Plex Sans" pitchFamily="34" charset="-120"/>
                        </a:rPr>
                        <a:t>Nothing — the current grammar applies</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r>
              <a:tr h="699591">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Category-driven</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Few codes; "included in the per diem" (Ch. 22, 21)</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Category → code resolver (B2 Matrix, fee schedule), human-signed</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r>
              <a:tr h="699691">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Modifier-driven</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"Denied without the appropriate modifier" (Ch. 13, 14)</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A modifier-required compiler with conditions</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r>
              <a:tr h="464939">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Foreign codes</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Revenue codes, DRGs, NDCs (Ch. 11, 11A, 12)</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New code families the pre-filter can see</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0F2EF"/>
                    </a:solidFill>
                  </a:tcPr>
                </a:tc>
              </a:tr>
              <a:tr h="464939">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Process</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49"/>
                        </a:lnSpc>
                        <a:buNone/>
                      </a:pPr>
                      <a:r>
                        <a:rPr lang="en-US" sz="1320" dirty="0">
                          <a:solidFill>
                            <a:srgbClr val="14273D"/>
                          </a:solidFill>
                          <a:latin typeface="IBM Plex Sans" pitchFamily="34" charset="0"/>
                          <a:ea typeface="IBM Plex Sans" pitchFamily="34" charset="-122"/>
                          <a:cs typeface="IBM Plex Sans" pitchFamily="34" charset="-120"/>
                        </a:rPr>
                        <a:t>Eligibility, forms, disputes (Ch. 1–3, 5–9, 25–28)</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c>
                  <a:txBody>
                    <a:bodyPr/>
                    <a:lstStyle/>
                    <a:p>
                      <a:pPr indent="0" marL="0">
                        <a:lnSpc>
                          <a:spcPts val="1849"/>
                        </a:lnSpc>
                        <a:buNone/>
                      </a:pPr>
                      <a:r>
                        <a:rPr lang="en-US" sz="1320" dirty="0">
                          <a:solidFill>
                            <a:srgbClr val="55627A"/>
                          </a:solidFill>
                          <a:latin typeface="IBM Plex Sans" pitchFamily="34" charset="0"/>
                          <a:ea typeface="IBM Plex Sans" pitchFamily="34" charset="-122"/>
                          <a:cs typeface="IBM Plex Sans" pitchFamily="34" charset="-120"/>
                        </a:rPr>
                        <a:t>No detectors; indexed as policy text for search</a:t>
                      </a:r>
                      <a:endParaRPr lang="en-US" sz="1320" dirty="0">
                        <a:latin typeface="IBM Plex Sans" charset="0"/>
                        <a:ea typeface="IBM Plex Sans" charset="0"/>
                        <a:cs typeface="IBM Plex Sans" charset="0"/>
                      </a:endParaRPr>
                    </a:p>
                  </a:txBody>
                  <a:tcPr marL="139700" marR="139700" marT="95250" marB="95250" anchor="t">
                    <a:lnL w="12700" cap="flat" cmpd="sng" algn="ctr">
                      <a:solidFill>
                        <a:srgbClr val="C4C8CC"/>
                      </a:solidFill>
                      <a:prstDash val="solid"/>
                      <a:round/>
                      <a:headEnd type="none" w="med" len="med"/>
                      <a:tailEnd type="none" w="med" len="med"/>
                    </a:lnL>
                    <a:lnR w="12700" cap="flat" cmpd="sng" algn="ctr">
                      <a:solidFill>
                        <a:srgbClr val="C4C8CC"/>
                      </a:solidFill>
                      <a:prstDash val="solid"/>
                      <a:round/>
                      <a:headEnd type="none" w="med" len="med"/>
                      <a:tailEnd type="none" w="med" len="med"/>
                    </a:lnR>
                    <a:lnT w="12700" cap="flat" cmpd="sng" algn="ctr">
                      <a:solidFill>
                        <a:srgbClr val="C4C8CC"/>
                      </a:solidFill>
                      <a:prstDash val="solid"/>
                      <a:round/>
                      <a:headEnd type="none" w="med" len="med"/>
                      <a:tailEnd type="none" w="med" len="med"/>
                    </a:lnT>
                    <a:lnB w="12700" cap="flat" cmpd="sng" algn="ctr">
                      <a:solidFill>
                        <a:srgbClr val="C4C8CC"/>
                      </a:solidFill>
                      <a:prstDash val="solid"/>
                      <a:round/>
                      <a:headEnd type="none" w="med" len="med"/>
                      <a:tailEnd type="none" w="med" len="med"/>
                    </a:lnB>
                    <a:solidFill>
                      <a:srgbClr val="FFFFFF"/>
                    </a:solidFill>
                  </a:tcPr>
                </a:tc>
              </a:tr>
            </a:tbl>
          </a:graphicData>
        </a:graphic>
      </p:graphicFrame>
      <p:sp>
        <p:nvSpPr>
          <p:cNvPr id="5" name="Shape 2"/>
          <p:cNvSpPr/>
          <p:nvPr/>
        </p:nvSpPr>
        <p:spPr>
          <a:xfrm>
            <a:off x="831850" y="5297984"/>
            <a:ext cx="0" cy="607516"/>
          </a:xfrm>
          <a:prstGeom prst="line">
            <a:avLst/>
          </a:prstGeom>
          <a:noFill/>
          <a:ln w="38100">
            <a:solidFill>
              <a:srgbClr val="1F7A6B"/>
            </a:solidFill>
            <a:prstDash val="solid"/>
          </a:ln>
        </p:spPr>
      </p:sp>
      <p:sp>
        <p:nvSpPr>
          <p:cNvPr id="6" name="Text 3"/>
          <p:cNvSpPr/>
          <p:nvPr/>
        </p:nvSpPr>
        <p:spPr>
          <a:xfrm>
            <a:off x="1054100" y="5336084"/>
            <a:ext cx="10634853" cy="556716"/>
          </a:xfrm>
          <a:prstGeom prst="rect">
            <a:avLst/>
          </a:prstGeom>
          <a:noFill/>
          <a:ln/>
        </p:spPr>
        <p:txBody>
          <a:bodyPr wrap="square" lIns="0" tIns="0" rIns="0" bIns="0" rtlCol="0" anchor="t">
            <a:normAutofit/>
          </a:bodyPr>
          <a:lstStyle/>
          <a:p>
            <a:pPr algn="l" indent="0" marL="0">
              <a:lnSpc>
                <a:spcPts val="2109"/>
              </a:lnSpc>
              <a:buNone/>
            </a:pPr>
            <a:r>
              <a:rPr lang="en-US" sz="1506" b="1" dirty="0">
                <a:solidFill>
                  <a:srgbClr val="14273D"/>
                </a:solidFill>
                <a:latin typeface="IBM Plex Sans" pitchFamily="34" charset="0"/>
                <a:ea typeface="IBM Plex Sans" pitchFamily="34" charset="-122"/>
                <a:cs typeface="IBM Plex Sans" pitchFamily="34" charset="-120"/>
              </a:rPr>
              <a:t>Honest scalability:</a:t>
            </a:r>
            <a:r>
              <a:rPr lang="en-US" sz="1506" dirty="0">
                <a:solidFill>
                  <a:srgbClr val="14273D"/>
                </a:solidFill>
                <a:latin typeface="IBM Plex Sans" pitchFamily="34" charset="0"/>
                <a:ea typeface="IBM Plex Sans" pitchFamily="34" charset="-122"/>
                <a:cs typeface="IBM Plex Sans" pitchFamily="34" charset="-120"/>
              </a:rPr>
              <a:t> the pipeline runs on all 29 chapters today; rule </a:t>
            </a:r>
            <a:r>
              <a:rPr lang="en-US" sz="1506" i="1" dirty="0">
                <a:solidFill>
                  <a:srgbClr val="14273D"/>
                </a:solidFill>
                <a:latin typeface="IBM Plex Sans" pitchFamily="34" charset="0"/>
                <a:ea typeface="IBM Plex Sans" pitchFamily="34" charset="-122"/>
                <a:cs typeface="IBM Plex Sans" pitchFamily="34" charset="-120"/>
              </a:rPr>
              <a:t>yield</a:t>
            </a:r>
            <a:r>
              <a:rPr lang="en-US" sz="1506" dirty="0">
                <a:solidFill>
                  <a:srgbClr val="14273D"/>
                </a:solidFill>
                <a:latin typeface="IBM Plex Sans" pitchFamily="34" charset="0"/>
                <a:ea typeface="IBM Plex Sans" pitchFamily="34" charset="-122"/>
                <a:cs typeface="IBM Plex Sans" pitchFamily="34" charset="-120"/>
              </a:rPr>
              <a:t> depends on profile. A profiler measures each chapter's profile so the next capability is chosen by evidence, not by which chapter we happened to start with.</a:t>
            </a:r>
            <a:endParaRPr lang="en-US" sz="1506"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PROVEN · 13 — MEASURABLE</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From "it compiles" to "it runs, and we can measure it"</a:t>
            </a:r>
            <a:endParaRPr lang="en-US" sz="3300" dirty="0"/>
          </a:p>
        </p:txBody>
      </p:sp>
      <p:sp>
        <p:nvSpPr>
          <p:cNvPr id="4" name="Shape 2"/>
          <p:cNvSpPr/>
          <p:nvPr/>
        </p:nvSpPr>
        <p:spPr>
          <a:xfrm>
            <a:off x="815975" y="2589808"/>
            <a:ext cx="3397250" cy="1709043"/>
          </a:xfrm>
          <a:prstGeom prst="roundRect">
            <a:avLst>
              <a:gd name="adj" fmla="val 5759"/>
            </a:avLst>
          </a:prstGeom>
          <a:solidFill>
            <a:srgbClr val="FFFFFF"/>
          </a:solidFill>
          <a:ln w="6350">
            <a:solidFill>
              <a:srgbClr val="E3E6E4"/>
            </a:solidFill>
            <a:prstDash val="solid"/>
          </a:ln>
        </p:spPr>
      </p:sp>
      <p:sp>
        <p:nvSpPr>
          <p:cNvPr id="5" name="Text 3"/>
          <p:cNvSpPr/>
          <p:nvPr/>
        </p:nvSpPr>
        <p:spPr>
          <a:xfrm>
            <a:off x="1047750" y="2821583"/>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Gap weighted by dollars</a:t>
            </a:r>
            <a:endParaRPr lang="en-US" sz="1600" dirty="0"/>
          </a:p>
        </p:txBody>
      </p:sp>
      <p:sp>
        <p:nvSpPr>
          <p:cNvPr id="6" name="Text 4"/>
          <p:cNvSpPr/>
          <p:nvPr/>
        </p:nvSpPr>
        <p:spPr>
          <a:xfrm>
            <a:off x="1047750" y="3141563"/>
            <a:ext cx="3021711"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"No rule + $1M paid" is a finding; "no rule + $0" is noise. Before: a circular label with no exposure behind it.</a:t>
            </a:r>
            <a:endParaRPr lang="en-US" sz="1350" dirty="0"/>
          </a:p>
        </p:txBody>
      </p:sp>
      <p:sp>
        <p:nvSpPr>
          <p:cNvPr id="7" name="Shape 5"/>
          <p:cNvSpPr/>
          <p:nvPr/>
        </p:nvSpPr>
        <p:spPr>
          <a:xfrm>
            <a:off x="4397375" y="2589808"/>
            <a:ext cx="3397250" cy="1709043"/>
          </a:xfrm>
          <a:prstGeom prst="roundRect">
            <a:avLst>
              <a:gd name="adj" fmla="val 5759"/>
            </a:avLst>
          </a:prstGeom>
          <a:solidFill>
            <a:srgbClr val="FFFFFF"/>
          </a:solidFill>
          <a:ln w="6350">
            <a:solidFill>
              <a:srgbClr val="E3E6E4"/>
            </a:solidFill>
            <a:prstDash val="solid"/>
          </a:ln>
        </p:spPr>
      </p:sp>
      <p:sp>
        <p:nvSpPr>
          <p:cNvPr id="8" name="Text 6"/>
          <p:cNvSpPr/>
          <p:nvPr/>
        </p:nvSpPr>
        <p:spPr>
          <a:xfrm>
            <a:off x="4629150" y="2821583"/>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Repeatable build</a:t>
            </a:r>
            <a:endParaRPr lang="en-US" sz="1600" dirty="0"/>
          </a:p>
        </p:txBody>
      </p:sp>
      <p:sp>
        <p:nvSpPr>
          <p:cNvPr id="9" name="Text 7"/>
          <p:cNvSpPr/>
          <p:nvPr/>
        </p:nvSpPr>
        <p:spPr>
          <a:xfrm>
            <a:off x="4629150" y="3141563"/>
            <a:ext cx="3021711" cy="719534"/>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Re-running produces the same tables. Before: re-running double-counted and the totals drifted between runs.</a:t>
            </a:r>
            <a:endParaRPr lang="en-US" sz="1350" dirty="0"/>
          </a:p>
        </p:txBody>
      </p:sp>
      <p:sp>
        <p:nvSpPr>
          <p:cNvPr id="10" name="Shape 8"/>
          <p:cNvSpPr/>
          <p:nvPr/>
        </p:nvSpPr>
        <p:spPr>
          <a:xfrm>
            <a:off x="7978775" y="2589808"/>
            <a:ext cx="3397250" cy="1709043"/>
          </a:xfrm>
          <a:prstGeom prst="roundRect">
            <a:avLst>
              <a:gd name="adj" fmla="val 5759"/>
            </a:avLst>
          </a:prstGeom>
          <a:solidFill>
            <a:srgbClr val="FFFFFF"/>
          </a:solidFill>
          <a:ln w="6350">
            <a:solidFill>
              <a:srgbClr val="E3E6E4"/>
            </a:solidFill>
            <a:prstDash val="solid"/>
          </a:ln>
        </p:spPr>
      </p:sp>
      <p:sp>
        <p:nvSpPr>
          <p:cNvPr id="11" name="Text 9"/>
          <p:cNvSpPr/>
          <p:nvPr/>
        </p:nvSpPr>
        <p:spPr>
          <a:xfrm>
            <a:off x="8210550" y="2821583"/>
            <a:ext cx="30217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73D"/>
                </a:solidFill>
                <a:latin typeface="IBM Plex Sans" pitchFamily="34" charset="0"/>
                <a:ea typeface="IBM Plex Sans" pitchFamily="34" charset="-122"/>
                <a:cs typeface="IBM Plex Sans" pitchFamily="34" charset="-120"/>
              </a:rPr>
              <a:t>Findings carry evidence</a:t>
            </a:r>
            <a:endParaRPr lang="en-US" sz="1600" dirty="0"/>
          </a:p>
        </p:txBody>
      </p:sp>
      <p:sp>
        <p:nvSpPr>
          <p:cNvPr id="12" name="Text 10"/>
          <p:cNvSpPr/>
          <p:nvPr/>
        </p:nvSpPr>
        <p:spPr>
          <a:xfrm>
            <a:off x="8210550" y="3141563"/>
            <a:ext cx="3021711" cy="950913"/>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55627A"/>
                </a:solidFill>
                <a:latin typeface="IBM Plex Sans" pitchFamily="34" charset="0"/>
                <a:ea typeface="IBM Plex Sans" pitchFamily="34" charset="-122"/>
                <a:cs typeface="IBM Plex Sans" pitchFamily="34" charset="-120"/>
              </a:rPr>
              <a:t>Every finding names the line it targets, the partner line for pairs, the contributing lines for aggregates, and whether a PA was present.</a:t>
            </a:r>
            <a:endParaRPr lang="en-US" sz="1350" dirty="0"/>
          </a:p>
        </p:txBody>
      </p:sp>
      <p:sp>
        <p:nvSpPr>
          <p:cNvPr id="13" name="Shape 11"/>
          <p:cNvSpPr/>
          <p:nvPr/>
        </p:nvSpPr>
        <p:spPr>
          <a:xfrm>
            <a:off x="831850" y="5278239"/>
            <a:ext cx="0" cy="627261"/>
          </a:xfrm>
          <a:prstGeom prst="line">
            <a:avLst/>
          </a:prstGeom>
          <a:noFill/>
          <a:ln w="38100">
            <a:solidFill>
              <a:srgbClr val="1F7A6B"/>
            </a:solidFill>
            <a:prstDash val="solid"/>
          </a:ln>
        </p:spPr>
      </p:sp>
      <p:sp>
        <p:nvSpPr>
          <p:cNvPr id="14" name="Text 12"/>
          <p:cNvSpPr/>
          <p:nvPr/>
        </p:nvSpPr>
        <p:spPr>
          <a:xfrm>
            <a:off x="1054100" y="5316339"/>
            <a:ext cx="10634853" cy="576461"/>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Why it matters:</a:t>
            </a:r>
            <a:r>
              <a:rPr lang="en-US" sz="1550" dirty="0">
                <a:solidFill>
                  <a:srgbClr val="14273D"/>
                </a:solidFill>
                <a:latin typeface="IBM Plex Sans" pitchFamily="34" charset="0"/>
                <a:ea typeface="IBM Plex Sans" pitchFamily="34" charset="-122"/>
                <a:cs typeface="IBM Plex Sans" pitchFamily="34" charset="-120"/>
              </a:rPr>
              <a:t> a "gap" with no dollars attached isn't a finding, and a finding without its evidence lines can't be audited. Now both have numbers and rows behind them.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spc="100" kern="0" dirty="0">
                <a:solidFill>
                  <a:srgbClr val="1F7A6B"/>
                </a:solidFill>
                <a:latin typeface="JetBrains Mono" pitchFamily="34" charset="0"/>
                <a:ea typeface="JetBrains Mono" pitchFamily="34" charset="-122"/>
                <a:cs typeface="JetBrains Mono" pitchFamily="34" charset="-120"/>
              </a:rPr>
              <a:t>PROVEN · 14 — OUTSIDE REVIEW</a:t>
            </a:r>
            <a:endParaRPr lang="en-US" sz="1250" dirty="0"/>
          </a:p>
        </p:txBody>
      </p:sp>
      <p:sp>
        <p:nvSpPr>
          <p:cNvPr id="3" name="Text 1"/>
          <p:cNvSpPr/>
          <p:nvPr/>
        </p:nvSpPr>
        <p:spPr>
          <a:xfrm>
            <a:off x="812800" y="1149350"/>
            <a:ext cx="10883392" cy="486370"/>
          </a:xfrm>
          <a:prstGeom prst="rect">
            <a:avLst/>
          </a:prstGeom>
          <a:noFill/>
          <a:ln/>
        </p:spPr>
        <p:txBody>
          <a:bodyPr wrap="square" lIns="0" tIns="0" rIns="0" bIns="0" rtlCol="0" anchor="t">
            <a:normAutofit/>
          </a:bodyPr>
          <a:lstStyle/>
          <a:p>
            <a:pPr algn="l" indent="0" marL="0">
              <a:lnSpc>
                <a:spcPts val="3630"/>
              </a:lnSpc>
              <a:buNone/>
            </a:pPr>
            <a:r>
              <a:rPr lang="en-US" sz="3300" b="1" dirty="0">
                <a:solidFill>
                  <a:srgbClr val="14273D"/>
                </a:solidFill>
                <a:latin typeface="IBM Plex Sans" pitchFamily="34" charset="0"/>
                <a:ea typeface="IBM Plex Sans" pitchFamily="34" charset="-122"/>
                <a:cs typeface="IBM Plex Sans" pitchFamily="34" charset="-120"/>
              </a:rPr>
              <a:t>Four independent reviews, adjudicated — not adopted</a:t>
            </a:r>
            <a:endParaRPr lang="en-US" sz="3300" dirty="0"/>
          </a:p>
        </p:txBody>
      </p:sp>
      <p:sp>
        <p:nvSpPr>
          <p:cNvPr id="4" name="Shape 2"/>
          <p:cNvSpPr/>
          <p:nvPr/>
        </p:nvSpPr>
        <p:spPr>
          <a:xfrm>
            <a:off x="815975" y="1861046"/>
            <a:ext cx="2501900" cy="1592461"/>
          </a:xfrm>
          <a:prstGeom prst="roundRect">
            <a:avLst>
              <a:gd name="adj" fmla="val 6181"/>
            </a:avLst>
          </a:prstGeom>
          <a:solidFill>
            <a:srgbClr val="FFFFFF"/>
          </a:solidFill>
          <a:ln w="6350">
            <a:solidFill>
              <a:srgbClr val="E3E6E4"/>
            </a:solidFill>
            <a:prstDash val="solid"/>
          </a:ln>
        </p:spPr>
      </p:sp>
      <p:sp>
        <p:nvSpPr>
          <p:cNvPr id="5" name="Text 3"/>
          <p:cNvSpPr/>
          <p:nvPr/>
        </p:nvSpPr>
        <p:spPr>
          <a:xfrm>
            <a:off x="1022350" y="2067421"/>
            <a:ext cx="2151825"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F7A6B"/>
                </a:solidFill>
                <a:latin typeface="JetBrains Mono" pitchFamily="34" charset="0"/>
                <a:ea typeface="JetBrains Mono" pitchFamily="34" charset="-122"/>
                <a:cs typeface="JetBrains Mono" pitchFamily="34" charset="-120"/>
              </a:rPr>
              <a:t>17</a:t>
            </a:r>
            <a:endParaRPr lang="en-US" sz="2800" dirty="0"/>
          </a:p>
        </p:txBody>
      </p:sp>
      <p:sp>
        <p:nvSpPr>
          <p:cNvPr id="6" name="Text 4"/>
          <p:cNvSpPr/>
          <p:nvPr/>
        </p:nvSpPr>
        <p:spPr>
          <a:xfrm>
            <a:off x="1022350" y="2603302"/>
            <a:ext cx="2151825" cy="66923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55627A"/>
                </a:solidFill>
                <a:latin typeface="IBM Plex Sans" pitchFamily="34" charset="0"/>
                <a:ea typeface="IBM Plex Sans" pitchFamily="34" charset="-122"/>
                <a:cs typeface="IBM Plex Sans" pitchFamily="34" charset="-120"/>
              </a:rPr>
              <a:t>findings in the deepest review, with 15 runnable probes</a:t>
            </a:r>
            <a:endParaRPr lang="en-US" sz="1300" dirty="0"/>
          </a:p>
        </p:txBody>
      </p:sp>
      <p:sp>
        <p:nvSpPr>
          <p:cNvPr id="7" name="Shape 5"/>
          <p:cNvSpPr/>
          <p:nvPr/>
        </p:nvSpPr>
        <p:spPr>
          <a:xfrm>
            <a:off x="3502025" y="1861046"/>
            <a:ext cx="2501900" cy="1592461"/>
          </a:xfrm>
          <a:prstGeom prst="roundRect">
            <a:avLst>
              <a:gd name="adj" fmla="val 6181"/>
            </a:avLst>
          </a:prstGeom>
          <a:solidFill>
            <a:srgbClr val="FFFFFF"/>
          </a:solidFill>
          <a:ln w="6350">
            <a:solidFill>
              <a:srgbClr val="E3E6E4"/>
            </a:solidFill>
            <a:prstDash val="solid"/>
          </a:ln>
        </p:spPr>
      </p:sp>
      <p:sp>
        <p:nvSpPr>
          <p:cNvPr id="8" name="Text 6"/>
          <p:cNvSpPr/>
          <p:nvPr/>
        </p:nvSpPr>
        <p:spPr>
          <a:xfrm>
            <a:off x="3708400" y="2067421"/>
            <a:ext cx="2151825"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F7A6B"/>
                </a:solidFill>
                <a:latin typeface="JetBrains Mono" pitchFamily="34" charset="0"/>
                <a:ea typeface="JetBrains Mono" pitchFamily="34" charset="-122"/>
                <a:cs typeface="JetBrains Mono" pitchFamily="34" charset="-120"/>
              </a:rPr>
              <a:t>11</a:t>
            </a:r>
            <a:endParaRPr lang="en-US" sz="2800" dirty="0"/>
          </a:p>
        </p:txBody>
      </p:sp>
      <p:sp>
        <p:nvSpPr>
          <p:cNvPr id="9" name="Text 7"/>
          <p:cNvSpPr/>
          <p:nvPr/>
        </p:nvSpPr>
        <p:spPr>
          <a:xfrm>
            <a:off x="3708400" y="2603302"/>
            <a:ext cx="2151825"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55627A"/>
                </a:solidFill>
                <a:latin typeface="IBM Plex Sans" pitchFamily="34" charset="0"/>
                <a:ea typeface="IBM Plex Sans" pitchFamily="34" charset="-122"/>
                <a:cs typeface="IBM Plex Sans" pitchFamily="34" charset="-120"/>
              </a:rPr>
              <a:t>confirmed real, fixed, each pinned by an executing test</a:t>
            </a:r>
            <a:endParaRPr lang="en-US" sz="1300" dirty="0"/>
          </a:p>
        </p:txBody>
      </p:sp>
      <p:sp>
        <p:nvSpPr>
          <p:cNvPr id="10" name="Shape 8"/>
          <p:cNvSpPr/>
          <p:nvPr/>
        </p:nvSpPr>
        <p:spPr>
          <a:xfrm>
            <a:off x="6188075" y="1861046"/>
            <a:ext cx="2501900" cy="1592461"/>
          </a:xfrm>
          <a:prstGeom prst="roundRect">
            <a:avLst>
              <a:gd name="adj" fmla="val 6181"/>
            </a:avLst>
          </a:prstGeom>
          <a:solidFill>
            <a:srgbClr val="FFFFFF"/>
          </a:solidFill>
          <a:ln w="6350">
            <a:solidFill>
              <a:srgbClr val="E3E6E4"/>
            </a:solidFill>
            <a:prstDash val="solid"/>
          </a:ln>
        </p:spPr>
      </p:sp>
      <p:sp>
        <p:nvSpPr>
          <p:cNvPr id="11" name="Text 9"/>
          <p:cNvSpPr/>
          <p:nvPr/>
        </p:nvSpPr>
        <p:spPr>
          <a:xfrm>
            <a:off x="6394450" y="2067421"/>
            <a:ext cx="2151825"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B4552E"/>
                </a:solidFill>
                <a:latin typeface="JetBrains Mono" pitchFamily="34" charset="0"/>
                <a:ea typeface="JetBrains Mono" pitchFamily="34" charset="-122"/>
                <a:cs typeface="JetBrains Mono" pitchFamily="34" charset="-120"/>
              </a:rPr>
              <a:t>4</a:t>
            </a:r>
            <a:endParaRPr lang="en-US" sz="2800" dirty="0"/>
          </a:p>
        </p:txBody>
      </p:sp>
      <p:sp>
        <p:nvSpPr>
          <p:cNvPr id="12" name="Text 10"/>
          <p:cNvSpPr/>
          <p:nvPr/>
        </p:nvSpPr>
        <p:spPr>
          <a:xfrm>
            <a:off x="6394450" y="2603302"/>
            <a:ext cx="2151825"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55627A"/>
                </a:solidFill>
                <a:latin typeface="IBM Plex Sans" pitchFamily="34" charset="0"/>
                <a:ea typeface="IBM Plex Sans" pitchFamily="34" charset="-122"/>
                <a:cs typeface="IBM Plex Sans" pitchFamily="34" charset="-120"/>
              </a:rPr>
              <a:t>overstated — rejected with a written reason each</a:t>
            </a:r>
            <a:endParaRPr lang="en-US" sz="1300" dirty="0"/>
          </a:p>
        </p:txBody>
      </p:sp>
      <p:sp>
        <p:nvSpPr>
          <p:cNvPr id="13" name="Shape 11"/>
          <p:cNvSpPr/>
          <p:nvPr/>
        </p:nvSpPr>
        <p:spPr>
          <a:xfrm>
            <a:off x="8874125" y="1861046"/>
            <a:ext cx="2501900" cy="1592461"/>
          </a:xfrm>
          <a:prstGeom prst="roundRect">
            <a:avLst>
              <a:gd name="adj" fmla="val 6181"/>
            </a:avLst>
          </a:prstGeom>
          <a:solidFill>
            <a:srgbClr val="FFFFFF"/>
          </a:solidFill>
          <a:ln w="6350">
            <a:solidFill>
              <a:srgbClr val="E3E6E4"/>
            </a:solidFill>
            <a:prstDash val="solid"/>
          </a:ln>
        </p:spPr>
      </p:sp>
      <p:sp>
        <p:nvSpPr>
          <p:cNvPr id="14" name="Text 12"/>
          <p:cNvSpPr/>
          <p:nvPr/>
        </p:nvSpPr>
        <p:spPr>
          <a:xfrm>
            <a:off x="9080500" y="2067421"/>
            <a:ext cx="2151825" cy="52318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F7A6B"/>
                </a:solidFill>
                <a:latin typeface="JetBrains Mono" pitchFamily="34" charset="0"/>
                <a:ea typeface="JetBrains Mono" pitchFamily="34" charset="-122"/>
                <a:cs typeface="JetBrains Mono" pitchFamily="34" charset="-120"/>
              </a:rPr>
              <a:t>15 → 4</a:t>
            </a:r>
            <a:endParaRPr lang="en-US" sz="2800" dirty="0"/>
          </a:p>
        </p:txBody>
      </p:sp>
      <p:sp>
        <p:nvSpPr>
          <p:cNvPr id="15" name="Text 13"/>
          <p:cNvSpPr/>
          <p:nvPr/>
        </p:nvSpPr>
        <p:spPr>
          <a:xfrm>
            <a:off x="9080500" y="2603302"/>
            <a:ext cx="2151825" cy="66923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55627A"/>
                </a:solidFill>
                <a:latin typeface="IBM Plex Sans" pitchFamily="34" charset="0"/>
                <a:ea typeface="IBM Plex Sans" pitchFamily="34" charset="-122"/>
                <a:cs typeface="IBM Plex Sans" pitchFamily="34" charset="-120"/>
              </a:rPr>
              <a:t>probes still reproducing; the 4 are deferred by decision, not oversight</a:t>
            </a:r>
            <a:endParaRPr lang="en-US" sz="1300" dirty="0"/>
          </a:p>
        </p:txBody>
      </p:sp>
      <p:sp>
        <p:nvSpPr>
          <p:cNvPr id="16" name="Text 14"/>
          <p:cNvSpPr/>
          <p:nvPr/>
        </p:nvSpPr>
        <p:spPr>
          <a:xfrm>
            <a:off x="1066800" y="3704233"/>
            <a:ext cx="10621772" cy="1627386"/>
          </a:xfrm>
          <a:prstGeom prst="rect">
            <a:avLst/>
          </a:prstGeom>
          <a:noFill/>
          <a:ln/>
        </p:spPr>
        <p:txBody>
          <a:bodyPr wrap="square" lIns="0" tIns="0" rIns="0" bIns="0" rtlCol="0" anchor="t">
            <a:normAutofit/>
          </a:bodyPr>
          <a:lstStyle/>
          <a:p>
            <a:pPr algn="l" marL="342900" indent="-342900">
              <a:lnSpc>
                <a:spcPts val="2103"/>
              </a:lnSpc>
              <a:buSzPct val="100000"/>
              <a:buChar char="•"/>
            </a:pPr>
            <a:r>
              <a:rPr lang="en-US" sz="1450" dirty="0">
                <a:solidFill>
                  <a:srgbClr val="14273D"/>
                </a:solidFill>
                <a:latin typeface="IBM Plex Sans" pitchFamily="34" charset="0"/>
                <a:ea typeface="IBM Plex Sans" pitchFamily="34" charset="-122"/>
                <a:cs typeface="IBM Plex Sans" pitchFamily="34" charset="-120"/>
              </a:rPr>
              <a:t>Two reviewers contradicted each other on the fiscal year and on MUE adjudication. Neither vote counted; the manual and CMS decided.</a:t>
            </a:r>
            <a:endParaRPr lang="en-US" sz="1450" dirty="0"/>
          </a:p>
          <a:p>
            <a:pPr algn="l" marL="342900" indent="-342900">
              <a:lnSpc>
                <a:spcPts val="2103"/>
              </a:lnSpc>
              <a:buSzPct val="100000"/>
              <a:buChar char="•"/>
            </a:pPr>
            <a:r>
              <a:rPr lang="en-US" sz="1450" dirty="0">
                <a:solidFill>
                  <a:srgbClr val="14273D"/>
                </a:solidFill>
                <a:latin typeface="IBM Plex Sans" pitchFamily="34" charset="0"/>
                <a:ea typeface="IBM Plex Sans" pitchFamily="34" charset="-122"/>
                <a:cs typeface="IBM Plex Sans" pitchFamily="34" charset="-120"/>
              </a:rPr>
              <a:t>A proposed entailment gate had its labels reversed — it would have rejected correct rules and passed contradictions. Caught before adoption; kept as an advisory score only.</a:t>
            </a:r>
            <a:endParaRPr lang="en-US" sz="1450" dirty="0"/>
          </a:p>
          <a:p>
            <a:pPr algn="l" marL="342900" indent="-342900">
              <a:lnSpc>
                <a:spcPts val="2103"/>
              </a:lnSpc>
              <a:buSzPct val="100000"/>
              <a:buChar char="•"/>
            </a:pPr>
            <a:r>
              <a:rPr lang="en-US" sz="1450" dirty="0">
                <a:solidFill>
                  <a:srgbClr val="14273D"/>
                </a:solidFill>
                <a:latin typeface="IBM Plex Sans" pitchFamily="34" charset="0"/>
                <a:ea typeface="IBM Plex Sans" pitchFamily="34" charset="-122"/>
                <a:cs typeface="IBM Plex Sans" pitchFamily="34" charset="-120"/>
              </a:rPr>
              <a:t>A proposed code resolver put a live model in the detection path and had an injection hole. The shape was adopted; the trust model was not.</a:t>
            </a:r>
            <a:endParaRPr lang="en-US" sz="1450" dirty="0"/>
          </a:p>
        </p:txBody>
      </p:sp>
      <p:sp>
        <p:nvSpPr>
          <p:cNvPr id="17" name="Shape 15"/>
          <p:cNvSpPr/>
          <p:nvPr/>
        </p:nvSpPr>
        <p:spPr>
          <a:xfrm>
            <a:off x="831850" y="5553770"/>
            <a:ext cx="0" cy="351730"/>
          </a:xfrm>
          <a:prstGeom prst="line">
            <a:avLst/>
          </a:prstGeom>
          <a:noFill/>
          <a:ln w="38100">
            <a:solidFill>
              <a:srgbClr val="1F7A6B"/>
            </a:solidFill>
            <a:prstDash val="solid"/>
          </a:ln>
        </p:spPr>
      </p:sp>
      <p:sp>
        <p:nvSpPr>
          <p:cNvPr id="18" name="Text 16"/>
          <p:cNvSpPr/>
          <p:nvPr/>
        </p:nvSpPr>
        <p:spPr>
          <a:xfrm>
            <a:off x="1054100" y="5591870"/>
            <a:ext cx="10634853" cy="300930"/>
          </a:xfrm>
          <a:prstGeom prst="rect">
            <a:avLst/>
          </a:prstGeom>
          <a:noFill/>
          <a:ln/>
        </p:spPr>
        <p:txBody>
          <a:bodyPr wrap="square" lIns="0" tIns="0" rIns="0" bIns="0" rtlCol="0" anchor="t">
            <a:normAutofit/>
          </a:bodyPr>
          <a:lstStyle/>
          <a:p>
            <a:pPr algn="l" indent="0" marL="0">
              <a:lnSpc>
                <a:spcPts val="2170"/>
              </a:lnSpc>
              <a:buNone/>
            </a:pPr>
            <a:r>
              <a:rPr lang="en-US" sz="1550" b="1" dirty="0">
                <a:solidFill>
                  <a:srgbClr val="14273D"/>
                </a:solidFill>
                <a:latin typeface="IBM Plex Sans" pitchFamily="34" charset="0"/>
                <a:ea typeface="IBM Plex Sans" pitchFamily="34" charset="-122"/>
                <a:cs typeface="IBM Plex Sans" pitchFamily="34" charset="-120"/>
              </a:rPr>
              <a:t>Reviews are inputs. Primary sources are the referee.</a:t>
            </a:r>
            <a:r>
              <a:rPr lang="en-US" sz="1550" dirty="0">
                <a:solidFill>
                  <a:srgbClr val="14273D"/>
                </a:solidFill>
                <a:latin typeface="IBM Plex Sans" pitchFamily="34" charset="0"/>
                <a:ea typeface="IBM Plex Sans" pitchFamily="34" charset="-122"/>
                <a:cs typeface="IBM Plex Sans" pitchFamily="34" charset="-120"/>
              </a:rPr>
              <a:t> Every verdict and its reason is written down in the project.</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36934"/>
          </a:xfrm>
          <a:prstGeom prst="rect">
            <a:avLst/>
          </a:prstGeom>
          <a:noFill/>
          <a:ln/>
        </p:spPr>
        <p:txBody>
          <a:bodyPr wrap="square" lIns="0" tIns="0" rIns="0" bIns="0" rtlCol="0" anchor="t">
            <a:normAutofit/>
          </a:bodyPr>
          <a:lstStyle/>
          <a:p>
            <a:pPr algn="l" indent="0" marL="0">
              <a:lnSpc>
                <a:spcPts val="1673"/>
              </a:lnSpc>
              <a:buNone/>
            </a:pPr>
            <a:r>
              <a:rPr lang="en-US" sz="1195" spc="100" kern="0" dirty="0">
                <a:solidFill>
                  <a:srgbClr val="1F7A6B"/>
                </a:solidFill>
                <a:latin typeface="JetBrains Mono" pitchFamily="34" charset="0"/>
                <a:ea typeface="JetBrains Mono" pitchFamily="34" charset="-122"/>
                <a:cs typeface="JetBrains Mono" pitchFamily="34" charset="-120"/>
              </a:rPr>
              <a:t>PROVEN · 15 — FOUNDATIONS</a:t>
            </a:r>
            <a:endParaRPr lang="en-US" sz="1195" dirty="0"/>
          </a:p>
        </p:txBody>
      </p:sp>
      <p:sp>
        <p:nvSpPr>
          <p:cNvPr id="3" name="Text 1"/>
          <p:cNvSpPr/>
          <p:nvPr/>
        </p:nvSpPr>
        <p:spPr>
          <a:xfrm>
            <a:off x="812800" y="1138634"/>
            <a:ext cx="10883392" cy="464145"/>
          </a:xfrm>
          <a:prstGeom prst="rect">
            <a:avLst/>
          </a:prstGeom>
          <a:noFill/>
          <a:ln/>
        </p:spPr>
        <p:txBody>
          <a:bodyPr wrap="square" lIns="0" tIns="0" rIns="0" bIns="0" rtlCol="0" anchor="t">
            <a:normAutofit/>
          </a:bodyPr>
          <a:lstStyle/>
          <a:p>
            <a:pPr algn="l" indent="0" marL="0">
              <a:lnSpc>
                <a:spcPts val="3471"/>
              </a:lnSpc>
              <a:buNone/>
            </a:pPr>
            <a:r>
              <a:rPr lang="en-US" sz="3156" b="1" dirty="0">
                <a:solidFill>
                  <a:srgbClr val="14273D"/>
                </a:solidFill>
                <a:latin typeface="IBM Plex Sans" pitchFamily="34" charset="0"/>
                <a:ea typeface="IBM Plex Sans" pitchFamily="34" charset="-122"/>
                <a:cs typeface="IBM Plex Sans" pitchFamily="34" charset="-120"/>
              </a:rPr>
              <a:t>Foundational work: modular, and built to last</a:t>
            </a:r>
            <a:endParaRPr lang="en-US" sz="3156" dirty="0"/>
          </a:p>
        </p:txBody>
      </p:sp>
      <p:sp>
        <p:nvSpPr>
          <p:cNvPr id="4" name="Shape 2"/>
          <p:cNvSpPr/>
          <p:nvPr/>
        </p:nvSpPr>
        <p:spPr>
          <a:xfrm>
            <a:off x="815975" y="1580555"/>
            <a:ext cx="5149850" cy="3717429"/>
          </a:xfrm>
          <a:prstGeom prst="roundRect">
            <a:avLst>
              <a:gd name="adj" fmla="val 2648"/>
            </a:avLst>
          </a:prstGeom>
          <a:solidFill>
            <a:srgbClr val="FFFFFF"/>
          </a:solidFill>
          <a:ln w="6350">
            <a:solidFill>
              <a:srgbClr val="E3E6E4"/>
            </a:solidFill>
            <a:prstDash val="solid"/>
          </a:ln>
        </p:spPr>
      </p:sp>
      <p:sp>
        <p:nvSpPr>
          <p:cNvPr id="5" name="Text 3"/>
          <p:cNvSpPr/>
          <p:nvPr/>
        </p:nvSpPr>
        <p:spPr>
          <a:xfrm>
            <a:off x="1098550" y="1863130"/>
            <a:ext cx="4722241"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F7A6B"/>
                </a:solidFill>
                <a:latin typeface="IBM Plex Sans" pitchFamily="34" charset="0"/>
                <a:ea typeface="IBM Plex Sans" pitchFamily="34" charset="-122"/>
                <a:cs typeface="IBM Plex Sans" pitchFamily="34" charset="-120"/>
              </a:rPr>
              <a:t>Modular &amp; easy to change</a:t>
            </a:r>
            <a:endParaRPr lang="en-US" sz="1800" dirty="0"/>
          </a:p>
        </p:txBody>
      </p:sp>
      <p:sp>
        <p:nvSpPr>
          <p:cNvPr id="6" name="Text 4"/>
          <p:cNvSpPr/>
          <p:nvPr/>
        </p:nvSpPr>
        <p:spPr>
          <a:xfrm>
            <a:off x="1314450" y="2238970"/>
            <a:ext cx="4499864" cy="2161381"/>
          </a:xfrm>
          <a:prstGeom prst="rect">
            <a:avLst/>
          </a:prstGeom>
          <a:noFill/>
          <a:ln/>
        </p:spPr>
        <p:txBody>
          <a:bodyPr wrap="square" lIns="0" tIns="0" rIns="0" bIns="0" rtlCol="0" anchor="t">
            <a:normAutofit/>
          </a:bodyPr>
          <a:lstStyle/>
          <a:p>
            <a:pPr algn="l" marL="342900" indent="-342900">
              <a:lnSpc>
                <a:spcPts val="2103"/>
              </a:lnSpc>
              <a:buSzPct val="100000"/>
              <a:buChar char="•"/>
            </a:pPr>
            <a:r>
              <a:rPr lang="en-US" sz="1450" dirty="0">
                <a:solidFill>
                  <a:srgbClr val="55627A"/>
                </a:solidFill>
                <a:latin typeface="IBM Plex Sans" pitchFamily="34" charset="0"/>
                <a:ea typeface="IBM Plex Sans" pitchFamily="34" charset="-122"/>
                <a:cs typeface="IBM Plex Sans" pitchFamily="34" charset="-120"/>
              </a:rPr>
              <a:t>One tangled PoC script → focused modules with single jobs.</a:t>
            </a:r>
            <a:endParaRPr lang="en-US" sz="1450" dirty="0"/>
          </a:p>
          <a:p>
            <a:pPr algn="l" marL="342900" indent="-342900">
              <a:lnSpc>
                <a:spcPts val="2103"/>
              </a:lnSpc>
              <a:buSzPct val="100000"/>
              <a:buChar char="•"/>
            </a:pPr>
            <a:r>
              <a:rPr lang="en-US" sz="1450" dirty="0">
                <a:solidFill>
                  <a:srgbClr val="55627A"/>
                </a:solidFill>
                <a:latin typeface="IBM Plex Sans" pitchFamily="34" charset="0"/>
                <a:ea typeface="IBM Plex Sans" pitchFamily="34" charset="-122"/>
                <a:cs typeface="IBM Plex Sans" pitchFamily="34" charset="-120"/>
              </a:rPr>
              <a:t>Every table name, column, and routing rule lives in </a:t>
            </a:r>
            <a:r>
              <a:rPr lang="en-US" sz="1450" b="1" dirty="0">
                <a:solidFill>
                  <a:srgbClr val="55627A"/>
                </a:solidFill>
                <a:latin typeface="IBM Plex Sans" pitchFamily="34" charset="0"/>
                <a:ea typeface="IBM Plex Sans" pitchFamily="34" charset="-122"/>
                <a:cs typeface="IBM Plex Sans" pitchFamily="34" charset="-120"/>
              </a:rPr>
              <a:t>one config</a:t>
            </a:r>
            <a:r>
              <a:rPr lang="en-US" sz="1450" dirty="0">
                <a:solidFill>
                  <a:srgbClr val="55627A"/>
                </a:solidFill>
                <a:latin typeface="IBM Plex Sans" pitchFamily="34" charset="0"/>
                <a:ea typeface="IBM Plex Sans" pitchFamily="34" charset="-122"/>
                <a:cs typeface="IBM Plex Sans" pitchFamily="34" charset="-120"/>
              </a:rPr>
              <a:t>.</a:t>
            </a:r>
            <a:endParaRPr lang="en-US" sz="1450" dirty="0"/>
          </a:p>
          <a:p>
            <a:pPr algn="l" marL="342900" indent="-342900">
              <a:lnSpc>
                <a:spcPts val="2103"/>
              </a:lnSpc>
              <a:buSzPct val="100000"/>
              <a:buChar char="•"/>
            </a:pPr>
            <a:r>
              <a:rPr lang="en-US" sz="1450" dirty="0">
                <a:solidFill>
                  <a:srgbClr val="55627A"/>
                </a:solidFill>
                <a:latin typeface="IBM Plex Sans" pitchFamily="34" charset="0"/>
                <a:ea typeface="IBM Plex Sans" pitchFamily="34" charset="-122"/>
                <a:cs typeface="IBM Plex Sans" pitchFamily="34" charset="-120"/>
              </a:rPr>
              <a:t>The rule schema and predicate grammar are defined once; everything reads from them.</a:t>
            </a:r>
            <a:endParaRPr lang="en-US" sz="1450" dirty="0"/>
          </a:p>
          <a:p>
            <a:pPr algn="l" marL="342900" indent="-342900">
              <a:lnSpc>
                <a:spcPts val="2103"/>
              </a:lnSpc>
              <a:buSzPct val="100000"/>
              <a:buChar char="•"/>
            </a:pPr>
            <a:r>
              <a:rPr lang="en-US" sz="1450" dirty="0">
                <a:solidFill>
                  <a:srgbClr val="55627A"/>
                </a:solidFill>
                <a:latin typeface="IBM Plex Sans" pitchFamily="34" charset="0"/>
                <a:ea typeface="IBM Plex Sans" pitchFamily="34" charset="-122"/>
                <a:cs typeface="IBM Plex Sans" pitchFamily="34" charset="-120"/>
              </a:rPr>
              <a:t>Pluggable model backend — local GPU, serving endpoint, or none — without touching the pipeline.</a:t>
            </a:r>
            <a:endParaRPr lang="en-US" sz="1450" dirty="0"/>
          </a:p>
        </p:txBody>
      </p:sp>
      <p:sp>
        <p:nvSpPr>
          <p:cNvPr id="7" name="Shape 5"/>
          <p:cNvSpPr/>
          <p:nvPr/>
        </p:nvSpPr>
        <p:spPr>
          <a:xfrm>
            <a:off x="6226175" y="1580555"/>
            <a:ext cx="5149850" cy="3717429"/>
          </a:xfrm>
          <a:prstGeom prst="roundRect">
            <a:avLst>
              <a:gd name="adj" fmla="val 2648"/>
            </a:avLst>
          </a:prstGeom>
          <a:solidFill>
            <a:srgbClr val="FFFFFF"/>
          </a:solidFill>
          <a:ln w="6350">
            <a:solidFill>
              <a:srgbClr val="E3E6E4"/>
            </a:solidFill>
            <a:prstDash val="solid"/>
          </a:ln>
        </p:spPr>
      </p:sp>
      <p:sp>
        <p:nvSpPr>
          <p:cNvPr id="8" name="Text 6"/>
          <p:cNvSpPr/>
          <p:nvPr/>
        </p:nvSpPr>
        <p:spPr>
          <a:xfrm>
            <a:off x="6508750" y="1863130"/>
            <a:ext cx="4722241" cy="285948"/>
          </a:xfrm>
          <a:prstGeom prst="rect">
            <a:avLst/>
          </a:prstGeom>
          <a:noFill/>
          <a:ln/>
        </p:spPr>
        <p:txBody>
          <a:bodyPr wrap="square" lIns="0" tIns="0" rIns="0" bIns="0" rtlCol="0" anchor="t">
            <a:normAutofit/>
          </a:bodyPr>
          <a:lstStyle/>
          <a:p>
            <a:pPr algn="l" indent="0" marL="0">
              <a:lnSpc>
                <a:spcPts val="2072"/>
              </a:lnSpc>
              <a:buNone/>
            </a:pPr>
            <a:r>
              <a:rPr lang="en-US" sz="1727" b="1" dirty="0">
                <a:solidFill>
                  <a:srgbClr val="1F7A6B"/>
                </a:solidFill>
                <a:latin typeface="IBM Plex Sans" pitchFamily="34" charset="0"/>
                <a:ea typeface="IBM Plex Sans" pitchFamily="34" charset="-122"/>
                <a:cs typeface="IBM Plex Sans" pitchFamily="34" charset="-120"/>
              </a:rPr>
              <a:t>Proven &amp; safe to extend</a:t>
            </a:r>
            <a:endParaRPr lang="en-US" sz="1727" dirty="0"/>
          </a:p>
        </p:txBody>
      </p:sp>
      <p:sp>
        <p:nvSpPr>
          <p:cNvPr id="9" name="Text 7"/>
          <p:cNvSpPr/>
          <p:nvPr/>
        </p:nvSpPr>
        <p:spPr>
          <a:xfrm>
            <a:off x="6724650" y="2225278"/>
            <a:ext cx="4499864" cy="2815530"/>
          </a:xfrm>
          <a:prstGeom prst="rect">
            <a:avLst/>
          </a:prstGeom>
          <a:noFill/>
          <a:ln/>
        </p:spPr>
        <p:txBody>
          <a:bodyPr wrap="square" lIns="0" tIns="0" rIns="0" bIns="0" rtlCol="0" anchor="t">
            <a:normAutofit/>
          </a:bodyPr>
          <a:lstStyle/>
          <a:p>
            <a:pPr algn="l" marL="342900" indent="-342900">
              <a:lnSpc>
                <a:spcPts val="2011"/>
              </a:lnSpc>
              <a:buSzPct val="100000"/>
              <a:buChar char="•"/>
            </a:pPr>
            <a:r>
              <a:rPr lang="en-US" sz="1387" b="1" dirty="0">
                <a:solidFill>
                  <a:srgbClr val="55627A"/>
                </a:solidFill>
                <a:latin typeface="IBM Plex Sans" pitchFamily="34" charset="0"/>
                <a:ea typeface="IBM Plex Sans" pitchFamily="34" charset="-122"/>
                <a:cs typeface="IBM Plex Sans" pitchFamily="34" charset="-120"/>
              </a:rPr>
              <a:t>59 automated tests.</a:t>
            </a:r>
            <a:r>
              <a:rPr lang="en-US" sz="1387" dirty="0">
                <a:solidFill>
                  <a:srgbClr val="55627A"/>
                </a:solidFill>
                <a:latin typeface="IBM Plex Sans" pitchFamily="34" charset="0"/>
                <a:ea typeface="IBM Plex Sans" pitchFamily="34" charset="-122"/>
                <a:cs typeface="IBM Plex Sans" pitchFamily="34" charset="-120"/>
              </a:rPr>
              <a:t> Compiler tests execute the generated SQL against synthetic claims — string inspection is how a real bug got through.</a:t>
            </a:r>
            <a:endParaRPr lang="en-US" sz="1387" dirty="0"/>
          </a:p>
          <a:p>
            <a:pPr algn="l" marL="342900" indent="-342900">
              <a:lnSpc>
                <a:spcPts val="2011"/>
              </a:lnSpc>
              <a:buSzPct val="100000"/>
              <a:buChar char="•"/>
            </a:pPr>
            <a:r>
              <a:rPr lang="en-US" sz="1387" dirty="0">
                <a:solidFill>
                  <a:srgbClr val="55627A"/>
                </a:solidFill>
                <a:latin typeface="IBM Plex Sans" pitchFamily="34" charset="0"/>
                <a:ea typeface="IBM Plex Sans" pitchFamily="34" charset="-122"/>
                <a:cs typeface="IBM Plex Sans" pitchFamily="34" charset="-120"/>
              </a:rPr>
              <a:t>Parser measured against four real chapters; checked against the real claims and NCCI table formats.</a:t>
            </a:r>
            <a:endParaRPr lang="en-US" sz="1387" dirty="0"/>
          </a:p>
          <a:p>
            <a:pPr algn="l" marL="342900" indent="-342900">
              <a:lnSpc>
                <a:spcPts val="2011"/>
              </a:lnSpc>
              <a:buSzPct val="100000"/>
              <a:buChar char="•"/>
            </a:pPr>
            <a:r>
              <a:rPr lang="en-US" sz="1387" dirty="0">
                <a:solidFill>
                  <a:srgbClr val="55627A"/>
                </a:solidFill>
                <a:latin typeface="IBM Plex Sans" pitchFamily="34" charset="0"/>
                <a:ea typeface="IBM Plex Sans" pitchFamily="34" charset="-122"/>
                <a:cs typeface="IBM Plex Sans" pitchFamily="34" charset="-120"/>
              </a:rPr>
              <a:t>The build fails loud and early — including when the model is dead — instead of producing output that looks fine.</a:t>
            </a:r>
            <a:endParaRPr lang="en-US" sz="1387" dirty="0"/>
          </a:p>
          <a:p>
            <a:pPr algn="l" marL="342900" indent="-342900">
              <a:lnSpc>
                <a:spcPts val="2011"/>
              </a:lnSpc>
              <a:buSzPct val="100000"/>
              <a:buChar char="•"/>
            </a:pPr>
            <a:r>
              <a:rPr lang="en-US" sz="1387" dirty="0">
                <a:solidFill>
                  <a:srgbClr val="55627A"/>
                </a:solidFill>
                <a:latin typeface="IBM Plex Sans" pitchFamily="34" charset="0"/>
                <a:ea typeface="IBM Plex Sans" pitchFamily="34" charset="-122"/>
                <a:cs typeface="IBM Plex Sans" pitchFamily="34" charset="-120"/>
              </a:rPr>
              <a:t>Two read-only pre-flight notebooks turn assumptions into GO / NO-GO with evidence.</a:t>
            </a:r>
            <a:endParaRPr lang="en-US" sz="1387" dirty="0"/>
          </a:p>
        </p:txBody>
      </p:sp>
      <p:sp>
        <p:nvSpPr>
          <p:cNvPr id="10" name="Shape 8"/>
          <p:cNvSpPr/>
          <p:nvPr/>
        </p:nvSpPr>
        <p:spPr>
          <a:xfrm>
            <a:off x="831850" y="5301159"/>
            <a:ext cx="0" cy="604341"/>
          </a:xfrm>
          <a:prstGeom prst="line">
            <a:avLst/>
          </a:prstGeom>
          <a:noFill/>
          <a:ln w="38100">
            <a:solidFill>
              <a:srgbClr val="1F7A6B"/>
            </a:solidFill>
            <a:prstDash val="solid"/>
          </a:ln>
        </p:spPr>
      </p:sp>
      <p:sp>
        <p:nvSpPr>
          <p:cNvPr id="11" name="Text 9"/>
          <p:cNvSpPr/>
          <p:nvPr/>
        </p:nvSpPr>
        <p:spPr>
          <a:xfrm>
            <a:off x="1054100" y="5339259"/>
            <a:ext cx="10634853" cy="553541"/>
          </a:xfrm>
          <a:prstGeom prst="rect">
            <a:avLst/>
          </a:prstGeom>
          <a:noFill/>
          <a:ln/>
        </p:spPr>
        <p:txBody>
          <a:bodyPr wrap="square" lIns="0" tIns="0" rIns="0" bIns="0" rtlCol="0" anchor="t">
            <a:normAutofit/>
          </a:bodyPr>
          <a:lstStyle/>
          <a:p>
            <a:pPr algn="l" indent="0" marL="0">
              <a:lnSpc>
                <a:spcPts val="2082"/>
              </a:lnSpc>
              <a:buNone/>
            </a:pPr>
            <a:r>
              <a:rPr lang="en-US" sz="1487" b="1" dirty="0">
                <a:solidFill>
                  <a:srgbClr val="14273D"/>
                </a:solidFill>
                <a:latin typeface="IBM Plex Sans" pitchFamily="34" charset="0"/>
                <a:ea typeface="IBM Plex Sans" pitchFamily="34" charset="-122"/>
                <a:cs typeface="IBM Plex Sans" pitchFamily="34" charset="-120"/>
              </a:rPr>
              <a:t>Why it matters:</a:t>
            </a:r>
            <a:r>
              <a:rPr lang="en-US" sz="1487" dirty="0">
                <a:solidFill>
                  <a:srgbClr val="14273D"/>
                </a:solidFill>
                <a:latin typeface="IBM Plex Sans" pitchFamily="34" charset="0"/>
                <a:ea typeface="IBM Plex Sans" pitchFamily="34" charset="-122"/>
                <a:cs typeface="IBM Plex Sans" pitchFamily="34" charset="-120"/>
              </a:rPr>
              <a:t> adding a chapter, a rule type, or a new model is now a localized change, not a rewrite. This is what makes the </a:t>
            </a:r>
            <a:r>
              <a:rPr lang="en-US" sz="1487" i="1" dirty="0">
                <a:solidFill>
                  <a:srgbClr val="14273D"/>
                </a:solidFill>
                <a:latin typeface="IBM Plex Sans" pitchFamily="34" charset="0"/>
                <a:ea typeface="IBM Plex Sans" pitchFamily="34" charset="-122"/>
                <a:cs typeface="IBM Plex Sans" pitchFamily="34" charset="-120"/>
              </a:rPr>
              <a:t>next</a:t>
            </a:r>
            <a:r>
              <a:rPr lang="en-US" sz="1487" dirty="0">
                <a:solidFill>
                  <a:srgbClr val="14273D"/>
                </a:solidFill>
                <a:latin typeface="IBM Plex Sans" pitchFamily="34" charset="0"/>
                <a:ea typeface="IBM Plex Sans" pitchFamily="34" charset="-122"/>
                <a:cs typeface="IBM Plex Sans" pitchFamily="34" charset="-120"/>
              </a:rPr>
              <a:t> month cheaper than this one.</a:t>
            </a:r>
            <a:endParaRPr lang="en-US" sz="1487"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4"/>
        </a:solidFill>
      </p:bgPr>
    </p:bg>
    <p:spTree>
      <p:nvGrpSpPr>
        <p:cNvPr id="1" name=""/>
        <p:cNvGrpSpPr/>
        <p:nvPr/>
      </p:nvGrpSpPr>
      <p:grpSpPr>
        <a:xfrm>
          <a:off x="0" y="0"/>
          <a:ext cx="0" cy="0"/>
          <a:chOff x="0" y="0"/>
          <a:chExt cx="0" cy="0"/>
        </a:xfrm>
      </p:grpSpPr>
      <p:sp>
        <p:nvSpPr>
          <p:cNvPr id="2" name="Text 0"/>
          <p:cNvSpPr/>
          <p:nvPr/>
        </p:nvSpPr>
        <p:spPr>
          <a:xfrm>
            <a:off x="812800" y="812800"/>
            <a:ext cx="10883392" cy="225623"/>
          </a:xfrm>
          <a:prstGeom prst="rect">
            <a:avLst/>
          </a:prstGeom>
          <a:noFill/>
          <a:ln/>
        </p:spPr>
        <p:txBody>
          <a:bodyPr wrap="square" lIns="0" tIns="0" rIns="0" bIns="0" rtlCol="0" anchor="t">
            <a:normAutofit/>
          </a:bodyPr>
          <a:lstStyle/>
          <a:p>
            <a:pPr algn="l" indent="0" marL="0">
              <a:lnSpc>
                <a:spcPts val="1624"/>
              </a:lnSpc>
              <a:buNone/>
            </a:pPr>
            <a:r>
              <a:rPr lang="en-US" sz="1160" spc="100" kern="0" dirty="0">
                <a:solidFill>
                  <a:srgbClr val="1F7A6B"/>
                </a:solidFill>
                <a:latin typeface="JetBrains Mono" pitchFamily="34" charset="0"/>
                <a:ea typeface="JetBrains Mono" pitchFamily="34" charset="-122"/>
                <a:cs typeface="JetBrains Mono" pitchFamily="34" charset="-120"/>
              </a:rPr>
              <a:t>NEXT · 16 — DECIDE BY MEASUREMENT</a:t>
            </a:r>
            <a:endParaRPr lang="en-US" sz="1160" dirty="0"/>
          </a:p>
        </p:txBody>
      </p:sp>
      <p:sp>
        <p:nvSpPr>
          <p:cNvPr id="3" name="Text 1"/>
          <p:cNvSpPr/>
          <p:nvPr/>
        </p:nvSpPr>
        <p:spPr>
          <a:xfrm>
            <a:off x="812800" y="1127323"/>
            <a:ext cx="10883392" cy="855960"/>
          </a:xfrm>
          <a:prstGeom prst="rect">
            <a:avLst/>
          </a:prstGeom>
          <a:noFill/>
          <a:ln/>
        </p:spPr>
        <p:txBody>
          <a:bodyPr wrap="square" lIns="0" tIns="0" rIns="0" bIns="0" rtlCol="0" anchor="t">
            <a:normAutofit/>
          </a:bodyPr>
          <a:lstStyle/>
          <a:p>
            <a:pPr algn="l" indent="0" marL="0">
              <a:lnSpc>
                <a:spcPts val="3278"/>
              </a:lnSpc>
              <a:buNone/>
            </a:pPr>
            <a:r>
              <a:rPr lang="en-US" sz="2980" b="1" dirty="0">
                <a:solidFill>
                  <a:srgbClr val="14273D"/>
                </a:solidFill>
                <a:latin typeface="IBM Plex Sans" pitchFamily="34" charset="0"/>
                <a:ea typeface="IBM Plex Sans" pitchFamily="34" charset="-122"/>
                <a:cs typeface="IBM Plex Sans" pitchFamily="34" charset="-120"/>
              </a:rPr>
              <a:t>Decisions we measured before making, and what comes next</a:t>
            </a:r>
            <a:endParaRPr lang="en-US" sz="2980" dirty="0"/>
          </a:p>
        </p:txBody>
      </p:sp>
      <p:sp>
        <p:nvSpPr>
          <p:cNvPr id="4" name="Shape 2"/>
          <p:cNvSpPr/>
          <p:nvPr/>
        </p:nvSpPr>
        <p:spPr>
          <a:xfrm>
            <a:off x="815975" y="1961059"/>
            <a:ext cx="5149850" cy="3363813"/>
          </a:xfrm>
          <a:prstGeom prst="roundRect">
            <a:avLst>
              <a:gd name="adj" fmla="val 2926"/>
            </a:avLst>
          </a:prstGeom>
          <a:solidFill>
            <a:srgbClr val="FFFFFF"/>
          </a:solidFill>
          <a:ln w="6350">
            <a:solidFill>
              <a:srgbClr val="E3E6E4"/>
            </a:solidFill>
            <a:prstDash val="solid"/>
          </a:ln>
        </p:spPr>
      </p:sp>
      <p:sp>
        <p:nvSpPr>
          <p:cNvPr id="5" name="Text 3"/>
          <p:cNvSpPr/>
          <p:nvPr/>
        </p:nvSpPr>
        <p:spPr>
          <a:xfrm>
            <a:off x="1073150" y="2218234"/>
            <a:ext cx="477456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B4552E"/>
                </a:solidFill>
                <a:latin typeface="IBM Plex Sans" pitchFamily="34" charset="0"/>
                <a:ea typeface="IBM Plex Sans" pitchFamily="34" charset="-122"/>
                <a:cs typeface="IBM Plex Sans" pitchFamily="34" charset="-120"/>
              </a:rPr>
              <a:t>Measured by the pre-flight notebooks</a:t>
            </a:r>
            <a:endParaRPr lang="en-US" sz="1700" dirty="0"/>
          </a:p>
        </p:txBody>
      </p:sp>
      <p:sp>
        <p:nvSpPr>
          <p:cNvPr id="6" name="Text 4"/>
          <p:cNvSpPr/>
          <p:nvPr/>
        </p:nvSpPr>
        <p:spPr>
          <a:xfrm>
            <a:off x="1289050" y="2566194"/>
            <a:ext cx="4552188" cy="2087563"/>
          </a:xfrm>
          <a:prstGeom prst="rect">
            <a:avLst/>
          </a:prstGeom>
          <a:noFill/>
          <a:ln/>
        </p:spPr>
        <p:txBody>
          <a:bodyPr wrap="square" lIns="0" tIns="0" rIns="0" bIns="0" rtlCol="0" anchor="t">
            <a:normAutofit/>
          </a:bodyPr>
          <a:lstStyle/>
          <a:p>
            <a:pPr algn="l" marL="342900" indent="-342900">
              <a:lnSpc>
                <a:spcPts val="2030"/>
              </a:lnSpc>
              <a:buSzPct val="100000"/>
              <a:buChar char="•"/>
            </a:pPr>
            <a:r>
              <a:rPr lang="en-US" sz="1400" b="1" dirty="0">
                <a:solidFill>
                  <a:srgbClr val="55627A"/>
                </a:solidFill>
                <a:latin typeface="IBM Plex Sans" pitchFamily="34" charset="0"/>
                <a:ea typeface="IBM Plex Sans" pitchFamily="34" charset="-122"/>
                <a:cs typeface="IBM Plex Sans" pitchFamily="34" charset="-120"/>
              </a:rPr>
              <a:t>Edition collapse:</a:t>
            </a:r>
            <a:r>
              <a:rPr lang="en-US" sz="1400" dirty="0">
                <a:solidFill>
                  <a:srgbClr val="55627A"/>
                </a:solidFill>
                <a:latin typeface="IBM Plex Sans" pitchFamily="34" charset="0"/>
                <a:ea typeface="IBM Plex Sans" pitchFamily="34" charset="-122"/>
                <a:cs typeface="IBM Plex Sans" pitchFamily="34" charset="-120"/>
              </a:rPr>
              <a:t> </a:t>
            </a:r>
            <a:r>
              <a:rPr lang="en-US" sz="1400" b="1" dirty="0">
                <a:solidFill>
                  <a:srgbClr val="55627A"/>
                </a:solidFill>
                <a:latin typeface="IBM Plex Sans" pitchFamily="34" charset="0"/>
                <a:ea typeface="IBM Plex Sans" pitchFamily="34" charset="-122"/>
                <a:cs typeface="IBM Plex Sans" pitchFamily="34" charset="-120"/>
              </a:rPr>
              <a:t>[n]</a:t>
            </a:r>
            <a:r>
              <a:rPr lang="en-US" sz="1400" dirty="0">
                <a:solidFill>
                  <a:srgbClr val="55627A"/>
                </a:solidFill>
                <a:latin typeface="IBM Plex Sans" pitchFamily="34" charset="0"/>
                <a:ea typeface="IBM Plex Sans" pitchFamily="34" charset="-122"/>
                <a:cs typeface="IBM Plex Sans" pitchFamily="34" charset="-120"/>
              </a:rPr>
              <a:t> codes disagree across NCCI editions, carrying </a:t>
            </a:r>
            <a:r>
              <a:rPr lang="en-US" sz="1400" b="1" dirty="0">
                <a:solidFill>
                  <a:srgbClr val="55627A"/>
                </a:solidFill>
                <a:latin typeface="IBM Plex Sans" pitchFamily="34" charset="0"/>
                <a:ea typeface="IBM Plex Sans" pitchFamily="34" charset="-122"/>
                <a:cs typeface="IBM Plex Sans" pitchFamily="34" charset="-120"/>
              </a:rPr>
              <a:t>[$X]</a:t>
            </a:r>
            <a:r>
              <a:rPr lang="en-US" sz="1400" dirty="0">
                <a:solidFill>
                  <a:srgbClr val="55627A"/>
                </a:solidFill>
                <a:latin typeface="IBM Plex Sans" pitchFamily="34" charset="0"/>
                <a:ea typeface="IBM Plex Sans" pitchFamily="34" charset="-122"/>
                <a:cs typeface="IBM Plex Sans" pitchFamily="34" charset="-120"/>
              </a:rPr>
              <a:t> in paid lines. Decision: </a:t>
            </a:r>
            <a:r>
              <a:rPr lang="en-US" sz="1400" b="1" dirty="0">
                <a:solidFill>
                  <a:srgbClr val="55627A"/>
                </a:solidFill>
                <a:latin typeface="IBM Plex Sans" pitchFamily="34" charset="0"/>
                <a:ea typeface="IBM Plex Sans" pitchFamily="34" charset="-122"/>
                <a:cs typeface="IBM Plex Sans" pitchFamily="34" charset="-120"/>
              </a:rPr>
              <a:t>[most-permissive / interval-split / flag]</a:t>
            </a:r>
            <a:r>
              <a:rPr lang="en-US" sz="1400" dirty="0">
                <a:solidFill>
                  <a:srgbClr val="55627A"/>
                </a:solidFill>
                <a:latin typeface="IBM Plex Sans" pitchFamily="34" charset="0"/>
                <a:ea typeface="IBM Plex Sans" pitchFamily="34" charset="-122"/>
                <a:cs typeface="IBM Plex Sans" pitchFamily="34" charset="-120"/>
              </a:rPr>
              <a:t>.</a:t>
            </a:r>
            <a:endParaRPr lang="en-US" sz="1400" dirty="0"/>
          </a:p>
          <a:p>
            <a:pPr algn="l" marL="342900" indent="-342900">
              <a:lnSpc>
                <a:spcPts val="2030"/>
              </a:lnSpc>
              <a:buSzPct val="100000"/>
              <a:buChar char="•"/>
            </a:pPr>
            <a:r>
              <a:rPr lang="en-US" sz="1400" b="1" dirty="0">
                <a:solidFill>
                  <a:srgbClr val="55627A"/>
                </a:solidFill>
                <a:latin typeface="IBM Plex Sans" pitchFamily="34" charset="0"/>
                <a:ea typeface="IBM Plex Sans" pitchFamily="34" charset="-122"/>
                <a:cs typeface="IBM Plex Sans" pitchFamily="34" charset="-120"/>
              </a:rPr>
              <a:t>Quarter coverage:</a:t>
            </a:r>
            <a:r>
              <a:rPr lang="en-US" sz="1400" dirty="0">
                <a:solidFill>
                  <a:srgbClr val="55627A"/>
                </a:solidFill>
                <a:latin typeface="IBM Plex Sans" pitchFamily="34" charset="0"/>
                <a:ea typeface="IBM Plex Sans" pitchFamily="34" charset="-122"/>
                <a:cs typeface="IBM Plex Sans" pitchFamily="34" charset="-120"/>
              </a:rPr>
              <a:t> </a:t>
            </a:r>
            <a:r>
              <a:rPr lang="en-US" sz="1400" b="1" dirty="0">
                <a:solidFill>
                  <a:srgbClr val="55627A"/>
                </a:solidFill>
                <a:latin typeface="IBM Plex Sans" pitchFamily="34" charset="0"/>
                <a:ea typeface="IBM Plex Sans" pitchFamily="34" charset="-122"/>
                <a:cs typeface="IBM Plex Sans" pitchFamily="34" charset="-120"/>
              </a:rPr>
              <a:t>[k]</a:t>
            </a:r>
            <a:r>
              <a:rPr lang="en-US" sz="1400" dirty="0">
                <a:solidFill>
                  <a:srgbClr val="55627A"/>
                </a:solidFill>
                <a:latin typeface="IBM Plex Sans" pitchFamily="34" charset="0"/>
                <a:ea typeface="IBM Plex Sans" pitchFamily="34" charset="-122"/>
                <a:cs typeface="IBM Plex Sans" pitchFamily="34" charset="-120"/>
              </a:rPr>
              <a:t> claim lines predate the earliest loaded MUE quarter and are labelled unchecked.</a:t>
            </a:r>
            <a:endParaRPr lang="en-US" sz="1400" dirty="0"/>
          </a:p>
          <a:p>
            <a:pPr algn="l" marL="342900" indent="-342900">
              <a:lnSpc>
                <a:spcPts val="2030"/>
              </a:lnSpc>
              <a:buSzPct val="100000"/>
              <a:buChar char="•"/>
            </a:pPr>
            <a:r>
              <a:rPr lang="en-US" sz="1400" b="1" dirty="0">
                <a:solidFill>
                  <a:srgbClr val="55627A"/>
                </a:solidFill>
                <a:latin typeface="IBM Plex Sans" pitchFamily="34" charset="0"/>
                <a:ea typeface="IBM Plex Sans" pitchFamily="34" charset="-122"/>
                <a:cs typeface="IBM Plex Sans" pitchFamily="34" charset="-120"/>
              </a:rPr>
              <a:t>Model precision:</a:t>
            </a:r>
            <a:r>
              <a:rPr lang="en-US" sz="1400" dirty="0">
                <a:solidFill>
                  <a:srgbClr val="55627A"/>
                </a:solidFill>
                <a:latin typeface="IBM Plex Sans" pitchFamily="34" charset="0"/>
                <a:ea typeface="IBM Plex Sans" pitchFamily="34" charset="-122"/>
                <a:cs typeface="IBM Plex Sans" pitchFamily="34" charset="-120"/>
              </a:rPr>
              <a:t> on a hand-scored sample of </a:t>
            </a:r>
            <a:r>
              <a:rPr lang="en-US" sz="1400" b="1" dirty="0">
                <a:solidFill>
                  <a:srgbClr val="55627A"/>
                </a:solidFill>
                <a:latin typeface="IBM Plex Sans" pitchFamily="34" charset="0"/>
                <a:ea typeface="IBM Plex Sans" pitchFamily="34" charset="-122"/>
                <a:cs typeface="IBM Plex Sans" pitchFamily="34" charset="-120"/>
              </a:rPr>
              <a:t>[s]</a:t>
            </a:r>
            <a:r>
              <a:rPr lang="en-US" sz="1400" dirty="0">
                <a:solidFill>
                  <a:srgbClr val="55627A"/>
                </a:solidFill>
                <a:latin typeface="IBM Plex Sans" pitchFamily="34" charset="0"/>
                <a:ea typeface="IBM Plex Sans" pitchFamily="34" charset="-122"/>
                <a:cs typeface="IBM Plex Sans" pitchFamily="34" charset="-120"/>
              </a:rPr>
              <a:t> Ch. 19 drafts, </a:t>
            </a:r>
            <a:r>
              <a:rPr lang="en-US" sz="1400" b="1" dirty="0">
                <a:solidFill>
                  <a:srgbClr val="55627A"/>
                </a:solidFill>
                <a:latin typeface="IBM Plex Sans" pitchFamily="34" charset="0"/>
                <a:ea typeface="IBM Plex Sans" pitchFamily="34" charset="-122"/>
                <a:cs typeface="IBM Plex Sans" pitchFamily="34" charset="-120"/>
              </a:rPr>
              <a:t>[p]%</a:t>
            </a:r>
            <a:r>
              <a:rPr lang="en-US" sz="1400" dirty="0">
                <a:solidFill>
                  <a:srgbClr val="55627A"/>
                </a:solidFill>
                <a:latin typeface="IBM Plex Sans" pitchFamily="34" charset="0"/>
                <a:ea typeface="IBM Plex Sans" pitchFamily="34" charset="-122"/>
                <a:cs typeface="IBM Plex Sans" pitchFamily="34" charset="-120"/>
              </a:rPr>
              <a:t> were exactly what the manual says.</a:t>
            </a:r>
            <a:endParaRPr lang="en-US" sz="1400" dirty="0"/>
          </a:p>
        </p:txBody>
      </p:sp>
      <p:sp>
        <p:nvSpPr>
          <p:cNvPr id="7" name="Shape 5"/>
          <p:cNvSpPr/>
          <p:nvPr/>
        </p:nvSpPr>
        <p:spPr>
          <a:xfrm>
            <a:off x="6226175" y="1961059"/>
            <a:ext cx="5149850" cy="3363813"/>
          </a:xfrm>
          <a:prstGeom prst="roundRect">
            <a:avLst>
              <a:gd name="adj" fmla="val 2926"/>
            </a:avLst>
          </a:prstGeom>
          <a:solidFill>
            <a:srgbClr val="FFFFFF"/>
          </a:solidFill>
          <a:ln w="6350">
            <a:solidFill>
              <a:srgbClr val="E3E6E4"/>
            </a:solidFill>
            <a:prstDash val="solid"/>
          </a:ln>
        </p:spPr>
      </p:sp>
      <p:sp>
        <p:nvSpPr>
          <p:cNvPr id="8" name="Text 6"/>
          <p:cNvSpPr/>
          <p:nvPr/>
        </p:nvSpPr>
        <p:spPr>
          <a:xfrm>
            <a:off x="6483350" y="2218234"/>
            <a:ext cx="4774565" cy="256480"/>
          </a:xfrm>
          <a:prstGeom prst="rect">
            <a:avLst/>
          </a:prstGeom>
          <a:noFill/>
          <a:ln/>
        </p:spPr>
        <p:txBody>
          <a:bodyPr wrap="square" lIns="0" tIns="0" rIns="0" bIns="0" rtlCol="0" anchor="t">
            <a:normAutofit/>
          </a:bodyPr>
          <a:lstStyle/>
          <a:p>
            <a:pPr algn="l" indent="0" marL="0">
              <a:lnSpc>
                <a:spcPts val="1823"/>
              </a:lnSpc>
              <a:buNone/>
            </a:pPr>
            <a:r>
              <a:rPr lang="en-US" sz="1519" b="1" dirty="0">
                <a:solidFill>
                  <a:srgbClr val="1F7A6B"/>
                </a:solidFill>
                <a:latin typeface="IBM Plex Sans" pitchFamily="34" charset="0"/>
                <a:ea typeface="IBM Plex Sans" pitchFamily="34" charset="-122"/>
                <a:cs typeface="IBM Plex Sans" pitchFamily="34" charset="-120"/>
              </a:rPr>
              <a:t>Phase 2 — in evidence order</a:t>
            </a:r>
            <a:endParaRPr lang="en-US" sz="1519" dirty="0"/>
          </a:p>
        </p:txBody>
      </p:sp>
      <p:sp>
        <p:nvSpPr>
          <p:cNvPr id="9" name="Text 7"/>
          <p:cNvSpPr/>
          <p:nvPr/>
        </p:nvSpPr>
        <p:spPr>
          <a:xfrm>
            <a:off x="6699250" y="2538214"/>
            <a:ext cx="4552188" cy="2554883"/>
          </a:xfrm>
          <a:prstGeom prst="rect">
            <a:avLst/>
          </a:prstGeom>
          <a:noFill/>
          <a:ln/>
        </p:spPr>
        <p:txBody>
          <a:bodyPr wrap="square" lIns="0" tIns="0" rIns="0" bIns="0" rtlCol="0" anchor="t">
            <a:normAutofit/>
          </a:bodyPr>
          <a:lstStyle/>
          <a:p>
            <a:pPr algn="l" marL="342900" indent="-342900">
              <a:lnSpc>
                <a:spcPts val="1992"/>
              </a:lnSpc>
              <a:buSzPct val="100000"/>
              <a:buChar char="•"/>
            </a:pPr>
            <a:r>
              <a:rPr lang="en-US" sz="1374" b="1" dirty="0">
                <a:solidFill>
                  <a:srgbClr val="55627A"/>
                </a:solidFill>
                <a:latin typeface="IBM Plex Sans" pitchFamily="34" charset="0"/>
                <a:ea typeface="IBM Plex Sans" pitchFamily="34" charset="-122"/>
                <a:cs typeface="IBM Plex Sans" pitchFamily="34" charset="-120"/>
              </a:rPr>
              <a:t>Typed conditions and carve-outs</a:t>
            </a:r>
            <a:r>
              <a:rPr lang="en-US" sz="1374" dirty="0">
                <a:solidFill>
                  <a:srgbClr val="55627A"/>
                </a:solidFill>
                <a:latin typeface="IBM Plex Sans" pitchFamily="34" charset="0"/>
                <a:ea typeface="IBM Plex Sans" pitchFamily="34" charset="-122"/>
                <a:cs typeface="IBM Plex Sans" pitchFamily="34" charset="-120"/>
              </a:rPr>
              <a:t> (age, EPSDT, place of service) so population-scoped rules can compile.</a:t>
            </a:r>
            <a:endParaRPr lang="en-US" sz="1374" dirty="0"/>
          </a:p>
          <a:p>
            <a:pPr algn="l" marL="342900" indent="-342900">
              <a:lnSpc>
                <a:spcPts val="1992"/>
              </a:lnSpc>
              <a:buSzPct val="100000"/>
              <a:buChar char="•"/>
            </a:pPr>
            <a:r>
              <a:rPr lang="en-US" sz="1374" b="1" dirty="0">
                <a:solidFill>
                  <a:srgbClr val="55627A"/>
                </a:solidFill>
                <a:latin typeface="IBM Plex Sans" pitchFamily="34" charset="0"/>
                <a:ea typeface="IBM Plex Sans" pitchFamily="34" charset="-122"/>
                <a:cs typeface="IBM Plex Sans" pitchFamily="34" charset="-120"/>
              </a:rPr>
              <a:t>Modifier-required compiler</a:t>
            </a:r>
            <a:r>
              <a:rPr lang="en-US" sz="1374" dirty="0">
                <a:solidFill>
                  <a:srgbClr val="55627A"/>
                </a:solidFill>
                <a:latin typeface="IBM Plex Sans" pitchFamily="34" charset="0"/>
                <a:ea typeface="IBM Plex Sans" pitchFamily="34" charset="-122"/>
                <a:cs typeface="IBM Plex Sans" pitchFamily="34" charset="-120"/>
              </a:rPr>
              <a:t> — unlocks DME and transportation.</a:t>
            </a:r>
            <a:endParaRPr lang="en-US" sz="1374" dirty="0"/>
          </a:p>
          <a:p>
            <a:pPr algn="l" marL="342900" indent="-342900">
              <a:lnSpc>
                <a:spcPts val="1992"/>
              </a:lnSpc>
              <a:buSzPct val="100000"/>
              <a:buChar char="•"/>
            </a:pPr>
            <a:r>
              <a:rPr lang="en-US" sz="1374" b="1" dirty="0">
                <a:solidFill>
                  <a:srgbClr val="55627A"/>
                </a:solidFill>
                <a:latin typeface="IBM Plex Sans" pitchFamily="34" charset="0"/>
                <a:ea typeface="IBM Plex Sans" pitchFamily="34" charset="-122"/>
                <a:cs typeface="IBM Plex Sans" pitchFamily="34" charset="-120"/>
              </a:rPr>
              <a:t>Category → code resolver</a:t>
            </a:r>
            <a:r>
              <a:rPr lang="en-US" sz="1374" dirty="0">
                <a:solidFill>
                  <a:srgbClr val="55627A"/>
                </a:solidFill>
                <a:latin typeface="IBM Plex Sans" pitchFamily="34" charset="0"/>
                <a:ea typeface="IBM Plex Sans" pitchFamily="34" charset="-122"/>
                <a:cs typeface="IBM Plex Sans" pitchFamily="34" charset="-120"/>
              </a:rPr>
              <a:t> from the B2 Matrix and fee schedule, human-signed and versioned — unlocks the code-poor chapters.</a:t>
            </a:r>
            <a:endParaRPr lang="en-US" sz="1374" dirty="0"/>
          </a:p>
          <a:p>
            <a:pPr algn="l" marL="342900" indent="-342900">
              <a:lnSpc>
                <a:spcPts val="1992"/>
              </a:lnSpc>
              <a:buSzPct val="100000"/>
              <a:buChar char="•"/>
            </a:pPr>
            <a:r>
              <a:rPr lang="en-US" sz="1374" dirty="0">
                <a:solidFill>
                  <a:srgbClr val="55627A"/>
                </a:solidFill>
                <a:latin typeface="IBM Plex Sans" pitchFamily="34" charset="0"/>
                <a:ea typeface="IBM Plex Sans" pitchFamily="34" charset="-122"/>
                <a:cs typeface="IBM Plex Sans" pitchFamily="34" charset="-120"/>
              </a:rPr>
              <a:t>Entailment scoring to </a:t>
            </a:r>
            <a:r>
              <a:rPr lang="en-US" sz="1374" i="1" dirty="0">
                <a:solidFill>
                  <a:srgbClr val="55627A"/>
                </a:solidFill>
                <a:latin typeface="IBM Plex Sans" pitchFamily="34" charset="0"/>
                <a:ea typeface="IBM Plex Sans" pitchFamily="34" charset="-122"/>
                <a:cs typeface="IBM Plex Sans" pitchFamily="34" charset="-120"/>
              </a:rPr>
              <a:t>rank</a:t>
            </a:r>
            <a:r>
              <a:rPr lang="en-US" sz="1374" dirty="0">
                <a:solidFill>
                  <a:srgbClr val="55627A"/>
                </a:solidFill>
                <a:latin typeface="IBM Plex Sans" pitchFamily="34" charset="0"/>
                <a:ea typeface="IBM Plex Sans" pitchFamily="34" charset="-122"/>
                <a:cs typeface="IBM Plex Sans" pitchFamily="34" charset="-120"/>
              </a:rPr>
              <a:t> review — never to gate it.</a:t>
            </a:r>
            <a:endParaRPr lang="en-US" sz="1374" dirty="0"/>
          </a:p>
          <a:p>
            <a:pPr algn="l" marL="342900" indent="-342900">
              <a:lnSpc>
                <a:spcPts val="1992"/>
              </a:lnSpc>
              <a:buSzPct val="100000"/>
              <a:buChar char="•"/>
            </a:pPr>
            <a:r>
              <a:rPr lang="en-US" sz="1374" dirty="0">
                <a:solidFill>
                  <a:srgbClr val="55627A"/>
                </a:solidFill>
                <a:latin typeface="IBM Plex Sans" pitchFamily="34" charset="0"/>
                <a:ea typeface="IBM Plex Sans" pitchFamily="34" charset="-122"/>
                <a:cs typeface="IBM Plex Sans" pitchFamily="34" charset="-120"/>
              </a:rPr>
              <a:t>Seeds re-signed by a named reviewer: </a:t>
            </a:r>
            <a:r>
              <a:rPr lang="en-US" sz="1374" b="1" dirty="0">
                <a:solidFill>
                  <a:srgbClr val="55627A"/>
                </a:solidFill>
                <a:latin typeface="IBM Plex Sans" pitchFamily="34" charset="0"/>
                <a:ea typeface="IBM Plex Sans" pitchFamily="34" charset="-122"/>
                <a:cs typeface="IBM Plex Sans" pitchFamily="34" charset="-120"/>
              </a:rPr>
              <a:t>[done / scheduled]</a:t>
            </a:r>
            <a:r>
              <a:rPr lang="en-US" sz="1374" dirty="0">
                <a:solidFill>
                  <a:srgbClr val="55627A"/>
                </a:solidFill>
                <a:latin typeface="IBM Plex Sans" pitchFamily="34" charset="0"/>
                <a:ea typeface="IBM Plex Sans" pitchFamily="34" charset="-122"/>
                <a:cs typeface="IBM Plex Sans" pitchFamily="34" charset="-120"/>
              </a:rPr>
              <a:t>.</a:t>
            </a:r>
            <a:endParaRPr lang="en-US" sz="1374" dirty="0"/>
          </a:p>
        </p:txBody>
      </p:sp>
      <p:sp>
        <p:nvSpPr>
          <p:cNvPr id="10" name="Shape 8"/>
          <p:cNvSpPr/>
          <p:nvPr/>
        </p:nvSpPr>
        <p:spPr>
          <a:xfrm>
            <a:off x="831850" y="5328047"/>
            <a:ext cx="0" cy="577453"/>
          </a:xfrm>
          <a:prstGeom prst="line">
            <a:avLst/>
          </a:prstGeom>
          <a:noFill/>
          <a:ln w="38100">
            <a:solidFill>
              <a:srgbClr val="1F7A6B"/>
            </a:solidFill>
            <a:prstDash val="solid"/>
          </a:ln>
        </p:spPr>
      </p:sp>
      <p:sp>
        <p:nvSpPr>
          <p:cNvPr id="11" name="Text 9"/>
          <p:cNvSpPr/>
          <p:nvPr/>
        </p:nvSpPr>
        <p:spPr>
          <a:xfrm>
            <a:off x="1054100" y="5366147"/>
            <a:ext cx="10634853" cy="526653"/>
          </a:xfrm>
          <a:prstGeom prst="rect">
            <a:avLst/>
          </a:prstGeom>
          <a:noFill/>
          <a:ln/>
        </p:spPr>
        <p:txBody>
          <a:bodyPr wrap="square" lIns="0" tIns="0" rIns="0" bIns="0" rtlCol="0" anchor="t">
            <a:normAutofit/>
          </a:bodyPr>
          <a:lstStyle/>
          <a:p>
            <a:pPr algn="l" indent="0" marL="0">
              <a:lnSpc>
                <a:spcPts val="1987"/>
              </a:lnSpc>
              <a:buNone/>
            </a:pPr>
            <a:r>
              <a:rPr lang="en-US" sz="1419" b="1" dirty="0">
                <a:solidFill>
                  <a:srgbClr val="14273D"/>
                </a:solidFill>
                <a:latin typeface="IBM Plex Sans" pitchFamily="34" charset="0"/>
                <a:ea typeface="IBM Plex Sans" pitchFamily="34" charset="-122"/>
                <a:cs typeface="IBM Plex Sans" pitchFamily="34" charset="-120"/>
              </a:rPr>
              <a:t>The principle:</a:t>
            </a:r>
            <a:r>
              <a:rPr lang="en-US" sz="1419" dirty="0">
                <a:solidFill>
                  <a:srgbClr val="14273D"/>
                </a:solidFill>
                <a:latin typeface="IBM Plex Sans" pitchFamily="34" charset="0"/>
                <a:ea typeface="IBM Plex Sans" pitchFamily="34" charset="-122"/>
                <a:cs typeface="IBM Plex Sans" pitchFamily="34" charset="-120"/>
              </a:rPr>
              <a:t> where the right answer depends on the data, we measure before we decide — and we say what a workaround costs while it is in place.</a:t>
            </a:r>
            <a:endParaRPr lang="en-US" sz="1419"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C2E"/>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5FB8A6"/>
                </a:solidFill>
                <a:latin typeface="JetBrains Mono" pitchFamily="34" charset="0"/>
                <a:ea typeface="JetBrains Mono" pitchFamily="34" charset="-122"/>
                <a:cs typeface="JetBrains Mono" pitchFamily="34" charset="-120"/>
              </a:rPr>
              <a:t>WHY IT TOOK THE MONTH</a:t>
            </a:r>
            <a:endParaRPr lang="en-US" sz="1300" dirty="0"/>
          </a:p>
        </p:txBody>
      </p:sp>
      <p:sp>
        <p:nvSpPr>
          <p:cNvPr id="3" name="Text 1"/>
          <p:cNvSpPr/>
          <p:nvPr/>
        </p:nvSpPr>
        <p:spPr>
          <a:xfrm>
            <a:off x="812800" y="2319834"/>
            <a:ext cx="10726420" cy="1514872"/>
          </a:xfrm>
          <a:prstGeom prst="rect">
            <a:avLst/>
          </a:prstGeom>
          <a:noFill/>
          <a:ln/>
        </p:spPr>
        <p:txBody>
          <a:bodyPr wrap="square" lIns="0" tIns="0" rIns="0" bIns="0" rtlCol="0" anchor="t">
            <a:normAutofit/>
          </a:bodyPr>
          <a:lstStyle/>
          <a:p>
            <a:pPr algn="l" indent="0" marL="0">
              <a:lnSpc>
                <a:spcPts val="3910"/>
              </a:lnSpc>
              <a:buNone/>
            </a:pPr>
            <a:r>
              <a:rPr lang="en-US" sz="3400" b="1" dirty="0">
                <a:solidFill>
                  <a:srgbClr val="F5F6F4"/>
                </a:solidFill>
                <a:latin typeface="IBM Plex Sans" pitchFamily="34" charset="0"/>
                <a:ea typeface="IBM Plex Sans" pitchFamily="34" charset="-122"/>
                <a:cs typeface="IBM Plex Sans" pitchFamily="34" charset="-120"/>
              </a:rPr>
              <a:t>A demo you can control for five minutes and a system you can point at 17 million claims and defend to an auditor are different things.</a:t>
            </a:r>
            <a:endParaRPr lang="en-US" sz="3400" dirty="0"/>
          </a:p>
        </p:txBody>
      </p:sp>
      <p:sp>
        <p:nvSpPr>
          <p:cNvPr id="4" name="Text 2"/>
          <p:cNvSpPr/>
          <p:nvPr/>
        </p:nvSpPr>
        <p:spPr>
          <a:xfrm>
            <a:off x="812800" y="5085259"/>
            <a:ext cx="10464800" cy="985341"/>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4D0DE"/>
                </a:solidFill>
                <a:latin typeface="IBM Plex Sans" pitchFamily="34" charset="0"/>
                <a:ea typeface="IBM Plex Sans" pitchFamily="34" charset="-122"/>
                <a:cs typeface="IBM Plex Sans" pitchFamily="34" charset="-120"/>
              </a:rPr>
              <a:t>The month is the distance between them: </a:t>
            </a:r>
            <a:r>
              <a:rPr lang="en-US" sz="1800" b="1" dirty="0">
                <a:solidFill>
                  <a:srgbClr val="C4D0DE"/>
                </a:solidFill>
                <a:latin typeface="IBM Plex Sans" pitchFamily="34" charset="0"/>
                <a:ea typeface="IBM Plex Sans" pitchFamily="34" charset="-122"/>
                <a:cs typeface="IBM Plex Sans" pitchFamily="34" charset="-120"/>
              </a:rPr>
              <a:t>correctness</a:t>
            </a:r>
            <a:r>
              <a:rPr lang="en-US" sz="1800" dirty="0">
                <a:solidFill>
                  <a:srgbClr val="C4D0DE"/>
                </a:solidFill>
                <a:latin typeface="IBM Plex Sans" pitchFamily="34" charset="0"/>
                <a:ea typeface="IBM Plex Sans" pitchFamily="34" charset="-122"/>
                <a:cs typeface="IBM Plex Sans" pitchFamily="34" charset="-120"/>
              </a:rPr>
              <a:t> settled against the source documents, </a:t>
            </a:r>
            <a:r>
              <a:rPr lang="en-US" sz="1800" b="1" dirty="0">
                <a:solidFill>
                  <a:srgbClr val="C4D0DE"/>
                </a:solidFill>
                <a:latin typeface="IBM Plex Sans" pitchFamily="34" charset="0"/>
                <a:ea typeface="IBM Plex Sans" pitchFamily="34" charset="-122"/>
                <a:cs typeface="IBM Plex Sans" pitchFamily="34" charset="-120"/>
              </a:rPr>
              <a:t>four gates</a:t>
            </a:r>
            <a:r>
              <a:rPr lang="en-US" sz="1800" dirty="0">
                <a:solidFill>
                  <a:srgbClr val="C4D0DE"/>
                </a:solidFill>
                <a:latin typeface="IBM Plex Sans" pitchFamily="34" charset="0"/>
                <a:ea typeface="IBM Plex Sans" pitchFamily="34" charset="-122"/>
                <a:cs typeface="IBM Plex Sans" pitchFamily="34" charset="-120"/>
              </a:rPr>
              <a:t> so a named human owns every rule, an </a:t>
            </a:r>
            <a:r>
              <a:rPr lang="en-US" sz="1800" b="1" dirty="0">
                <a:solidFill>
                  <a:srgbClr val="C4D0DE"/>
                </a:solidFill>
                <a:latin typeface="IBM Plex Sans" pitchFamily="34" charset="0"/>
                <a:ea typeface="IBM Plex Sans" pitchFamily="34" charset="-122"/>
                <a:cs typeface="IBM Plex Sans" pitchFamily="34" charset="-120"/>
              </a:rPr>
              <a:t>extraction engine</a:t>
            </a:r>
            <a:r>
              <a:rPr lang="en-US" sz="1800" dirty="0">
                <a:solidFill>
                  <a:srgbClr val="C4D0DE"/>
                </a:solidFill>
                <a:latin typeface="IBM Plex Sans" pitchFamily="34" charset="0"/>
                <a:ea typeface="IBM Plex Sans" pitchFamily="34" charset="-122"/>
                <a:cs typeface="IBM Plex Sans" pitchFamily="34" charset="-120"/>
              </a:rPr>
              <a:t> that runs on the whole manual — and a system that </a:t>
            </a:r>
            <a:r>
              <a:rPr lang="en-US" sz="1800" b="1" dirty="0">
                <a:solidFill>
                  <a:srgbClr val="C4D0DE"/>
                </a:solidFill>
                <a:latin typeface="IBM Plex Sans" pitchFamily="34" charset="0"/>
                <a:ea typeface="IBM Plex Sans" pitchFamily="34" charset="-122"/>
                <a:cs typeface="IBM Plex Sans" pitchFamily="34" charset="-120"/>
              </a:rPr>
              <a:t>tells us when it isn't working</a:t>
            </a:r>
            <a:r>
              <a:rPr lang="en-US" sz="1800" dirty="0">
                <a:solidFill>
                  <a:srgbClr val="C4D0DE"/>
                </a:solidFill>
                <a:latin typeface="IBM Plex Sans" pitchFamily="34" charset="0"/>
                <a:ea typeface="IBM Plex Sans" pitchFamily="34" charset="-122"/>
                <a:cs typeface="IBM Plex Sans" pitchFamily="34" charset="-120"/>
              </a:rPr>
              <a: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Base MVP</dc:title>
  <dc:subject>PptxGenJS Presentation</dc:subject>
  <dc:creator>PptxGenJS</dc:creator>
  <cp:lastModifiedBy>PptxGenJS</cp:lastModifiedBy>
  <cp:revision>1</cp:revision>
  <dcterms:created xsi:type="dcterms:W3CDTF">2026-09-21T17:12:23Z</dcterms:created>
  <dcterms:modified xsi:type="dcterms:W3CDTF">2026-09-21T17:12:23Z</dcterms:modified>
</cp:coreProperties>
</file>